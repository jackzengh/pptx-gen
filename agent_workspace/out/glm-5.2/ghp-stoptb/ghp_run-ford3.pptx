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E6DA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0B0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06A72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_cover_eyebrow"/>
          <p:cNvSpPr txBox="1"/>
          <p:nvPr/>
        </p:nvSpPr>
        <p:spPr>
          <a:xfrm>
            <a:off x="457200" y="105156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PRE-READING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1417320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Helping Global Health Partnerships to increase their impact: Stop TB Partnership – McKinsey collaboration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57200" y="3703320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a_cover_type"/>
          <p:cNvSpPr txBox="1"/>
          <p:nvPr/>
        </p:nvSpPr>
        <p:spPr>
          <a:xfrm>
            <a:off x="5212080" y="1097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A4"/>
                </a:solidFill>
                <a:latin typeface="Arial"/>
              </a:rPr>
              <a:t>DOCUMENT TYPE: PRE-READING</a:t>
            </a:r>
          </a:p>
        </p:txBody>
      </p:sp>
      <p:sp>
        <p:nvSpPr>
          <p:cNvPr id="7" name="overlay_cover_date"/>
          <p:cNvSpPr txBox="1"/>
          <p:nvPr/>
        </p:nvSpPr>
        <p:spPr>
          <a:xfrm>
            <a:off x="5212080" y="1463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4858"/>
                </a:solidFill>
                <a:latin typeface="Arial"/>
              </a:rPr>
              <a:t>Thursday, November 5, 2009</a:t>
            </a:r>
          </a:p>
        </p:txBody>
      </p:sp>
      <p:sp>
        <p:nvSpPr>
          <p:cNvPr id="8" name="overlay_cover_sub"/>
          <p:cNvSpPr txBox="1"/>
          <p:nvPr/>
        </p:nvSpPr>
        <p:spPr>
          <a:xfrm>
            <a:off x="5212080" y="1828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72"/>
                </a:solidFill>
                <a:latin typeface="Arial"/>
              </a:rPr>
              <a:t>Pre-reading for Coordinating Board presentation</a:t>
            </a:r>
          </a:p>
        </p:txBody>
      </p:sp>
      <p:sp>
        <p:nvSpPr>
          <p:cNvPr id="9" name="background_confidential"/>
          <p:cNvSpPr/>
          <p:nvPr/>
        </p:nvSpPr>
        <p:spPr>
          <a:xfrm>
            <a:off x="5212080" y="4206240"/>
            <a:ext cx="6492240" cy="15544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erlay_confidential"/>
          <p:cNvSpPr txBox="1"/>
          <p:nvPr/>
        </p:nvSpPr>
        <p:spPr>
          <a:xfrm>
            <a:off x="5376672" y="4370832"/>
            <a:ext cx="616305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CONFIDENTIAL AND PROPRIETARY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Any use of this material without specific permission of McKinsey &amp; Company is strictly prohibited.</a:t>
            </a:r>
          </a:p>
        </p:txBody>
      </p:sp>
      <p:sp>
        <p:nvSpPr>
          <p:cNvPr id="11" name="overlay_cover_footer"/>
          <p:cNvSpPr txBox="1"/>
          <p:nvPr/>
        </p:nvSpPr>
        <p:spPr>
          <a:xfrm>
            <a:off x="457200" y="61264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6E0F0"/>
                </a:solidFill>
                <a:latin typeface="Arial"/>
              </a:rPr>
              <a:t>McKinsey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Contents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agenda_field"/>
          <p:cNvSpPr/>
          <p:nvPr/>
        </p:nvSpPr>
        <p:spPr>
          <a:xfrm>
            <a:off x="411480" y="1252728"/>
            <a:ext cx="11368735" cy="4754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agenda_chip_1"/>
          <p:cNvSpPr/>
          <p:nvPr/>
        </p:nvSpPr>
        <p:spPr>
          <a:xfrm>
            <a:off x="640080" y="1435608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erlay_agenda_1"/>
          <p:cNvSpPr txBox="1"/>
          <p:nvPr/>
        </p:nvSpPr>
        <p:spPr>
          <a:xfrm>
            <a:off x="1371600" y="143560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3864"/>
                </a:solidFill>
                <a:latin typeface="Arial"/>
              </a:rPr>
              <a:t>Project overview</a:t>
            </a:r>
          </a:p>
        </p:txBody>
      </p:sp>
      <p:sp>
        <p:nvSpPr>
          <p:cNvPr id="7" name="background_agenda_chip_2"/>
          <p:cNvSpPr/>
          <p:nvPr/>
        </p:nvSpPr>
        <p:spPr>
          <a:xfrm>
            <a:off x="640080" y="2062625"/>
            <a:ext cx="457200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overlay_agenda_2"/>
          <p:cNvSpPr txBox="1"/>
          <p:nvPr/>
        </p:nvSpPr>
        <p:spPr>
          <a:xfrm>
            <a:off x="1371600" y="2062625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72"/>
                </a:solidFill>
                <a:latin typeface="Arial"/>
              </a:rPr>
              <a:t>Global Drug Facility</a:t>
            </a:r>
          </a:p>
        </p:txBody>
      </p:sp>
      <p:sp>
        <p:nvSpPr>
          <p:cNvPr id="9" name="background_agenda_chip_3"/>
          <p:cNvSpPr/>
          <p:nvPr/>
        </p:nvSpPr>
        <p:spPr>
          <a:xfrm>
            <a:off x="640080" y="2689642"/>
            <a:ext cx="457200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overlay_agenda_3"/>
          <p:cNvSpPr txBox="1"/>
          <p:nvPr/>
        </p:nvSpPr>
        <p:spPr>
          <a:xfrm>
            <a:off x="1371600" y="268964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72"/>
                </a:solidFill>
                <a:latin typeface="Arial"/>
              </a:rPr>
              <a:t>Advocacy</a:t>
            </a:r>
          </a:p>
        </p:txBody>
      </p:sp>
      <p:sp>
        <p:nvSpPr>
          <p:cNvPr id="11" name="background_agenda_chip_4"/>
          <p:cNvSpPr/>
          <p:nvPr/>
        </p:nvSpPr>
        <p:spPr>
          <a:xfrm>
            <a:off x="640080" y="3316659"/>
            <a:ext cx="457200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overlay_agenda_4"/>
          <p:cNvSpPr txBox="1"/>
          <p:nvPr/>
        </p:nvSpPr>
        <p:spPr>
          <a:xfrm>
            <a:off x="1371600" y="331665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72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13" name="background_agenda_chip_5"/>
          <p:cNvSpPr/>
          <p:nvPr/>
        </p:nvSpPr>
        <p:spPr>
          <a:xfrm>
            <a:off x="640080" y="3943676"/>
            <a:ext cx="457200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overlay_agenda_5"/>
          <p:cNvSpPr txBox="1"/>
          <p:nvPr/>
        </p:nvSpPr>
        <p:spPr>
          <a:xfrm>
            <a:off x="1371600" y="394367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72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15" name="background_agenda_chip_6"/>
          <p:cNvSpPr/>
          <p:nvPr/>
        </p:nvSpPr>
        <p:spPr>
          <a:xfrm>
            <a:off x="640080" y="4570693"/>
            <a:ext cx="457200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overlay_agenda_6"/>
          <p:cNvSpPr txBox="1"/>
          <p:nvPr/>
        </p:nvSpPr>
        <p:spPr>
          <a:xfrm>
            <a:off x="1371600" y="4570693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72"/>
                </a:solidFill>
                <a:latin typeface="Arial"/>
              </a:rPr>
              <a:t>MDR-TB Working Group</a:t>
            </a:r>
          </a:p>
        </p:txBody>
      </p:sp>
      <p:sp>
        <p:nvSpPr>
          <p:cNvPr id="17" name="background_agenda_chip_7"/>
          <p:cNvSpPr/>
          <p:nvPr/>
        </p:nvSpPr>
        <p:spPr>
          <a:xfrm>
            <a:off x="640080" y="5197710"/>
            <a:ext cx="457200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8" name="overlay_agenda_7"/>
          <p:cNvSpPr txBox="1"/>
          <p:nvPr/>
        </p:nvSpPr>
        <p:spPr>
          <a:xfrm>
            <a:off x="1371600" y="519771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72"/>
                </a:solidFill>
                <a:latin typeface="Arial"/>
              </a:rPr>
              <a:t>Next steps</a:t>
            </a:r>
          </a:p>
        </p:txBody>
      </p:sp>
      <p:sp>
        <p:nvSpPr>
          <p:cNvPr id="19" name="meta_pagenum_2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ard_bg_left"/>
          <p:cNvSpPr/>
          <p:nvPr/>
        </p:nvSpPr>
        <p:spPr>
          <a:xfrm>
            <a:off x="411480" y="1405128"/>
            <a:ext cx="5570067" cy="24206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card_bg_left_hdr"/>
          <p:cNvSpPr/>
          <p:nvPr/>
        </p:nvSpPr>
        <p:spPr>
          <a:xfrm>
            <a:off x="411480" y="1405128"/>
            <a:ext cx="5570067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Increasing role of GHP performance</a:t>
            </a:r>
          </a:p>
        </p:txBody>
      </p:sp>
      <p:sp>
        <p:nvSpPr>
          <p:cNvPr id="6" name="overlay_card_bg_left"/>
          <p:cNvSpPr txBox="1"/>
          <p:nvPr/>
        </p:nvSpPr>
        <p:spPr>
          <a:xfrm>
            <a:off x="539496" y="1844040"/>
            <a:ext cx="5314035" cy="1853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GHPs play a major role in global health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The focus on performance is increasing, driven by</a:t>
            </a:r>
          </a:p>
          <a:p>
            <a:pPr lvl="1" algn="l" marL="381000" indent="-167640"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200" b="0" i="0">
                <a:solidFill>
                  <a:srgbClr val="2F4858"/>
                </a:solidFill>
                <a:latin typeface="Arial"/>
              </a:rPr>
              <a:t>Increasing donor focus on impact, effectiveness, and efficiency</a:t>
            </a:r>
          </a:p>
          <a:p>
            <a:pPr lvl="1" algn="l" marL="381000" indent="-167640"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200" b="0" i="0">
                <a:solidFill>
                  <a:srgbClr val="2F4858"/>
                </a:solidFill>
                <a:latin typeface="Arial"/>
              </a:rPr>
              <a:t>Increasing number of Partnerships in global health</a:t>
            </a:r>
          </a:p>
          <a:p>
            <a:pPr lvl="1" algn="l" marL="381000" indent="-167640"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sz="1200" b="0" i="0">
                <a:solidFill>
                  <a:srgbClr val="2F4858"/>
                </a:solidFill>
                <a:latin typeface="Arial"/>
              </a:rPr>
              <a:t>Likelihood of lower funding growth or less funding, given the financial crisis</a:t>
            </a:r>
          </a:p>
        </p:txBody>
      </p:sp>
      <p:sp>
        <p:nvSpPr>
          <p:cNvPr id="7" name="background_card_bg_right"/>
          <p:cNvSpPr/>
          <p:nvPr/>
        </p:nvSpPr>
        <p:spPr>
          <a:xfrm>
            <a:off x="6210147" y="1405128"/>
            <a:ext cx="5570067" cy="26593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card_bg_right_hdr"/>
          <p:cNvSpPr/>
          <p:nvPr/>
        </p:nvSpPr>
        <p:spPr>
          <a:xfrm>
            <a:off x="6210147" y="1405128"/>
            <a:ext cx="5570067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Challenging factors</a:t>
            </a:r>
          </a:p>
        </p:txBody>
      </p:sp>
      <p:sp>
        <p:nvSpPr>
          <p:cNvPr id="9" name="overlay_card_bg_right"/>
          <p:cNvSpPr txBox="1"/>
          <p:nvPr/>
        </p:nvSpPr>
        <p:spPr>
          <a:xfrm>
            <a:off x="6338163" y="1844040"/>
            <a:ext cx="5314035" cy="2092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Complex environment and nature of GHP organizations create challenges, e.g.</a:t>
            </a:r>
          </a:p>
          <a:p>
            <a:pPr lvl="1" algn="l" marL="381000" indent="-167640"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200" b="1" i="0">
                <a:solidFill>
                  <a:srgbClr val="2F4858"/>
                </a:solidFill>
                <a:latin typeface="Arial"/>
              </a:rPr>
              <a:t>Objective-setting: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distinguishing between the change a GHP hopes to bring about in the world vs. the goals it sets itself that will help bring about the change</a:t>
            </a:r>
          </a:p>
          <a:p>
            <a:pPr lvl="1" algn="l" marL="381000" indent="-167640"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200" b="1" i="0">
                <a:solidFill>
                  <a:srgbClr val="2F4858"/>
                </a:solidFill>
                <a:latin typeface="Arial"/>
              </a:rPr>
              <a:t>Accountability: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ensuring accountability and delivery in the context of loose Partnership structures, voluntary membership, and limited hierarchy</a:t>
            </a:r>
          </a:p>
          <a:p>
            <a:pPr lvl="1" algn="l" marL="381000" indent="-167640"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sz="1200" b="1" i="0">
                <a:solidFill>
                  <a:srgbClr val="2F4858"/>
                </a:solidFill>
                <a:latin typeface="Arial"/>
              </a:rPr>
              <a:t>Capabilities: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gaining the capacity and capabilities needed to continuously improve performance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3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The project will deliver practical insights on improving GHP performance based on piloted improvement ideas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ard_goals_1"/>
          <p:cNvSpPr/>
          <p:nvPr/>
        </p:nvSpPr>
        <p:spPr>
          <a:xfrm>
            <a:off x="411480" y="1405128"/>
            <a:ext cx="3637178" cy="28422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card_goals_1_hdr"/>
          <p:cNvSpPr/>
          <p:nvPr/>
        </p:nvSpPr>
        <p:spPr>
          <a:xfrm>
            <a:off x="411480" y="140512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Goals</a:t>
            </a:r>
          </a:p>
        </p:txBody>
      </p:sp>
      <p:sp>
        <p:nvSpPr>
          <p:cNvPr id="6" name="overlay_card_goals_1"/>
          <p:cNvSpPr txBox="1"/>
          <p:nvPr/>
        </p:nvSpPr>
        <p:spPr>
          <a:xfrm>
            <a:off x="539496" y="1844040"/>
            <a:ext cx="3381146" cy="22753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Develop a joint perspective, tested and proven, on how GHPs can improve performance, by</a:t>
            </a:r>
          </a:p>
          <a:p>
            <a:pPr lvl="1" algn="l" marL="381000" indent="-167640"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200" b="0" i="0">
                <a:solidFill>
                  <a:srgbClr val="2F4858"/>
                </a:solidFill>
                <a:latin typeface="Arial"/>
              </a:rPr>
              <a:t>Exploring how to improve performance in a GHP, not simply adopting existing (e.g., private-sector) approaches</a:t>
            </a:r>
          </a:p>
          <a:p>
            <a:pPr lvl="1" algn="l" marL="381000" indent="-167640">
              <a:spcBef>
                <a:spcPts val="0"/>
              </a:spcBef>
              <a:spcAft>
                <a:spcPts val="500"/>
              </a:spcAft>
              <a:buFont typeface="Arial"/>
              <a:buChar char="–"/>
            </a:pPr>
            <a:r>
              <a:rPr sz="1200" b="0" i="0">
                <a:solidFill>
                  <a:srgbClr val="2F4858"/>
                </a:solidFill>
                <a:latin typeface="Arial"/>
              </a:rPr>
              <a:t>Testing new ways of working with Stop TB bodies that could lead to higher performance</a:t>
            </a:r>
          </a:p>
          <a:p>
            <a:pPr lvl="1" algn="l" marL="381000" indent="-167640"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sz="1200" b="0" i="0">
                <a:solidFill>
                  <a:srgbClr val="2F4858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7" name="background_card_goals_2"/>
          <p:cNvSpPr/>
          <p:nvPr/>
        </p:nvSpPr>
        <p:spPr>
          <a:xfrm>
            <a:off x="4277258" y="1405128"/>
            <a:ext cx="3637178" cy="29057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card_goals_2_hdr"/>
          <p:cNvSpPr/>
          <p:nvPr/>
        </p:nvSpPr>
        <p:spPr>
          <a:xfrm>
            <a:off x="4277258" y="140512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Approach</a:t>
            </a:r>
          </a:p>
        </p:txBody>
      </p:sp>
      <p:sp>
        <p:nvSpPr>
          <p:cNvPr id="9" name="overlay_card_goals_2"/>
          <p:cNvSpPr txBox="1"/>
          <p:nvPr/>
        </p:nvSpPr>
        <p:spPr>
          <a:xfrm>
            <a:off x="4405274" y="1844040"/>
            <a:ext cx="3381146" cy="2338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Build on strengths and improvement opportunities outlined in the 2008 evaluation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Duration ~22 weeks: 10 weeks diagnosis and design, 12 weeks delivery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Scope: 5 Partnership bodies — GDF, MDR-TB WG, CFCS, Advocacy, and CM&amp;B teams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External interactions with other GHPs, e.g., RBM, UNAIDS, GAVI, GF</a:t>
            </a:r>
          </a:p>
        </p:txBody>
      </p:sp>
      <p:sp>
        <p:nvSpPr>
          <p:cNvPr id="10" name="background_card_goals_3"/>
          <p:cNvSpPr/>
          <p:nvPr/>
        </p:nvSpPr>
        <p:spPr>
          <a:xfrm>
            <a:off x="8143036" y="1405128"/>
            <a:ext cx="3637178" cy="241300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card_goals_3_hdr"/>
          <p:cNvSpPr/>
          <p:nvPr/>
        </p:nvSpPr>
        <p:spPr>
          <a:xfrm>
            <a:off x="8143036" y="140512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3 main end-products</a:t>
            </a:r>
          </a:p>
        </p:txBody>
      </p:sp>
      <p:sp>
        <p:nvSpPr>
          <p:cNvPr id="12" name="overlay_card_goals_3"/>
          <p:cNvSpPr txBox="1"/>
          <p:nvPr/>
        </p:nvSpPr>
        <p:spPr>
          <a:xfrm>
            <a:off x="8271052" y="1844040"/>
            <a:ext cx="3381146" cy="184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Successful performance-improvement pilots in selected Partnership bodies, with documentation to support roll-out to other bodies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A co-authored project report, suitable for publication in major journals, detailing the experience and lessons for other GHPs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A “practitioner's guide” to support McKinsey teams conducting similar work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4" name="meta_pagenum_4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today_bar"/>
          <p:cNvSpPr/>
          <p:nvPr/>
        </p:nvSpPr>
        <p:spPr>
          <a:xfrm>
            <a:off x="8028736" y="1207008"/>
            <a:ext cx="36576" cy="457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eta_today_lbl"/>
          <p:cNvSpPr txBox="1"/>
          <p:nvPr/>
        </p:nvSpPr>
        <p:spPr>
          <a:xfrm>
            <a:off x="7708696" y="9326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A4"/>
                </a:solidFill>
                <a:latin typeface="Arial"/>
              </a:rPr>
              <a:t>Today</a:t>
            </a:r>
          </a:p>
        </p:txBody>
      </p:sp>
      <p:sp>
        <p:nvSpPr>
          <p:cNvPr id="6" name="background_card_phases_1"/>
          <p:cNvSpPr/>
          <p:nvPr/>
        </p:nvSpPr>
        <p:spPr>
          <a:xfrm>
            <a:off x="411480" y="1252728"/>
            <a:ext cx="3637178" cy="22936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ckground_card_phases_1_hdr"/>
          <p:cNvSpPr/>
          <p:nvPr/>
        </p:nvSpPr>
        <p:spPr>
          <a:xfrm>
            <a:off x="411480" y="125272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Diagnose  (August – September)</a:t>
            </a:r>
          </a:p>
        </p:txBody>
      </p:sp>
      <p:sp>
        <p:nvSpPr>
          <p:cNvPr id="8" name="overlay_card_phases_1"/>
          <p:cNvSpPr txBox="1"/>
          <p:nvPr/>
        </p:nvSpPr>
        <p:spPr>
          <a:xfrm>
            <a:off x="539496" y="1691640"/>
            <a:ext cx="3381146" cy="1726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Selection of Partnership Bodies to work with — GDF, Advocacy, Communication/Marketing &amp; Branding, CFCS, MDR-TB Working Group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Understanding of current performance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Identification of areas of high performance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9" name="background_card_phases_2"/>
          <p:cNvSpPr/>
          <p:nvPr/>
        </p:nvSpPr>
        <p:spPr>
          <a:xfrm>
            <a:off x="4277258" y="1252728"/>
            <a:ext cx="3637178" cy="18643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ckground_card_phases_2_hdr"/>
          <p:cNvSpPr/>
          <p:nvPr/>
        </p:nvSpPr>
        <p:spPr>
          <a:xfrm>
            <a:off x="4277258" y="125272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Design  (September – October)</a:t>
            </a:r>
          </a:p>
        </p:txBody>
      </p:sp>
      <p:sp>
        <p:nvSpPr>
          <p:cNvPr id="11" name="overlay_card_phases_2"/>
          <p:cNvSpPr txBox="1"/>
          <p:nvPr/>
        </p:nvSpPr>
        <p:spPr>
          <a:xfrm>
            <a:off x="4405274" y="1691640"/>
            <a:ext cx="3381146" cy="1297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Intensive work within selected Partnership Bodies to develop improvement ideas on the selected performance issue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Select actions to implement in the next phase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12" name="background_card_phases_3"/>
          <p:cNvSpPr/>
          <p:nvPr/>
        </p:nvSpPr>
        <p:spPr>
          <a:xfrm>
            <a:off x="8143036" y="1252728"/>
            <a:ext cx="3637178" cy="22936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ckground_card_phases_3_hdr"/>
          <p:cNvSpPr/>
          <p:nvPr/>
        </p:nvSpPr>
        <p:spPr>
          <a:xfrm>
            <a:off x="8143036" y="125272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Deliver  (November – December)</a:t>
            </a:r>
          </a:p>
        </p:txBody>
      </p:sp>
      <p:sp>
        <p:nvSpPr>
          <p:cNvPr id="14" name="overlay_card_phases_3"/>
          <p:cNvSpPr txBox="1"/>
          <p:nvPr/>
        </p:nvSpPr>
        <p:spPr>
          <a:xfrm>
            <a:off x="8271052" y="1691640"/>
            <a:ext cx="3381146" cy="17266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Implementation and refinement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Problem-solving sessions on findings, lessons learned, and implications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Workshop to share achievements across the Partnership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Report and publication of results; present results to the Coordinating Board in March 2010</a:t>
            </a:r>
          </a:p>
        </p:txBody>
      </p:sp>
      <p:sp>
        <p:nvSpPr>
          <p:cNvPr id="15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Marker: “Today” sits at the start of the Deliver phase (November 2009).</a:t>
            </a:r>
          </a:p>
        </p:txBody>
      </p:sp>
      <p:sp>
        <p:nvSpPr>
          <p:cNvPr id="16" name="meta_pagenum_5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We think about performance in terms of both processes and enablers — (1)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pchain_label"/>
          <p:cNvSpPr txBox="1"/>
          <p:nvPr/>
        </p:nvSpPr>
        <p:spPr>
          <a:xfrm>
            <a:off x="411480" y="1405128"/>
            <a:ext cx="113687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background_pstep_1"/>
          <p:cNvSpPr/>
          <p:nvPr/>
        </p:nvSpPr>
        <p:spPr>
          <a:xfrm>
            <a:off x="411480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background_pstep_2"/>
          <p:cNvSpPr/>
          <p:nvPr/>
        </p:nvSpPr>
        <p:spPr>
          <a:xfrm>
            <a:off x="2324557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7" name="background_pstep_3"/>
          <p:cNvSpPr/>
          <p:nvPr/>
        </p:nvSpPr>
        <p:spPr>
          <a:xfrm>
            <a:off x="4237634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8" name="background_pstep_4"/>
          <p:cNvSpPr/>
          <p:nvPr/>
        </p:nvSpPr>
        <p:spPr>
          <a:xfrm>
            <a:off x="6150711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9" name="background_pstep_5"/>
          <p:cNvSpPr/>
          <p:nvPr/>
        </p:nvSpPr>
        <p:spPr>
          <a:xfrm>
            <a:off x="8063788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0" name="background_pstep_6"/>
          <p:cNvSpPr/>
          <p:nvPr/>
        </p:nvSpPr>
        <p:spPr>
          <a:xfrm>
            <a:off x="9976866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Celebrate &amp; take action</a:t>
            </a:r>
          </a:p>
        </p:txBody>
      </p:sp>
      <p:sp>
        <p:nvSpPr>
          <p:cNvPr id="11" name="background_card_fwp_1"/>
          <p:cNvSpPr/>
          <p:nvPr/>
        </p:nvSpPr>
        <p:spPr>
          <a:xfrm>
            <a:off x="411480" y="2502407"/>
            <a:ext cx="3637178" cy="247650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ground_card_fwp_1_hdr"/>
          <p:cNvSpPr/>
          <p:nvPr/>
        </p:nvSpPr>
        <p:spPr>
          <a:xfrm>
            <a:off x="411480" y="2502407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Steps 1–2  Set objectives &amp; targets</a:t>
            </a:r>
          </a:p>
        </p:txBody>
      </p:sp>
      <p:sp>
        <p:nvSpPr>
          <p:cNvPr id="13" name="overlay_card_fwp_1"/>
          <p:cNvSpPr txBox="1"/>
          <p:nvPr/>
        </p:nvSpPr>
        <p:spPr>
          <a:xfrm>
            <a:off x="539496" y="2941319"/>
            <a:ext cx="3381146" cy="19095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Set metrics that directly measure agreed objectives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Set additional metrics that cascade down from the key metric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Set quantitative targets for the metrics; translate these into operational plans and budgets</a:t>
            </a:r>
          </a:p>
        </p:txBody>
      </p:sp>
      <p:sp>
        <p:nvSpPr>
          <p:cNvPr id="14" name="background_card_fwp_2"/>
          <p:cNvSpPr/>
          <p:nvPr/>
        </p:nvSpPr>
        <p:spPr>
          <a:xfrm>
            <a:off x="4277258" y="2502407"/>
            <a:ext cx="3637178" cy="12522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ground_card_fwp_2_hdr"/>
          <p:cNvSpPr/>
          <p:nvPr/>
        </p:nvSpPr>
        <p:spPr>
          <a:xfrm>
            <a:off x="4277258" y="2502407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Steps 3–4  Establish &amp; track metrics</a:t>
            </a:r>
          </a:p>
        </p:txBody>
      </p:sp>
      <p:sp>
        <p:nvSpPr>
          <p:cNvPr id="16" name="overlay_card_fwp_2"/>
          <p:cNvSpPr txBox="1"/>
          <p:nvPr/>
        </p:nvSpPr>
        <p:spPr>
          <a:xfrm>
            <a:off x="4405274" y="2941319"/>
            <a:ext cx="3381146" cy="6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Produce progress reports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17" name="background_card_fwp_3"/>
          <p:cNvSpPr/>
          <p:nvPr/>
        </p:nvSpPr>
        <p:spPr>
          <a:xfrm>
            <a:off x="8143036" y="2502407"/>
            <a:ext cx="3637178" cy="18643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ckground_card_fwp_3_hdr"/>
          <p:cNvSpPr/>
          <p:nvPr/>
        </p:nvSpPr>
        <p:spPr>
          <a:xfrm>
            <a:off x="8143036" y="2502407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Steps 5–6  Review &amp; act</a:t>
            </a:r>
          </a:p>
        </p:txBody>
      </p:sp>
      <p:sp>
        <p:nvSpPr>
          <p:cNvPr id="19" name="overlay_card_fwp_3"/>
          <p:cNvSpPr txBox="1"/>
          <p:nvPr/>
        </p:nvSpPr>
        <p:spPr>
          <a:xfrm>
            <a:off x="8271052" y="2941319"/>
            <a:ext cx="3381146" cy="1297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Use reports to discuss progress in structured review meetings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Identify possible performance gaps and decide how to address them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Celebrate successes and take any required corrective actions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1" name="meta_pagenum_6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Definition of performance management terms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terms"/>
          <p:cNvSpPr txBox="1"/>
          <p:nvPr/>
        </p:nvSpPr>
        <p:spPr>
          <a:xfrm>
            <a:off x="411480" y="1252728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Performance management terms, definitions, and examples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527048"/>
          <a:ext cx="1136599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120640"/>
                <a:gridCol w="4507992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Supply low-cost, quality TB drugs at USD 20/treatment course for X patients in 2010</a:t>
                      </a:r>
                    </a:p>
                  </a:txBody>
                  <a:tcPr anchor="ctr" marL="76200" marR="50800" marT="25400" marB="25400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Funds raised; patient treatments supplied; grants approved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 anchor="ctr" marL="76200" marR="50800" marT="25400" marB="25400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 anchor="ctr" marL="76200" marR="50800" marT="25400" marB="25400"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 anchor="ctr" marL="76200" marR="50800" marT="25400" marB="25400"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We think about performance in terms of both processes and enablers — (2)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enab_1"/>
          <p:cNvSpPr/>
          <p:nvPr/>
        </p:nvSpPr>
        <p:spPr>
          <a:xfrm>
            <a:off x="411480" y="1252728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enab_1_hdr"/>
          <p:cNvSpPr/>
          <p:nvPr/>
        </p:nvSpPr>
        <p:spPr>
          <a:xfrm>
            <a:off x="411480" y="1252728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6" name="overlay_enab_1"/>
          <p:cNvSpPr txBox="1"/>
          <p:nvPr/>
        </p:nvSpPr>
        <p:spPr>
          <a:xfrm>
            <a:off x="548640" y="1755648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7" name="background_enab_2"/>
          <p:cNvSpPr/>
          <p:nvPr/>
        </p:nvSpPr>
        <p:spPr>
          <a:xfrm>
            <a:off x="6210147" y="1252728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enab_2_hdr"/>
          <p:cNvSpPr/>
          <p:nvPr/>
        </p:nvSpPr>
        <p:spPr>
          <a:xfrm>
            <a:off x="6210147" y="1252728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9" name="overlay_enab_2"/>
          <p:cNvSpPr txBox="1"/>
          <p:nvPr/>
        </p:nvSpPr>
        <p:spPr>
          <a:xfrm>
            <a:off x="6347307" y="1755648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10" name="background_enab_3"/>
          <p:cNvSpPr/>
          <p:nvPr/>
        </p:nvSpPr>
        <p:spPr>
          <a:xfrm>
            <a:off x="411480" y="3675887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enab_3_hdr"/>
          <p:cNvSpPr/>
          <p:nvPr/>
        </p:nvSpPr>
        <p:spPr>
          <a:xfrm>
            <a:off x="411480" y="3675887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12" name="overlay_enab_3"/>
          <p:cNvSpPr txBox="1"/>
          <p:nvPr/>
        </p:nvSpPr>
        <p:spPr>
          <a:xfrm>
            <a:off x="548640" y="4178807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Communicate both performance and the importance of discussing performance regularly to all stakeholders.</a:t>
            </a:r>
          </a:p>
        </p:txBody>
      </p:sp>
      <p:sp>
        <p:nvSpPr>
          <p:cNvPr id="13" name="background_enab_4"/>
          <p:cNvSpPr/>
          <p:nvPr/>
        </p:nvSpPr>
        <p:spPr>
          <a:xfrm>
            <a:off x="6210147" y="3675887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ckground_enab_4_hdr"/>
          <p:cNvSpPr/>
          <p:nvPr/>
        </p:nvSpPr>
        <p:spPr>
          <a:xfrm>
            <a:off x="6210147" y="3675887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5" name="overlay_enab_4"/>
          <p:cNvSpPr txBox="1"/>
          <p:nvPr/>
        </p:nvSpPr>
        <p:spPr>
          <a:xfrm>
            <a:off x="6347307" y="4178807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7" name="meta_pagenum_8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Many GHPs find some performance processes challenging given their complex environment and structure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pchain_label"/>
          <p:cNvSpPr txBox="1"/>
          <p:nvPr/>
        </p:nvSpPr>
        <p:spPr>
          <a:xfrm>
            <a:off x="411480" y="1405128"/>
            <a:ext cx="113687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background_pstep_1"/>
          <p:cNvSpPr/>
          <p:nvPr/>
        </p:nvSpPr>
        <p:spPr>
          <a:xfrm>
            <a:off x="411480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Set objectives</a:t>
            </a:r>
          </a:p>
        </p:txBody>
      </p:sp>
      <p:sp>
        <p:nvSpPr>
          <p:cNvPr id="6" name="background_pstep_2"/>
          <p:cNvSpPr/>
          <p:nvPr/>
        </p:nvSpPr>
        <p:spPr>
          <a:xfrm>
            <a:off x="2324557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Set targets</a:t>
            </a:r>
          </a:p>
        </p:txBody>
      </p:sp>
      <p:sp>
        <p:nvSpPr>
          <p:cNvPr id="7" name="background_pstep_3"/>
          <p:cNvSpPr/>
          <p:nvPr/>
        </p:nvSpPr>
        <p:spPr>
          <a:xfrm>
            <a:off x="4237634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Establish clear metrics</a:t>
            </a:r>
          </a:p>
        </p:txBody>
      </p:sp>
      <p:sp>
        <p:nvSpPr>
          <p:cNvPr id="8" name="background_pstep_4"/>
          <p:cNvSpPr/>
          <p:nvPr/>
        </p:nvSpPr>
        <p:spPr>
          <a:xfrm>
            <a:off x="6150711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4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Track &amp; disseminate metrics</a:t>
            </a:r>
          </a:p>
        </p:txBody>
      </p:sp>
      <p:sp>
        <p:nvSpPr>
          <p:cNvPr id="9" name="background_pstep_5"/>
          <p:cNvSpPr/>
          <p:nvPr/>
        </p:nvSpPr>
        <p:spPr>
          <a:xfrm>
            <a:off x="8063788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5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Review performance</a:t>
            </a:r>
          </a:p>
        </p:txBody>
      </p:sp>
      <p:sp>
        <p:nvSpPr>
          <p:cNvPr id="10" name="background_pstep_6"/>
          <p:cNvSpPr/>
          <p:nvPr/>
        </p:nvSpPr>
        <p:spPr>
          <a:xfrm>
            <a:off x="9976866" y="1661160"/>
            <a:ext cx="1803349" cy="56692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Celebrate &amp; take action</a:t>
            </a:r>
          </a:p>
        </p:txBody>
      </p:sp>
      <p:sp>
        <p:nvSpPr>
          <p:cNvPr id="11" name="background_card_chp_1"/>
          <p:cNvSpPr/>
          <p:nvPr/>
        </p:nvSpPr>
        <p:spPr>
          <a:xfrm>
            <a:off x="411480" y="2502407"/>
            <a:ext cx="3637178" cy="259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ground_card_chp_1_hdr"/>
          <p:cNvSpPr/>
          <p:nvPr/>
        </p:nvSpPr>
        <p:spPr>
          <a:xfrm>
            <a:off x="411480" y="2502407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Setting objectives &amp; targets</a:t>
            </a:r>
          </a:p>
        </p:txBody>
      </p:sp>
      <p:sp>
        <p:nvSpPr>
          <p:cNvPr id="13" name="overlay_card_chp_1"/>
          <p:cNvSpPr txBox="1"/>
          <p:nvPr/>
        </p:nvSpPr>
        <p:spPr>
          <a:xfrm>
            <a:off x="539496" y="2941319"/>
            <a:ext cx="3381146" cy="202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Getting from a vision to specific objectives for the partnership and its bodies, rather than directly to activities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Aligning divergent partner views on which objectives to pursue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Committing to targets is difficult because some targets are not entirely deliverable by the partnership, the voluntary nature of partnerships, and consequences of missing targets (e.g., future funding)</a:t>
            </a:r>
          </a:p>
        </p:txBody>
      </p:sp>
      <p:sp>
        <p:nvSpPr>
          <p:cNvPr id="14" name="background_card_chp_2"/>
          <p:cNvSpPr/>
          <p:nvPr/>
        </p:nvSpPr>
        <p:spPr>
          <a:xfrm>
            <a:off x="4277258" y="2502407"/>
            <a:ext cx="3637178" cy="22301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ground_card_chp_2_hdr"/>
          <p:cNvSpPr/>
          <p:nvPr/>
        </p:nvSpPr>
        <p:spPr>
          <a:xfrm>
            <a:off x="4277258" y="2502407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Metrics &amp; data</a:t>
            </a:r>
          </a:p>
        </p:txBody>
      </p:sp>
      <p:sp>
        <p:nvSpPr>
          <p:cNvPr id="16" name="overlay_card_chp_2"/>
          <p:cNvSpPr txBox="1"/>
          <p:nvPr/>
        </p:nvSpPr>
        <p:spPr>
          <a:xfrm>
            <a:off x="4405274" y="2941319"/>
            <a:ext cx="3381146" cy="166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Agreeing the right metrics for objectives that are difficult to measure, e.g., awareness about TB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Aligning organization structures with performance drivers and metrics to enable clear accountability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17" name="background_card_chp_3"/>
          <p:cNvSpPr/>
          <p:nvPr/>
        </p:nvSpPr>
        <p:spPr>
          <a:xfrm>
            <a:off x="8143036" y="2502407"/>
            <a:ext cx="3637178" cy="16179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ckground_card_chp_3_hdr"/>
          <p:cNvSpPr/>
          <p:nvPr/>
        </p:nvSpPr>
        <p:spPr>
          <a:xfrm>
            <a:off x="8143036" y="2502407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Advocacy specifics</a:t>
            </a:r>
          </a:p>
        </p:txBody>
      </p:sp>
      <p:sp>
        <p:nvSpPr>
          <p:cNvPr id="19" name="overlay_card_chp_3"/>
          <p:cNvSpPr txBox="1"/>
          <p:nvPr/>
        </p:nvSpPr>
        <p:spPr>
          <a:xfrm>
            <a:off x="8271052" y="2941319"/>
            <a:ext cx="3381146" cy="10510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Setting advocacy objectives that stay current and relevant in changing external circumstances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20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21" name="meta_pagenum_9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Many GHPs also struggle with the right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henab_1"/>
          <p:cNvSpPr/>
          <p:nvPr/>
        </p:nvSpPr>
        <p:spPr>
          <a:xfrm>
            <a:off x="411480" y="1252728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chenab_1_hdr"/>
          <p:cNvSpPr/>
          <p:nvPr/>
        </p:nvSpPr>
        <p:spPr>
          <a:xfrm>
            <a:off x="411480" y="1252728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Committed leadership</a:t>
            </a:r>
          </a:p>
        </p:txBody>
      </p:sp>
      <p:sp>
        <p:nvSpPr>
          <p:cNvPr id="6" name="overlay_chenab_1"/>
          <p:cNvSpPr txBox="1"/>
          <p:nvPr/>
        </p:nvSpPr>
        <p:spPr>
          <a:xfrm>
            <a:off x="548640" y="1755648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Ensuring leaders regularly lead and participate in performance reviews, in spite of many other calls on their time.</a:t>
            </a:r>
          </a:p>
        </p:txBody>
      </p:sp>
      <p:sp>
        <p:nvSpPr>
          <p:cNvPr id="7" name="background_chenab_2"/>
          <p:cNvSpPr/>
          <p:nvPr/>
        </p:nvSpPr>
        <p:spPr>
          <a:xfrm>
            <a:off x="6210147" y="1252728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chenab_2_hdr"/>
          <p:cNvSpPr/>
          <p:nvPr/>
        </p:nvSpPr>
        <p:spPr>
          <a:xfrm>
            <a:off x="6210147" y="1252728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Capacity</a:t>
            </a:r>
          </a:p>
        </p:txBody>
      </p:sp>
      <p:sp>
        <p:nvSpPr>
          <p:cNvPr id="9" name="overlay_chenab_2"/>
          <p:cNvSpPr txBox="1"/>
          <p:nvPr/>
        </p:nvSpPr>
        <p:spPr>
          <a:xfrm>
            <a:off x="6347307" y="1755648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10" name="background_chenab_3"/>
          <p:cNvSpPr/>
          <p:nvPr/>
        </p:nvSpPr>
        <p:spPr>
          <a:xfrm>
            <a:off x="411480" y="3675887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chenab_3_hdr"/>
          <p:cNvSpPr/>
          <p:nvPr/>
        </p:nvSpPr>
        <p:spPr>
          <a:xfrm>
            <a:off x="411480" y="3675887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Communications</a:t>
            </a:r>
          </a:p>
        </p:txBody>
      </p:sp>
      <p:sp>
        <p:nvSpPr>
          <p:cNvPr id="12" name="overlay_chenab_3"/>
          <p:cNvSpPr txBox="1"/>
          <p:nvPr/>
        </p:nvSpPr>
        <p:spPr>
          <a:xfrm>
            <a:off x="548640" y="4178807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Establishing a shared understanding of accountability across the different backgrounds of partners; keeping partners in a loose working group engaged and motivated.</a:t>
            </a:r>
          </a:p>
        </p:txBody>
      </p:sp>
      <p:sp>
        <p:nvSpPr>
          <p:cNvPr id="13" name="background_chenab_4"/>
          <p:cNvSpPr/>
          <p:nvPr/>
        </p:nvSpPr>
        <p:spPr>
          <a:xfrm>
            <a:off x="6210147" y="3675887"/>
            <a:ext cx="5570067" cy="21945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ckground_chenab_4_hdr"/>
          <p:cNvSpPr/>
          <p:nvPr/>
        </p:nvSpPr>
        <p:spPr>
          <a:xfrm>
            <a:off x="6210147" y="3675887"/>
            <a:ext cx="5570067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5" name="overlay_chenab_4"/>
          <p:cNvSpPr txBox="1"/>
          <p:nvPr/>
        </p:nvSpPr>
        <p:spPr>
          <a:xfrm>
            <a:off x="6347307" y="4178807"/>
            <a:ext cx="529574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F4858"/>
                </a:solidFill>
                <a:latin typeface="Arial"/>
              </a:rPr>
              <a:t>Moving from a culture of performance measurement (extensive reporting) to performance management (open discussion of outcomes); defining ambitious goals despite a consensus-building culture that tends toward abstract objectives.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17" name="meta_pagenum_10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The Stop TB Partnership displays a number of strengths across performance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ard_strengths"/>
          <p:cNvSpPr/>
          <p:nvPr/>
        </p:nvSpPr>
        <p:spPr>
          <a:xfrm>
            <a:off x="411480" y="1405128"/>
            <a:ext cx="11368735" cy="22936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card_strengths_hdr"/>
          <p:cNvSpPr/>
          <p:nvPr/>
        </p:nvSpPr>
        <p:spPr>
          <a:xfrm>
            <a:off x="411480" y="1405128"/>
            <a:ext cx="11368735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Strengths (process)</a:t>
            </a:r>
          </a:p>
        </p:txBody>
      </p:sp>
      <p:sp>
        <p:nvSpPr>
          <p:cNvPr id="6" name="overlay_card_strengths"/>
          <p:cNvSpPr txBox="1"/>
          <p:nvPr/>
        </p:nvSpPr>
        <p:spPr>
          <a:xfrm>
            <a:off x="539496" y="1844040"/>
            <a:ext cx="11112703" cy="1726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Setting objectives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GDF objectives are clearly defined and distinguish the change GDF hopes to bring about in the world (e.g., MDGs — 70% of TB cases diagnosed, 85% cure rate) from the internal goals it sets itself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Tracking and disseminating metrics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despite limited resources, GDF tracks and reports on a wide variety of metrics to meet the different demands of donors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Establishing clear metrics and setting targets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the MDR-TB Working Group defines concrete metrics (e.g., patients with access to MDR-TB treatment) and sets specific targets (e.g., for 2009: 200,000 patients, 4 projects)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Reviewing performance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the Advocacy Team conducts an in-depth review of performance against objectives stated in its funding proposal, taking stock of results and lessons learned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8" name="meta_pagenum_11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Brief overview of performance issues we jointly agreed to address across the five Partnership bodies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agreed"/>
          <p:cNvSpPr txBox="1"/>
          <p:nvPr/>
        </p:nvSpPr>
        <p:spPr>
          <a:xfrm>
            <a:off x="411480" y="1405128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Performance issues and specific questions addressed by Partnership body</a:t>
            </a:r>
          </a:p>
        </p:txBody>
      </p:sp>
      <p:graphicFrame>
        <p:nvGraphicFramePr>
          <p:cNvPr id="5" name="table_agreed"/>
          <p:cNvGraphicFramePr>
            <a:graphicFrameLocks noGrp="1"/>
          </p:cNvGraphicFramePr>
          <p:nvPr/>
        </p:nvGraphicFramePr>
        <p:xfrm>
          <a:off x="411480" y="1679448"/>
          <a:ext cx="1136599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4965192"/>
              </a:tblGrid>
              <a:tr h="71323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 anchor="ctr" marL="76200" marR="50800" marT="25400" marB="25400"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Setting advocacy objectives that stay current and relevant in changing external circumstances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Setting advocacy objectives within Stop TB that stay current; finding and making visible tactical opportunities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 anchor="ctr" marL="76200" marR="50800" marT="25400" marB="25400"/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 anchor="ctr" marL="76200" marR="50800" marT="25400" marB="25400"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While most of the 250 metrics were relevant and helpful to GDF, data collection and reporting was onerous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quote_1"/>
          <p:cNvSpPr/>
          <p:nvPr/>
        </p:nvSpPr>
        <p:spPr>
          <a:xfrm>
            <a:off x="411480" y="1405128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quote_1"/>
          <p:cNvSpPr txBox="1"/>
          <p:nvPr/>
        </p:nvSpPr>
        <p:spPr>
          <a:xfrm>
            <a:off x="557784" y="151485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6" name="background_quote_2"/>
          <p:cNvSpPr/>
          <p:nvPr/>
        </p:nvSpPr>
        <p:spPr>
          <a:xfrm>
            <a:off x="3310128" y="1405128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quote_2"/>
          <p:cNvSpPr txBox="1"/>
          <p:nvPr/>
        </p:nvSpPr>
        <p:spPr>
          <a:xfrm>
            <a:off x="3456432" y="151485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8" name="background_quote_3"/>
          <p:cNvSpPr/>
          <p:nvPr/>
        </p:nvSpPr>
        <p:spPr>
          <a:xfrm>
            <a:off x="6208776" y="1405128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lay_quote_3"/>
          <p:cNvSpPr txBox="1"/>
          <p:nvPr/>
        </p:nvSpPr>
        <p:spPr>
          <a:xfrm>
            <a:off x="6355080" y="151485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10" name="background_quote_4"/>
          <p:cNvSpPr/>
          <p:nvPr/>
        </p:nvSpPr>
        <p:spPr>
          <a:xfrm>
            <a:off x="9107424" y="1405128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lay_quote_4"/>
          <p:cNvSpPr txBox="1"/>
          <p:nvPr/>
        </p:nvSpPr>
        <p:spPr>
          <a:xfrm>
            <a:off x="9253728" y="151485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12" name="background_quote_5"/>
          <p:cNvSpPr/>
          <p:nvPr/>
        </p:nvSpPr>
        <p:spPr>
          <a:xfrm>
            <a:off x="1862175" y="2959607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erlay_quote_5"/>
          <p:cNvSpPr txBox="1"/>
          <p:nvPr/>
        </p:nvSpPr>
        <p:spPr>
          <a:xfrm>
            <a:off x="2008479" y="306933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14" name="background_quote_6"/>
          <p:cNvSpPr/>
          <p:nvPr/>
        </p:nvSpPr>
        <p:spPr>
          <a:xfrm>
            <a:off x="4760823" y="2959607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erlay_quote_6"/>
          <p:cNvSpPr txBox="1"/>
          <p:nvPr/>
        </p:nvSpPr>
        <p:spPr>
          <a:xfrm>
            <a:off x="4907127" y="306933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16" name="background_quote_7"/>
          <p:cNvSpPr/>
          <p:nvPr/>
        </p:nvSpPr>
        <p:spPr>
          <a:xfrm>
            <a:off x="7659471" y="2959607"/>
            <a:ext cx="2670048" cy="13258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erlay_quote_7"/>
          <p:cNvSpPr txBox="1"/>
          <p:nvPr/>
        </p:nvSpPr>
        <p:spPr>
          <a:xfrm>
            <a:off x="7805775" y="3069336"/>
            <a:ext cx="237744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F3864"/>
                </a:solidFill>
                <a:latin typeface="Arial"/>
              </a:rPr>
              <a:t>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F4858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18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Interviews.</a:t>
            </a:r>
          </a:p>
        </p:txBody>
      </p:sp>
      <p:sp>
        <p:nvSpPr>
          <p:cNvPr id="19" name="meta_pagenum_13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The team followed an eight-step process to create streamlined, structured KPIs, dashboards, and review meetings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step_a"/>
          <p:cNvSpPr/>
          <p:nvPr/>
        </p:nvSpPr>
        <p:spPr>
          <a:xfrm>
            <a:off x="411480" y="140512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step_a_chip"/>
          <p:cNvSpPr/>
          <p:nvPr/>
        </p:nvSpPr>
        <p:spPr>
          <a:xfrm>
            <a:off x="521208" y="151485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overlay_step_a"/>
          <p:cNvSpPr txBox="1"/>
          <p:nvPr/>
        </p:nvSpPr>
        <p:spPr>
          <a:xfrm>
            <a:off x="521208" y="206349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Collate all GDF metrics reported on into one database: ~250 in total</a:t>
            </a:r>
          </a:p>
        </p:txBody>
      </p:sp>
      <p:sp>
        <p:nvSpPr>
          <p:cNvPr id="7" name="background_step_b"/>
          <p:cNvSpPr/>
          <p:nvPr/>
        </p:nvSpPr>
        <p:spPr>
          <a:xfrm>
            <a:off x="3310813" y="140512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step_b_chip"/>
          <p:cNvSpPr/>
          <p:nvPr/>
        </p:nvSpPr>
        <p:spPr>
          <a:xfrm>
            <a:off x="3420541" y="151485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9" name="overlay_step_b"/>
          <p:cNvSpPr txBox="1"/>
          <p:nvPr/>
        </p:nvSpPr>
        <p:spPr>
          <a:xfrm>
            <a:off x="3420541" y="206349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Agree on GDF objectives and cluster metrics/KPIs to objectives</a:t>
            </a:r>
          </a:p>
        </p:txBody>
      </p:sp>
      <p:sp>
        <p:nvSpPr>
          <p:cNvPr id="10" name="background_step_c"/>
          <p:cNvSpPr/>
          <p:nvPr/>
        </p:nvSpPr>
        <p:spPr>
          <a:xfrm>
            <a:off x="6210147" y="140512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step_c_chip"/>
          <p:cNvSpPr/>
          <p:nvPr/>
        </p:nvSpPr>
        <p:spPr>
          <a:xfrm>
            <a:off x="6319875" y="151485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2" name="overlay_step_c"/>
          <p:cNvSpPr txBox="1"/>
          <p:nvPr/>
        </p:nvSpPr>
        <p:spPr>
          <a:xfrm>
            <a:off x="6319875" y="206349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Develop a detailed KPI tree for each objective</a:t>
            </a:r>
          </a:p>
        </p:txBody>
      </p:sp>
      <p:sp>
        <p:nvSpPr>
          <p:cNvPr id="13" name="background_step_d"/>
          <p:cNvSpPr/>
          <p:nvPr/>
        </p:nvSpPr>
        <p:spPr>
          <a:xfrm>
            <a:off x="9109481" y="140512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ckground_step_d_chip"/>
          <p:cNvSpPr/>
          <p:nvPr/>
        </p:nvSpPr>
        <p:spPr>
          <a:xfrm>
            <a:off x="9219209" y="151485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5" name="overlay_step_d"/>
          <p:cNvSpPr txBox="1"/>
          <p:nvPr/>
        </p:nvSpPr>
        <p:spPr>
          <a:xfrm>
            <a:off x="9219209" y="206349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Streamline detailed trees, excluding activity-related or non-GDF-owned KPIs</a:t>
            </a:r>
          </a:p>
        </p:txBody>
      </p:sp>
      <p:sp>
        <p:nvSpPr>
          <p:cNvPr id="16" name="background_step_e"/>
          <p:cNvSpPr/>
          <p:nvPr/>
        </p:nvSpPr>
        <p:spPr>
          <a:xfrm>
            <a:off x="411480" y="305104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ckground_step_e_chip"/>
          <p:cNvSpPr/>
          <p:nvPr/>
        </p:nvSpPr>
        <p:spPr>
          <a:xfrm>
            <a:off x="521208" y="316077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8" name="overlay_step_e"/>
          <p:cNvSpPr txBox="1"/>
          <p:nvPr/>
        </p:nvSpPr>
        <p:spPr>
          <a:xfrm>
            <a:off x="521208" y="370941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Assign owners to, and define review frequency of, each KPI</a:t>
            </a:r>
          </a:p>
        </p:txBody>
      </p:sp>
      <p:sp>
        <p:nvSpPr>
          <p:cNvPr id="19" name="background_step_f"/>
          <p:cNvSpPr/>
          <p:nvPr/>
        </p:nvSpPr>
        <p:spPr>
          <a:xfrm>
            <a:off x="3310813" y="305104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ckground_step_f_chip"/>
          <p:cNvSpPr/>
          <p:nvPr/>
        </p:nvSpPr>
        <p:spPr>
          <a:xfrm>
            <a:off x="3420541" y="316077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f</a:t>
            </a:r>
          </a:p>
        </p:txBody>
      </p:sp>
      <p:sp>
        <p:nvSpPr>
          <p:cNvPr id="21" name="overlay_step_f"/>
          <p:cNvSpPr txBox="1"/>
          <p:nvPr/>
        </p:nvSpPr>
        <p:spPr>
          <a:xfrm>
            <a:off x="3420541" y="370941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Develop a clear cascade of KPIs from teams up to the COO annual performance review</a:t>
            </a:r>
          </a:p>
        </p:txBody>
      </p:sp>
      <p:sp>
        <p:nvSpPr>
          <p:cNvPr id="22" name="background_step_g"/>
          <p:cNvSpPr/>
          <p:nvPr/>
        </p:nvSpPr>
        <p:spPr>
          <a:xfrm>
            <a:off x="6210147" y="305104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ckground_step_g_chip"/>
          <p:cNvSpPr/>
          <p:nvPr/>
        </p:nvSpPr>
        <p:spPr>
          <a:xfrm>
            <a:off x="6319875" y="316077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24" name="overlay_step_g"/>
          <p:cNvSpPr txBox="1"/>
          <p:nvPr/>
        </p:nvSpPr>
        <p:spPr>
          <a:xfrm>
            <a:off x="6319875" y="370941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Create dashboards and review calendars for each team</a:t>
            </a:r>
          </a:p>
        </p:txBody>
      </p:sp>
      <p:sp>
        <p:nvSpPr>
          <p:cNvPr id="25" name="background_step_h"/>
          <p:cNvSpPr/>
          <p:nvPr/>
        </p:nvSpPr>
        <p:spPr>
          <a:xfrm>
            <a:off x="9109481" y="3051048"/>
            <a:ext cx="2670733" cy="14173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ckground_step_h_chip"/>
          <p:cNvSpPr/>
          <p:nvPr/>
        </p:nvSpPr>
        <p:spPr>
          <a:xfrm>
            <a:off x="9219209" y="3160776"/>
            <a:ext cx="457200" cy="4572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27" name="overlay_step_h"/>
          <p:cNvSpPr txBox="1"/>
          <p:nvPr/>
        </p:nvSpPr>
        <p:spPr>
          <a:xfrm>
            <a:off x="9219209" y="3709416"/>
            <a:ext cx="2451277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Hold a workshop on conducting performance dialogues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29" name="meta_pagenum_14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Seven KPIs give a clear overview of GDF's performance against its three main objectives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kpitree"/>
          <p:cNvSpPr txBox="1"/>
          <p:nvPr/>
        </p:nvSpPr>
        <p:spPr>
          <a:xfrm>
            <a:off x="411480" y="1405128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GDF objectives mapped to headline KPIs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679448"/>
          <a:ext cx="11365991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7040880"/>
                <a:gridCol w="3822191"/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Provide uninterrupted supply of 1st- and 2nd-line TB drugs and diagnostics (low-cost, high-quality, timely, demand-driven, to eligible countries)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 anchor="ctr" marL="76200" marR="50800" marT="25400" marB="25400"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Sustainably strengthen eligible countries' national drug management, procurement capacity, and financial self-sufficiency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 anchor="ctr" marL="76200" marR="50800" marT="25400" marB="25400"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 anchor="ctr" marL="76200" marR="50800" marT="25400" marB="25400"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 anchor="ctr" marL="76200" marR="50800" marT="25400" marB="25400"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1136873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A4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The COO's annual dashboard tracks cost and volume against target across treatment lines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28625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erlay_chart_dashboard"/>
          <p:cNvSpPr txBox="1"/>
          <p:nvPr/>
        </p:nvSpPr>
        <p:spPr>
          <a:xfrm>
            <a:off x="411480" y="1450848"/>
            <a:ext cx="7132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1725168"/>
          <a:ext cx="713232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overlay_table_funds"/>
          <p:cNvSpPr txBox="1"/>
          <p:nvPr/>
        </p:nvSpPr>
        <p:spPr>
          <a:xfrm>
            <a:off x="7818120" y="1450848"/>
            <a:ext cx="39620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funds"/>
          <p:cNvGraphicFramePr>
            <a:graphicFrameLocks noGrp="1"/>
          </p:cNvGraphicFramePr>
          <p:nvPr/>
        </p:nvGraphicFramePr>
        <p:xfrm>
          <a:off x="7818120" y="1725168"/>
          <a:ext cx="33832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 anchor="ctr" marL="76200" marR="50800" marT="25400" marB="25400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0" name="meta_pagenum_16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Next steps to implement and capture benefits at GDF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gdfnext"/>
          <p:cNvSpPr txBox="1"/>
          <p:nvPr/>
        </p:nvSpPr>
        <p:spPr>
          <a:xfrm>
            <a:off x="411480" y="1252728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Planned actions to embed the new KPI framework at GDF</a:t>
            </a:r>
          </a:p>
        </p:txBody>
      </p:sp>
      <p:graphicFrame>
        <p:nvGraphicFramePr>
          <p:cNvPr id="5" name="table_gdfnext"/>
          <p:cNvGraphicFramePr>
            <a:graphicFrameLocks noGrp="1"/>
          </p:cNvGraphicFramePr>
          <p:nvPr/>
        </p:nvGraphicFramePr>
        <p:xfrm>
          <a:off x="411480" y="1527048"/>
          <a:ext cx="1136599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57031"/>
              </a:tblGrid>
              <a:tr h="6035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Present the GDF KPI tree to donors, compare with metrics they request, and agree on any additional KPIs to report</a:t>
                      </a:r>
                    </a:p>
                  </a:txBody>
                  <a:tcPr anchor="ctr" marL="76200" marR="50800" marT="25400" marB="25400"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 anchor="ctr" marL="76200" marR="50800" marT="25400" marB="25400"/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F4858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ard_adv1"/>
          <p:cNvSpPr/>
          <p:nvPr/>
        </p:nvSpPr>
        <p:spPr>
          <a:xfrm>
            <a:off x="411480" y="1405128"/>
            <a:ext cx="3637178" cy="1581404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card_adv1_hdr"/>
          <p:cNvSpPr/>
          <p:nvPr/>
        </p:nvSpPr>
        <p:spPr>
          <a:xfrm>
            <a:off x="411480" y="1405128"/>
            <a:ext cx="363717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Step I — “Develop the sunflower”  Get more information</a:t>
            </a:r>
          </a:p>
        </p:txBody>
      </p:sp>
      <p:sp>
        <p:nvSpPr>
          <p:cNvPr id="6" name="overlay_card_adv1"/>
          <p:cNvSpPr txBox="1"/>
          <p:nvPr/>
        </p:nvSpPr>
        <p:spPr>
          <a:xfrm>
            <a:off x="539496" y="1990344"/>
            <a:ext cx="3381146" cy="8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Make advocacy every partner's business and increase information sharing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7" name="background_card_adv2"/>
          <p:cNvSpPr/>
          <p:nvPr/>
        </p:nvSpPr>
        <p:spPr>
          <a:xfrm>
            <a:off x="4277258" y="1405128"/>
            <a:ext cx="3637178" cy="1335024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card_adv2_hdr"/>
          <p:cNvSpPr/>
          <p:nvPr/>
        </p:nvSpPr>
        <p:spPr>
          <a:xfrm>
            <a:off x="4277258" y="1405128"/>
            <a:ext cx="363717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Step II — “Filter the intelligence”  Filter the information received</a:t>
            </a:r>
          </a:p>
        </p:txBody>
      </p:sp>
      <p:sp>
        <p:nvSpPr>
          <p:cNvPr id="9" name="overlay_card_adv2"/>
          <p:cNvSpPr txBox="1"/>
          <p:nvPr/>
        </p:nvSpPr>
        <p:spPr>
          <a:xfrm>
            <a:off x="4405274" y="1990344"/>
            <a:ext cx="338114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Set up a process that filters information for validity, impact, global relevance, and feasibility</a:t>
            </a:r>
          </a:p>
        </p:txBody>
      </p:sp>
      <p:sp>
        <p:nvSpPr>
          <p:cNvPr id="10" name="background_card_adv3"/>
          <p:cNvSpPr/>
          <p:nvPr/>
        </p:nvSpPr>
        <p:spPr>
          <a:xfrm>
            <a:off x="8143036" y="1405128"/>
            <a:ext cx="3637178" cy="1947164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card_adv3_hdr"/>
          <p:cNvSpPr/>
          <p:nvPr/>
        </p:nvSpPr>
        <p:spPr>
          <a:xfrm>
            <a:off x="8143036" y="1405128"/>
            <a:ext cx="3637178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Step III — “Keep the framework relevant”  Create or adjust objectives and plans</a:t>
            </a:r>
          </a:p>
        </p:txBody>
      </p:sp>
      <p:sp>
        <p:nvSpPr>
          <p:cNvPr id="12" name="overlay_card_adv3"/>
          <p:cNvSpPr txBox="1"/>
          <p:nvPr/>
        </p:nvSpPr>
        <p:spPr>
          <a:xfrm>
            <a:off x="8271052" y="1990344"/>
            <a:ext cx="3381146" cy="1233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For tactical opportunities requiring immediate action, create new or adjusted objectives and define what success looks like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For all other opportunities, draft adjustments into the Framework Document and seek advice from the AAC</a:t>
            </a:r>
          </a:p>
        </p:txBody>
      </p:sp>
      <p:sp>
        <p:nvSpPr>
          <p:cNvPr id="13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Workshops.</a:t>
            </a:r>
          </a:p>
        </p:txBody>
      </p:sp>
      <p:sp>
        <p:nvSpPr>
          <p:cNvPr id="14" name="meta_pagenum_18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eyebrow"/>
          <p:cNvSpPr txBox="1"/>
          <p:nvPr/>
        </p:nvSpPr>
        <p:spPr>
          <a:xfrm>
            <a:off x="411480" y="274320"/>
            <a:ext cx="1136873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A4"/>
                </a:solidFill>
                <a:latin typeface="Arial"/>
              </a:rPr>
              <a:t>PRELIMINARY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45720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13385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eta_funnel_in"/>
          <p:cNvSpPr txBox="1"/>
          <p:nvPr/>
        </p:nvSpPr>
        <p:spPr>
          <a:xfrm>
            <a:off x="411480" y="1298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1">
                <a:solidFill>
                  <a:srgbClr val="606A72"/>
                </a:solidFill>
                <a:latin typeface="Arial"/>
              </a:rPr>
              <a:t>Unfiltered information in</a:t>
            </a:r>
          </a:p>
        </p:txBody>
      </p:sp>
      <p:sp>
        <p:nvSpPr>
          <p:cNvPr id="6" name="meta_funnel_out"/>
          <p:cNvSpPr txBox="1"/>
          <p:nvPr/>
        </p:nvSpPr>
        <p:spPr>
          <a:xfrm>
            <a:off x="9402775" y="129844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1">
                <a:solidFill>
                  <a:srgbClr val="2E6DA4"/>
                </a:solidFill>
                <a:latin typeface="Arial"/>
              </a:rPr>
              <a:t>Filtered intelligence out</a:t>
            </a:r>
          </a:p>
        </p:txBody>
      </p:sp>
      <p:sp>
        <p:nvSpPr>
          <p:cNvPr id="7" name="background_filter_1"/>
          <p:cNvSpPr/>
          <p:nvPr/>
        </p:nvSpPr>
        <p:spPr>
          <a:xfrm>
            <a:off x="1508760" y="1709928"/>
            <a:ext cx="2156383" cy="31089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filter_1_hdr"/>
          <p:cNvSpPr/>
          <p:nvPr/>
        </p:nvSpPr>
        <p:spPr>
          <a:xfrm>
            <a:off x="1508760" y="1709928"/>
            <a:ext cx="2156383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Validity</a:t>
            </a:r>
          </a:p>
        </p:txBody>
      </p:sp>
      <p:sp>
        <p:nvSpPr>
          <p:cNvPr id="9" name="overlay_filter_1"/>
          <p:cNvSpPr txBox="1"/>
          <p:nvPr/>
        </p:nvSpPr>
        <p:spPr>
          <a:xfrm>
            <a:off x="1627631" y="2212848"/>
            <a:ext cx="19186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The received information is checked for validity with a second source: “Is the information accurate and true?”</a:t>
            </a:r>
          </a:p>
        </p:txBody>
      </p:sp>
      <p:sp>
        <p:nvSpPr>
          <p:cNvPr id="10" name="meta_farrow_1"/>
          <p:cNvSpPr/>
          <p:nvPr/>
        </p:nvSpPr>
        <p:spPr>
          <a:xfrm>
            <a:off x="3683431" y="3172968"/>
            <a:ext cx="146304" cy="182880"/>
          </a:xfrm>
          <a:prstGeom prst="right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filter_2"/>
          <p:cNvSpPr/>
          <p:nvPr/>
        </p:nvSpPr>
        <p:spPr>
          <a:xfrm>
            <a:off x="3848023" y="1709928"/>
            <a:ext cx="2156383" cy="31089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ground_filter_2_hdr"/>
          <p:cNvSpPr/>
          <p:nvPr/>
        </p:nvSpPr>
        <p:spPr>
          <a:xfrm>
            <a:off x="3848023" y="1709928"/>
            <a:ext cx="2156383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Global</a:t>
            </a:r>
          </a:p>
        </p:txBody>
      </p:sp>
      <p:sp>
        <p:nvSpPr>
          <p:cNvPr id="13" name="overlay_filter_2"/>
          <p:cNvSpPr txBox="1"/>
          <p:nvPr/>
        </p:nvSpPr>
        <p:spPr>
          <a:xfrm>
            <a:off x="3966895" y="2212848"/>
            <a:ext cx="19186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The information is filtered for global relevance: “Does it have implications beyond local/national boundaries?”</a:t>
            </a:r>
          </a:p>
        </p:txBody>
      </p:sp>
      <p:sp>
        <p:nvSpPr>
          <p:cNvPr id="14" name="meta_farrow_2"/>
          <p:cNvSpPr/>
          <p:nvPr/>
        </p:nvSpPr>
        <p:spPr>
          <a:xfrm>
            <a:off x="6022695" y="3172968"/>
            <a:ext cx="146304" cy="182880"/>
          </a:xfrm>
          <a:prstGeom prst="right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ckground_filter_3"/>
          <p:cNvSpPr/>
          <p:nvPr/>
        </p:nvSpPr>
        <p:spPr>
          <a:xfrm>
            <a:off x="6187287" y="1709928"/>
            <a:ext cx="2156383" cy="31089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ckground_filter_3_hdr"/>
          <p:cNvSpPr/>
          <p:nvPr/>
        </p:nvSpPr>
        <p:spPr>
          <a:xfrm>
            <a:off x="6187287" y="1709928"/>
            <a:ext cx="2156383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7" name="overlay_filter_3"/>
          <p:cNvSpPr txBox="1"/>
          <p:nvPr/>
        </p:nvSpPr>
        <p:spPr>
          <a:xfrm>
            <a:off x="6306159" y="2212848"/>
            <a:ext cx="19186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Once validated, the information is filtered for work-plan impact: can it affect policy, donors, or public opinion?</a:t>
            </a:r>
          </a:p>
        </p:txBody>
      </p:sp>
      <p:sp>
        <p:nvSpPr>
          <p:cNvPr id="18" name="meta_farrow_3"/>
          <p:cNvSpPr/>
          <p:nvPr/>
        </p:nvSpPr>
        <p:spPr>
          <a:xfrm>
            <a:off x="8361959" y="3172968"/>
            <a:ext cx="146304" cy="182880"/>
          </a:xfrm>
          <a:prstGeom prst="right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ckground_filter_4"/>
          <p:cNvSpPr/>
          <p:nvPr/>
        </p:nvSpPr>
        <p:spPr>
          <a:xfrm>
            <a:off x="8526551" y="1709928"/>
            <a:ext cx="2156383" cy="310896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ckground_filter_4_hdr"/>
          <p:cNvSpPr/>
          <p:nvPr/>
        </p:nvSpPr>
        <p:spPr>
          <a:xfrm>
            <a:off x="8526551" y="1709928"/>
            <a:ext cx="2156383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21" name="overlay_filter_4"/>
          <p:cNvSpPr txBox="1"/>
          <p:nvPr/>
        </p:nvSpPr>
        <p:spPr>
          <a:xfrm>
            <a:off x="8645423" y="2212848"/>
            <a:ext cx="1918639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F4858"/>
                </a:solidFill>
                <a:latin typeface="Arial"/>
              </a:rPr>
              <a:t>Determine whether the information can feasibly and realistically be translated into sufficiently impactful activities.</a:t>
            </a:r>
          </a:p>
        </p:txBody>
      </p:sp>
      <p:sp>
        <p:nvSpPr>
          <p:cNvPr id="22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Workshops. Apply the filter at the start of advocacy meetings.</a:t>
            </a:r>
          </a:p>
        </p:txBody>
      </p:sp>
      <p:sp>
        <p:nvSpPr>
          <p:cNvPr id="23" name="meta_pagenum_19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High-level objectives relate to three areas — raising awareness, engaging TB networks, and supporting the Secretariat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mb_mission"/>
          <p:cNvSpPr/>
          <p:nvPr/>
        </p:nvSpPr>
        <p:spPr>
          <a:xfrm>
            <a:off x="411480" y="1405128"/>
            <a:ext cx="1136873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Mission:  Inspire the world into action against tuberculosis (TB)</a:t>
            </a:r>
          </a:p>
        </p:txBody>
      </p:sp>
      <p:sp>
        <p:nvSpPr>
          <p:cNvPr id="5" name="background_card_cmb_1"/>
          <p:cNvSpPr/>
          <p:nvPr/>
        </p:nvSpPr>
        <p:spPr>
          <a:xfrm>
            <a:off x="411480" y="2182368"/>
            <a:ext cx="3637178" cy="16814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_card_cmb_1_hdr"/>
          <p:cNvSpPr/>
          <p:nvPr/>
        </p:nvSpPr>
        <p:spPr>
          <a:xfrm>
            <a:off x="411480" y="218236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1  Raise awareness about TB among</a:t>
            </a:r>
          </a:p>
        </p:txBody>
      </p:sp>
      <p:sp>
        <p:nvSpPr>
          <p:cNvPr id="7" name="overlay_card_cmb_1"/>
          <p:cNvSpPr txBox="1"/>
          <p:nvPr/>
        </p:nvSpPr>
        <p:spPr>
          <a:xfrm>
            <a:off x="539496" y="2621280"/>
            <a:ext cx="3381146" cy="1114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A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The “fourth estate” (news media)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B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Members of the public in donor countries and selected high-burden countries / BRIC+2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1" i="0">
                <a:solidFill>
                  <a:srgbClr val="2F4858"/>
                </a:solidFill>
                <a:latin typeface="Arial"/>
              </a:rPr>
              <a:t>C — </a:t>
            </a:r>
            <a:r>
              <a:rPr sz="1200" b="0" i="0">
                <a:solidFill>
                  <a:srgbClr val="2F4858"/>
                </a:solidFill>
                <a:latin typeface="Arial"/>
              </a:rPr>
              <a:t>Selected institutions</a:t>
            </a:r>
          </a:p>
        </p:txBody>
      </p:sp>
      <p:sp>
        <p:nvSpPr>
          <p:cNvPr id="8" name="background_card_cmb_2"/>
          <p:cNvSpPr/>
          <p:nvPr/>
        </p:nvSpPr>
        <p:spPr>
          <a:xfrm>
            <a:off x="4277258" y="2182368"/>
            <a:ext cx="3637178" cy="1188719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card_cmb_2_hdr"/>
          <p:cNvSpPr/>
          <p:nvPr/>
        </p:nvSpPr>
        <p:spPr>
          <a:xfrm>
            <a:off x="4277258" y="218236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2  Engage TB networks</a:t>
            </a:r>
          </a:p>
        </p:txBody>
      </p:sp>
      <p:sp>
        <p:nvSpPr>
          <p:cNvPr id="10" name="overlay_card_cmb_2"/>
          <p:cNvSpPr txBox="1"/>
          <p:nvPr/>
        </p:nvSpPr>
        <p:spPr>
          <a:xfrm>
            <a:off x="4405274" y="2621280"/>
            <a:ext cx="338114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Engage, support, and foster a shared sense of purpose among partners and other members of TB networks.</a:t>
            </a:r>
          </a:p>
        </p:txBody>
      </p:sp>
      <p:sp>
        <p:nvSpPr>
          <p:cNvPr id="11" name="background_card_cmb_3"/>
          <p:cNvSpPr/>
          <p:nvPr/>
        </p:nvSpPr>
        <p:spPr>
          <a:xfrm>
            <a:off x="8143036" y="2182368"/>
            <a:ext cx="3637178" cy="100584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ckground_card_cmb_3_hdr"/>
          <p:cNvSpPr/>
          <p:nvPr/>
        </p:nvSpPr>
        <p:spPr>
          <a:xfrm>
            <a:off x="8143036" y="2182368"/>
            <a:ext cx="3637178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3  Support the Secretariat</a:t>
            </a:r>
          </a:p>
        </p:txBody>
      </p:sp>
      <p:sp>
        <p:nvSpPr>
          <p:cNvPr id="13" name="overlay_card_cmb_3"/>
          <p:cNvSpPr txBox="1"/>
          <p:nvPr/>
        </p:nvSpPr>
        <p:spPr>
          <a:xfrm>
            <a:off x="8271052" y="2621280"/>
            <a:ext cx="338114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Provide coordinated support for the core work of the Secretariat.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Note: BRIC+2 = Brazil, Russia, India, China, Indonesia, and South Africa. Source: Team discussion.</a:t>
            </a:r>
          </a:p>
        </p:txBody>
      </p:sp>
      <p:sp>
        <p:nvSpPr>
          <p:cNvPr id="15" name="meta_pagenum_20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For each high-level objective, audience groups, objectives, metrics, and targets have been defined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erlay_table_cmbtgt"/>
          <p:cNvSpPr txBox="1"/>
          <p:nvPr/>
        </p:nvSpPr>
        <p:spPr>
          <a:xfrm>
            <a:off x="411480" y="1405128"/>
            <a:ext cx="113687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Audience groups, objectives, metrics, and targets</a:t>
            </a:r>
          </a:p>
        </p:txBody>
      </p:sp>
      <p:graphicFrame>
        <p:nvGraphicFramePr>
          <p:cNvPr id="5" name="table_cmbtgt"/>
          <p:cNvGraphicFramePr>
            <a:graphicFrameLocks noGrp="1"/>
          </p:cNvGraphicFramePr>
          <p:nvPr/>
        </p:nvGraphicFramePr>
        <p:xfrm>
          <a:off x="411480" y="1679448"/>
          <a:ext cx="1136599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  <a:gridCol w="2743200"/>
                <a:gridCol w="2953512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anchor="ctr" marL="76200" marR="50800" marT="25400" marB="25400"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Raise awareness of the prevalence and threat of TB via traditional and innovative channels to grow donations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 anchor="ctr" marL="76200" marR="50800" marT="25400" marB="2540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Develop and roll out a viral marketing / social-media campaign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People reached via social channels (YouTube, Facebook)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(awareness)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% of population 18–65 acknowledging TB as a top-5 global health priority</a:t>
                      </a:r>
                    </a:p>
                  </a:txBody>
                  <a:tcPr anchor="ctr" marL="76200" marR="50800" marT="25400" marB="25400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 anchor="ctr" marL="76200" marR="50800" marT="25400" marB="2540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Meet with editors to encourage TB coverage; pitch high-impact topics (MDR/XDR-TB)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F4858"/>
                          </a:solidFill>
                          <a:latin typeface="Arial"/>
                        </a:rPr>
                        <a:t>(target TBD)</a:t>
                      </a:r>
                    </a:p>
                  </a:txBody>
                  <a:tcPr anchor="ctr" marL="76200" marR="50800" marT="25400" marB="254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The team clarified the CFCS mission and defined objectives to deliver it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fcs_mission"/>
          <p:cNvSpPr/>
          <p:nvPr/>
        </p:nvSpPr>
        <p:spPr>
          <a:xfrm>
            <a:off x="411480" y="1252728"/>
            <a:ext cx="3657600" cy="4617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27000" tIns="127000" bIns="127000">
            <a:spAutoFit/>
          </a:bodyPr>
          <a:lstStyle/>
          <a:p>
            <a:pPr algn="l"/>
            <a:r>
              <a:rPr sz="1300" b="1" i="0">
                <a:solidFill>
                  <a:srgbClr val="D6E0F0"/>
                </a:solidFill>
                <a:latin typeface="Arial"/>
              </a:rPr>
              <a:t>Mission</a:t>
            </a:r>
          </a:p>
          <a:p>
            <a:pPr algn="l"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Arial"/>
              </a:rPr>
              <a:t>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5" name="background_card_cfcs_1"/>
          <p:cNvSpPr/>
          <p:nvPr/>
        </p:nvSpPr>
        <p:spPr>
          <a:xfrm>
            <a:off x="4343400" y="1252728"/>
            <a:ext cx="7436815" cy="17449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ckground_card_cfcs_1_hdr"/>
          <p:cNvSpPr/>
          <p:nvPr/>
        </p:nvSpPr>
        <p:spPr>
          <a:xfrm>
            <a:off x="4343400" y="1252728"/>
            <a:ext cx="7436815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1  Assist community-based civil-society organizations</a:t>
            </a:r>
          </a:p>
        </p:txBody>
      </p:sp>
      <p:sp>
        <p:nvSpPr>
          <p:cNvPr id="7" name="overlay_card_cfcs_1"/>
          <p:cNvSpPr txBox="1"/>
          <p:nvPr/>
        </p:nvSpPr>
        <p:spPr>
          <a:xfrm>
            <a:off x="4471416" y="1691640"/>
            <a:ext cx="7180783" cy="11780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Provide small grants for projects that increase awareness and active participation of local communities and build their capabilities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Provide coaching and technical assistance to grant recipients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Strengthen links between grant recipients and local authorities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Bring organizations together to exchange best practices</a:t>
            </a:r>
          </a:p>
        </p:txBody>
      </p:sp>
      <p:sp>
        <p:nvSpPr>
          <p:cNvPr id="8" name="background_card_cfcs_2"/>
          <p:cNvSpPr/>
          <p:nvPr/>
        </p:nvSpPr>
        <p:spPr>
          <a:xfrm>
            <a:off x="4343400" y="3675887"/>
            <a:ext cx="7436815" cy="174498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ckground_card_cfcs_2_hdr"/>
          <p:cNvSpPr/>
          <p:nvPr/>
        </p:nvSpPr>
        <p:spPr>
          <a:xfrm>
            <a:off x="4343400" y="3675887"/>
            <a:ext cx="7436815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 2  Efficiently manage CFCS resources</a:t>
            </a:r>
          </a:p>
        </p:txBody>
      </p:sp>
      <p:sp>
        <p:nvSpPr>
          <p:cNvPr id="10" name="overlay_card_cfcs_2"/>
          <p:cNvSpPr txBox="1"/>
          <p:nvPr/>
        </p:nvSpPr>
        <p:spPr>
          <a:xfrm>
            <a:off x="4471416" y="4114799"/>
            <a:ext cx="7180783" cy="11780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Identify and stimulate high-quality, competitive applications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Develop selection criteria that ensure involvement of local health services and strengthen local autonomy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Hold grantees accountable to project milestones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Use simple evaluation processes that assess impact and integrate lessons learned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2" name="meta_pagenum_22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701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4858"/>
                </a:solidFill>
                <a:latin typeface="Georgia"/>
              </a:rPr>
              <a:t>A team “barometer” survey assesses working-group engagement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2405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baro_1"/>
          <p:cNvSpPr/>
          <p:nvPr/>
        </p:nvSpPr>
        <p:spPr>
          <a:xfrm>
            <a:off x="411480" y="1405128"/>
            <a:ext cx="5570067" cy="12522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ckground_baro_1_hdr"/>
          <p:cNvSpPr/>
          <p:nvPr/>
        </p:nvSpPr>
        <p:spPr>
          <a:xfrm>
            <a:off x="411480" y="1405128"/>
            <a:ext cx="5570067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Objectives and direction</a:t>
            </a:r>
          </a:p>
        </p:txBody>
      </p:sp>
      <p:sp>
        <p:nvSpPr>
          <p:cNvPr id="6" name="overlay_baro_1"/>
          <p:cNvSpPr txBox="1"/>
          <p:nvPr/>
        </p:nvSpPr>
        <p:spPr>
          <a:xfrm>
            <a:off x="539496" y="1844040"/>
            <a:ext cx="5314035" cy="6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7" name="background_baro_2"/>
          <p:cNvSpPr/>
          <p:nvPr/>
        </p:nvSpPr>
        <p:spPr>
          <a:xfrm>
            <a:off x="6210147" y="1405128"/>
            <a:ext cx="5570067" cy="125222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ckground_baro_2_hdr"/>
          <p:cNvSpPr/>
          <p:nvPr/>
        </p:nvSpPr>
        <p:spPr>
          <a:xfrm>
            <a:off x="6210147" y="1405128"/>
            <a:ext cx="5570067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Delivery against objectives</a:t>
            </a:r>
          </a:p>
        </p:txBody>
      </p:sp>
      <p:sp>
        <p:nvSpPr>
          <p:cNvPr id="9" name="overlay_baro_2"/>
          <p:cNvSpPr txBox="1"/>
          <p:nvPr/>
        </p:nvSpPr>
        <p:spPr>
          <a:xfrm>
            <a:off x="6338163" y="1844040"/>
            <a:ext cx="5314035" cy="6852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10" name="background_baro_3"/>
          <p:cNvSpPr/>
          <p:nvPr/>
        </p:nvSpPr>
        <p:spPr>
          <a:xfrm>
            <a:off x="411480" y="3592068"/>
            <a:ext cx="5570067" cy="143510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ckground_baro_3_hdr"/>
          <p:cNvSpPr/>
          <p:nvPr/>
        </p:nvSpPr>
        <p:spPr>
          <a:xfrm>
            <a:off x="411480" y="3592068"/>
            <a:ext cx="5570067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Individual contributions</a:t>
            </a:r>
          </a:p>
        </p:txBody>
      </p:sp>
      <p:sp>
        <p:nvSpPr>
          <p:cNvPr id="12" name="overlay_baro_3"/>
          <p:cNvSpPr txBox="1"/>
          <p:nvPr/>
        </p:nvSpPr>
        <p:spPr>
          <a:xfrm>
            <a:off x="539496" y="4030980"/>
            <a:ext cx="5314035" cy="8681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After meetings, accountabilities and deadlines for specific actions are clear</a:t>
            </a:r>
          </a:p>
        </p:txBody>
      </p:sp>
      <p:sp>
        <p:nvSpPr>
          <p:cNvPr id="13" name="background_baro_4"/>
          <p:cNvSpPr/>
          <p:nvPr/>
        </p:nvSpPr>
        <p:spPr>
          <a:xfrm>
            <a:off x="6210147" y="3592068"/>
            <a:ext cx="5570067" cy="1069340"/>
          </a:xfrm>
          <a:prstGeom prst="rect">
            <a:avLst/>
          </a:prstGeom>
          <a:solidFill>
            <a:srgbClr val="F2F4F8"/>
          </a:solidFill>
          <a:ln w="9525">
            <a:solidFill>
              <a:srgbClr val="BFC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ckground_baro_4_hdr"/>
          <p:cNvSpPr/>
          <p:nvPr/>
        </p:nvSpPr>
        <p:spPr>
          <a:xfrm>
            <a:off x="6210147" y="3592068"/>
            <a:ext cx="5570067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" rIns="1778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Mindsets and behaviors</a:t>
            </a:r>
          </a:p>
        </p:txBody>
      </p:sp>
      <p:sp>
        <p:nvSpPr>
          <p:cNvPr id="15" name="overlay_baro_4"/>
          <p:cNvSpPr txBox="1"/>
          <p:nvPr/>
        </p:nvSpPr>
        <p:spPr>
          <a:xfrm>
            <a:off x="6338163" y="4030980"/>
            <a:ext cx="5314035" cy="5024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The culture within the WG is collaborative and constructive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Scale: 1 = strongly disagree … 5 = strongly agree.</a:t>
            </a:r>
          </a:p>
        </p:txBody>
      </p:sp>
      <p:sp>
        <p:nvSpPr>
          <p:cNvPr id="17" name="meta_pagenum_23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1368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The next ~10 weeks will focus on implementing the solutions developed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088136"/>
            <a:ext cx="1463040" cy="0"/>
          </a:xfrm>
          <a:prstGeom prst="bentConnector3">
            <a:avLst/>
          </a:prstGeom>
          <a:ln w="31750">
            <a:solidFill>
              <a:srgbClr val="2E6D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ckground_close_phase_1"/>
          <p:cNvSpPr/>
          <p:nvPr/>
        </p:nvSpPr>
        <p:spPr>
          <a:xfrm>
            <a:off x="411480" y="1252728"/>
            <a:ext cx="3637178" cy="64008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Diagnose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0F0"/>
                </a:solidFill>
                <a:latin typeface="Arial"/>
              </a:rPr>
              <a:t>Aug – Sep</a:t>
            </a:r>
          </a:p>
        </p:txBody>
      </p:sp>
      <p:sp>
        <p:nvSpPr>
          <p:cNvPr id="5" name="background_close_phase_2"/>
          <p:cNvSpPr/>
          <p:nvPr/>
        </p:nvSpPr>
        <p:spPr>
          <a:xfrm>
            <a:off x="4277258" y="1252728"/>
            <a:ext cx="3637178" cy="64008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Design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0F0"/>
                </a:solidFill>
                <a:latin typeface="Arial"/>
              </a:rPr>
              <a:t>Sep – Oct</a:t>
            </a:r>
          </a:p>
        </p:txBody>
      </p:sp>
      <p:sp>
        <p:nvSpPr>
          <p:cNvPr id="6" name="background_close_phase_3"/>
          <p:cNvSpPr/>
          <p:nvPr/>
        </p:nvSpPr>
        <p:spPr>
          <a:xfrm>
            <a:off x="8143036" y="1252728"/>
            <a:ext cx="3637178" cy="64008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Deliver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6E0F0"/>
                </a:solidFill>
                <a:latin typeface="Arial"/>
              </a:rPr>
              <a:t>Nov – Dec</a:t>
            </a:r>
          </a:p>
        </p:txBody>
      </p:sp>
      <p:sp>
        <p:nvSpPr>
          <p:cNvPr id="7" name="meta_close_today_bar"/>
          <p:cNvSpPr/>
          <p:nvPr/>
        </p:nvSpPr>
        <p:spPr>
          <a:xfrm>
            <a:off x="8028736" y="1207008"/>
            <a:ext cx="36576" cy="45720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close_today_lbl"/>
          <p:cNvSpPr txBox="1"/>
          <p:nvPr/>
        </p:nvSpPr>
        <p:spPr>
          <a:xfrm>
            <a:off x="7708696" y="932688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6DA4"/>
                </a:solidFill>
                <a:latin typeface="Arial"/>
              </a:rPr>
              <a:t>Today</a:t>
            </a:r>
          </a:p>
        </p:txBody>
      </p:sp>
      <p:sp>
        <p:nvSpPr>
          <p:cNvPr id="9" name="background_close_actions"/>
          <p:cNvSpPr/>
          <p:nvPr/>
        </p:nvSpPr>
        <p:spPr>
          <a:xfrm>
            <a:off x="411480" y="2167128"/>
            <a:ext cx="11368735" cy="1808480"/>
          </a:xfrm>
          <a:prstGeom prst="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ckground_close_actions_hdr"/>
          <p:cNvSpPr/>
          <p:nvPr/>
        </p:nvSpPr>
        <p:spPr>
          <a:xfrm>
            <a:off x="411480" y="2167128"/>
            <a:ext cx="11368735" cy="310896"/>
          </a:xfrm>
          <a:prstGeom prst="rect">
            <a:avLst/>
          </a:prstGeom>
          <a:solidFill>
            <a:srgbClr val="D6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38100" bIns="0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Deliver-phase actions</a:t>
            </a:r>
          </a:p>
        </p:txBody>
      </p:sp>
      <p:sp>
        <p:nvSpPr>
          <p:cNvPr id="11" name="overlay_close_actions"/>
          <p:cNvSpPr txBox="1"/>
          <p:nvPr/>
        </p:nvSpPr>
        <p:spPr>
          <a:xfrm>
            <a:off x="539496" y="2606040"/>
            <a:ext cx="11112703" cy="1241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Implementation within project teams begins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67640" indent="-167640">
              <a:spcBef>
                <a:spcPts val="0"/>
              </a:spcBef>
              <a:spcAft>
                <a:spcPts val="50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The report is produced and findings are published</a:t>
            </a:r>
          </a:p>
          <a:p>
            <a:pPr algn="l" marL="167640" indent="-167640">
              <a:spcBef>
                <a:spcPts val="0"/>
              </a:spcBef>
              <a:spcAft>
                <a:spcPts val="0"/>
              </a:spcAft>
              <a:buFont typeface="Arial"/>
              <a:buChar char="▪"/>
            </a:pPr>
            <a:r>
              <a:rPr sz="1200" b="0" i="0">
                <a:solidFill>
                  <a:srgbClr val="2F4858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236208"/>
            <a:ext cx="107899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24"/>
          <p:cNvSpPr txBox="1"/>
          <p:nvPr/>
        </p:nvSpPr>
        <p:spPr>
          <a:xfrm>
            <a:off x="11475720" y="6236208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0AEC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