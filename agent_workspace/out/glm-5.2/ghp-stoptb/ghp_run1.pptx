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32461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Helping Global Health Partnerships to increase their impact: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6E0F0"/>
                </a:solidFill>
                <a:latin typeface="Georgia"/>
              </a:rPr>
              <a:t>Stop TB Partnership – McKinsey collaboration</a:t>
            </a:r>
          </a:p>
        </p:txBody>
      </p:sp>
      <p:sp>
        <p:nvSpPr>
          <p:cNvPr id="4" name="meta_footer"/>
          <p:cNvSpPr txBox="1"/>
          <p:nvPr/>
        </p:nvSpPr>
        <p:spPr>
          <a:xfrm>
            <a:off x="411480" y="61722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McKinsey &amp; Company</a:t>
            </a:r>
          </a:p>
        </p:txBody>
      </p:sp>
      <p:sp>
        <p:nvSpPr>
          <p:cNvPr id="5" name="body_date"/>
          <p:cNvSpPr txBox="1"/>
          <p:nvPr/>
        </p:nvSpPr>
        <p:spPr>
          <a:xfrm>
            <a:off x="4434840" y="1371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Georgia"/>
              </a:rPr>
              <a:t>Thursday, November 5, 2009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Pre-reading for Coordinating Board presentation</a:t>
            </a:r>
          </a:p>
        </p:txBody>
      </p:sp>
      <p:sp>
        <p:nvSpPr>
          <p:cNvPr id="6" name="background_confidential"/>
          <p:cNvSpPr/>
          <p:nvPr/>
        </p:nvSpPr>
        <p:spPr>
          <a:xfrm>
            <a:off x="4434840" y="3108960"/>
            <a:ext cx="7315200" cy="1371600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_confidential"/>
          <p:cNvSpPr txBox="1"/>
          <p:nvPr/>
        </p:nvSpPr>
        <p:spPr>
          <a:xfrm>
            <a:off x="4617720" y="324612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CONFIDENTIAL AND PROPRIETARY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Any use of this material without specific permission of McKinsey &amp; Company is strictly prohibited.</a:t>
            </a:r>
          </a:p>
        </p:txBody>
      </p:sp>
      <p:sp>
        <p:nvSpPr>
          <p:cNvPr id="8" name="background_accent_bar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Contents of this pre-reading and the project it previews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hip_1"/>
          <p:cNvSpPr/>
          <p:nvPr/>
        </p:nvSpPr>
        <p:spPr>
          <a:xfrm>
            <a:off x="420624" y="1474143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meta_item_1"/>
          <p:cNvSpPr txBox="1"/>
          <p:nvPr/>
        </p:nvSpPr>
        <p:spPr>
          <a:xfrm>
            <a:off x="960120" y="1529007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Project overview</a:t>
            </a:r>
          </a:p>
        </p:txBody>
      </p:sp>
      <p:sp>
        <p:nvSpPr>
          <p:cNvPr id="6" name="background_chip_2"/>
          <p:cNvSpPr/>
          <p:nvPr/>
        </p:nvSpPr>
        <p:spPr>
          <a:xfrm>
            <a:off x="420624" y="2118142"/>
            <a:ext cx="384048" cy="384048"/>
          </a:xfrm>
          <a:prstGeom prst="ellips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meta_item_2"/>
          <p:cNvSpPr txBox="1"/>
          <p:nvPr/>
        </p:nvSpPr>
        <p:spPr>
          <a:xfrm>
            <a:off x="960120" y="217300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Arial"/>
              </a:rPr>
              <a:t>Global Drug Facility</a:t>
            </a:r>
          </a:p>
        </p:txBody>
      </p:sp>
      <p:sp>
        <p:nvSpPr>
          <p:cNvPr id="8" name="background_chip_3"/>
          <p:cNvSpPr/>
          <p:nvPr/>
        </p:nvSpPr>
        <p:spPr>
          <a:xfrm>
            <a:off x="420624" y="2762141"/>
            <a:ext cx="384048" cy="384048"/>
          </a:xfrm>
          <a:prstGeom prst="ellips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meta_item_3"/>
          <p:cNvSpPr txBox="1"/>
          <p:nvPr/>
        </p:nvSpPr>
        <p:spPr>
          <a:xfrm>
            <a:off x="960120" y="2817005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Arial"/>
              </a:rPr>
              <a:t>Advocacy</a:t>
            </a:r>
          </a:p>
        </p:txBody>
      </p:sp>
      <p:sp>
        <p:nvSpPr>
          <p:cNvPr id="10" name="background_chip_4"/>
          <p:cNvSpPr/>
          <p:nvPr/>
        </p:nvSpPr>
        <p:spPr>
          <a:xfrm>
            <a:off x="420624" y="3406140"/>
            <a:ext cx="384048" cy="384048"/>
          </a:xfrm>
          <a:prstGeom prst="ellips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meta_item_4"/>
          <p:cNvSpPr txBox="1"/>
          <p:nvPr/>
        </p:nvSpPr>
        <p:spPr>
          <a:xfrm>
            <a:off x="960120" y="3461004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12" name="background_chip_5"/>
          <p:cNvSpPr/>
          <p:nvPr/>
        </p:nvSpPr>
        <p:spPr>
          <a:xfrm>
            <a:off x="420624" y="4050139"/>
            <a:ext cx="384048" cy="384048"/>
          </a:xfrm>
          <a:prstGeom prst="ellips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meta_item_5"/>
          <p:cNvSpPr txBox="1"/>
          <p:nvPr/>
        </p:nvSpPr>
        <p:spPr>
          <a:xfrm>
            <a:off x="960120" y="4105003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14" name="background_chip_6"/>
          <p:cNvSpPr/>
          <p:nvPr/>
        </p:nvSpPr>
        <p:spPr>
          <a:xfrm>
            <a:off x="420624" y="4694138"/>
            <a:ext cx="384048" cy="384048"/>
          </a:xfrm>
          <a:prstGeom prst="ellips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meta_item_6"/>
          <p:cNvSpPr txBox="1"/>
          <p:nvPr/>
        </p:nvSpPr>
        <p:spPr>
          <a:xfrm>
            <a:off x="960120" y="474900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Arial"/>
              </a:rPr>
              <a:t>MDR-TB Working Group</a:t>
            </a:r>
          </a:p>
        </p:txBody>
      </p:sp>
      <p:sp>
        <p:nvSpPr>
          <p:cNvPr id="16" name="background_chip_7"/>
          <p:cNvSpPr/>
          <p:nvPr/>
        </p:nvSpPr>
        <p:spPr>
          <a:xfrm>
            <a:off x="420624" y="5338137"/>
            <a:ext cx="384048" cy="384048"/>
          </a:xfrm>
          <a:prstGeom prst="ellipse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meta_item_7"/>
          <p:cNvSpPr txBox="1"/>
          <p:nvPr/>
        </p:nvSpPr>
        <p:spPr>
          <a:xfrm>
            <a:off x="960120" y="5393001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Arial"/>
              </a:rPr>
              <a:t>Next steps</a:t>
            </a:r>
          </a:p>
        </p:txBody>
      </p:sp>
      <p:sp>
        <p:nvSpPr>
          <p:cNvPr id="18" name="meta_pagenum_2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g_c1"/>
          <p:cNvSpPr/>
          <p:nvPr/>
        </p:nvSpPr>
        <p:spPr>
          <a:xfrm>
            <a:off x="411480" y="1405128"/>
            <a:ext cx="557006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bg_c1_band"/>
          <p:cNvSpPr/>
          <p:nvPr/>
        </p:nvSpPr>
        <p:spPr>
          <a:xfrm>
            <a:off x="411480" y="1405128"/>
            <a:ext cx="557006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bg_c1_hdr"/>
          <p:cNvSpPr txBox="1"/>
          <p:nvPr/>
        </p:nvSpPr>
        <p:spPr>
          <a:xfrm>
            <a:off x="530352" y="144170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Increasing role of GHP performance</a:t>
            </a:r>
          </a:p>
        </p:txBody>
      </p:sp>
      <p:sp>
        <p:nvSpPr>
          <p:cNvPr id="7" name="body_bg_c1_b"/>
          <p:cNvSpPr txBox="1"/>
          <p:nvPr/>
        </p:nvSpPr>
        <p:spPr>
          <a:xfrm>
            <a:off x="548640" y="1972056"/>
            <a:ext cx="529574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GHPs play a major role in global health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focus on performance is increasing, driven by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Increasing donor focus on impact, effectiveness, and efficiency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Increasing number of Partnerships in global health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Likelihood of lower funding growth or less funding, given the financial crisis</a:t>
            </a:r>
          </a:p>
        </p:txBody>
      </p:sp>
      <p:sp>
        <p:nvSpPr>
          <p:cNvPr id="8" name="background_bg_c2"/>
          <p:cNvSpPr/>
          <p:nvPr/>
        </p:nvSpPr>
        <p:spPr>
          <a:xfrm>
            <a:off x="6210148" y="1405128"/>
            <a:ext cx="557006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bg_c2_band"/>
          <p:cNvSpPr/>
          <p:nvPr/>
        </p:nvSpPr>
        <p:spPr>
          <a:xfrm>
            <a:off x="6210148" y="1405128"/>
            <a:ext cx="557006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bg_c2_hdr"/>
          <p:cNvSpPr txBox="1"/>
          <p:nvPr/>
        </p:nvSpPr>
        <p:spPr>
          <a:xfrm>
            <a:off x="6329020" y="144170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Challenging factors</a:t>
            </a:r>
          </a:p>
        </p:txBody>
      </p:sp>
      <p:sp>
        <p:nvSpPr>
          <p:cNvPr id="11" name="body_bg_c2_b"/>
          <p:cNvSpPr txBox="1"/>
          <p:nvPr/>
        </p:nvSpPr>
        <p:spPr>
          <a:xfrm>
            <a:off x="6347308" y="1972056"/>
            <a:ext cx="529574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Complex environment and nature of GHP organizations create challenges, e.g.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Objective-setting: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distinguishing between the change a GHP hopes to bring about in the world vs. the goals it sets itself that will help bring about the change</a:t>
            </a:r>
          </a:p>
          <a:p>
            <a:pPr algn="l" marL="181610" indent="-181610">
              <a:spcAft>
                <a:spcPts val="6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Accountability: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ensuring accountability and delivery in the context of loose Partnership structures, voluntary membership, and limited hierarchy</a:t>
            </a:r>
          </a:p>
          <a:p>
            <a:pPr algn="l" marL="181610" indent="-181610">
              <a:spcAft>
                <a:spcPts val="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Capabilities: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gaining the capacity and capabilities needed to continuously improve performance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3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project will deliver practical insights on improving GHP performance based on piloted improvement ideas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goals_c1"/>
          <p:cNvSpPr/>
          <p:nvPr/>
        </p:nvSpPr>
        <p:spPr>
          <a:xfrm>
            <a:off x="411480" y="1405128"/>
            <a:ext cx="363717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goals_c1_band"/>
          <p:cNvSpPr/>
          <p:nvPr/>
        </p:nvSpPr>
        <p:spPr>
          <a:xfrm>
            <a:off x="411480" y="140512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goals_c1_hdr"/>
          <p:cNvSpPr txBox="1"/>
          <p:nvPr/>
        </p:nvSpPr>
        <p:spPr>
          <a:xfrm>
            <a:off x="530352" y="14417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Goals</a:t>
            </a:r>
          </a:p>
        </p:txBody>
      </p:sp>
      <p:sp>
        <p:nvSpPr>
          <p:cNvPr id="7" name="body_goals_c1_b"/>
          <p:cNvSpPr txBox="1"/>
          <p:nvPr/>
        </p:nvSpPr>
        <p:spPr>
          <a:xfrm>
            <a:off x="548640" y="1972056"/>
            <a:ext cx="336285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Develop a joint perspective, tested and proven, on how GHPs can improve performance, by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Exploring how to improve performance in a GHP, not simply adopting existing (e.g., private-sector) approaches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Testing new ways of working with Stop TB bodies that could lead to higher performance</a:t>
            </a:r>
          </a:p>
          <a:p>
            <a:pPr lvl="1" algn="l" marL="412750" indent="-181610"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2332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8" name="background_goals_c2"/>
          <p:cNvSpPr/>
          <p:nvPr/>
        </p:nvSpPr>
        <p:spPr>
          <a:xfrm>
            <a:off x="4277258" y="1405128"/>
            <a:ext cx="363717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goals_c2_band"/>
          <p:cNvSpPr/>
          <p:nvPr/>
        </p:nvSpPr>
        <p:spPr>
          <a:xfrm>
            <a:off x="4277258" y="140512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goals_c2_hdr"/>
          <p:cNvSpPr txBox="1"/>
          <p:nvPr/>
        </p:nvSpPr>
        <p:spPr>
          <a:xfrm>
            <a:off x="4396130" y="14417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Approach</a:t>
            </a:r>
          </a:p>
        </p:txBody>
      </p:sp>
      <p:sp>
        <p:nvSpPr>
          <p:cNvPr id="11" name="body_goals_c2_b"/>
          <p:cNvSpPr txBox="1"/>
          <p:nvPr/>
        </p:nvSpPr>
        <p:spPr>
          <a:xfrm>
            <a:off x="4414418" y="1972056"/>
            <a:ext cx="336285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Build on strengths and improvement opportunities outlined in the 2008 evaluation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Duration ~22 weeks: 10 weeks diagnosis and design, 12 weeks delivery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Scope: 5 Partnership bodies — GDF, MDR-TB WG, CFCS, Advocacy, and CM&amp;B teams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External interactions with other GHPs, e.g., RBM, UNAIDS, GAVI, GF</a:t>
            </a:r>
          </a:p>
        </p:txBody>
      </p:sp>
      <p:sp>
        <p:nvSpPr>
          <p:cNvPr id="12" name="background_goals_c3"/>
          <p:cNvSpPr/>
          <p:nvPr/>
        </p:nvSpPr>
        <p:spPr>
          <a:xfrm>
            <a:off x="8143037" y="1405128"/>
            <a:ext cx="363717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goals_c3_band"/>
          <p:cNvSpPr/>
          <p:nvPr/>
        </p:nvSpPr>
        <p:spPr>
          <a:xfrm>
            <a:off x="8143037" y="140512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goals_c3_hdr"/>
          <p:cNvSpPr txBox="1"/>
          <p:nvPr/>
        </p:nvSpPr>
        <p:spPr>
          <a:xfrm>
            <a:off x="8261909" y="14417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3 main end-products</a:t>
            </a:r>
          </a:p>
        </p:txBody>
      </p:sp>
      <p:sp>
        <p:nvSpPr>
          <p:cNvPr id="15" name="body_goals_c3_b"/>
          <p:cNvSpPr txBox="1"/>
          <p:nvPr/>
        </p:nvSpPr>
        <p:spPr>
          <a:xfrm>
            <a:off x="8280197" y="1972056"/>
            <a:ext cx="336285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Successful performance-improvement pilots in selected Partnership bodies, with documentation to support roll-out to other bodies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A co-authored project report, suitable for publication in major journals, detailing the experience and lessons for other GHPs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A “practitioner's guide” to support McKinsey teams conducting similar work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7" name="meta_pagenum_4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ph_c1"/>
          <p:cNvSpPr/>
          <p:nvPr/>
        </p:nvSpPr>
        <p:spPr>
          <a:xfrm>
            <a:off x="411480" y="1344168"/>
            <a:ext cx="3637178" cy="450799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ph_c1_band"/>
          <p:cNvSpPr/>
          <p:nvPr/>
        </p:nvSpPr>
        <p:spPr>
          <a:xfrm>
            <a:off x="411480" y="134416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ph_c1_hdr"/>
          <p:cNvSpPr txBox="1"/>
          <p:nvPr/>
        </p:nvSpPr>
        <p:spPr>
          <a:xfrm>
            <a:off x="530352" y="138074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Diagnose (August – September)</a:t>
            </a:r>
          </a:p>
        </p:txBody>
      </p:sp>
      <p:sp>
        <p:nvSpPr>
          <p:cNvPr id="7" name="body_ph_c1_b"/>
          <p:cNvSpPr txBox="1"/>
          <p:nvPr/>
        </p:nvSpPr>
        <p:spPr>
          <a:xfrm>
            <a:off x="548640" y="1911096"/>
            <a:ext cx="3362858" cy="3831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Selection of Partnership Bodies to work with — GDF, Advocacy, Communication/Marketing &amp; Branding, CFCS, MDR-TB Working Group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Understanding of current performance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Identification of areas of high performance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8" name="background_ph_c2"/>
          <p:cNvSpPr/>
          <p:nvPr/>
        </p:nvSpPr>
        <p:spPr>
          <a:xfrm>
            <a:off x="4277258" y="1344168"/>
            <a:ext cx="3637178" cy="450799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ph_c2_band"/>
          <p:cNvSpPr/>
          <p:nvPr/>
        </p:nvSpPr>
        <p:spPr>
          <a:xfrm>
            <a:off x="4277258" y="134416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ph_c2_hdr"/>
          <p:cNvSpPr txBox="1"/>
          <p:nvPr/>
        </p:nvSpPr>
        <p:spPr>
          <a:xfrm>
            <a:off x="4396130" y="138074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Design (September – October)</a:t>
            </a:r>
          </a:p>
        </p:txBody>
      </p:sp>
      <p:sp>
        <p:nvSpPr>
          <p:cNvPr id="11" name="body_ph_c2_b"/>
          <p:cNvSpPr txBox="1"/>
          <p:nvPr/>
        </p:nvSpPr>
        <p:spPr>
          <a:xfrm>
            <a:off x="4414418" y="1911096"/>
            <a:ext cx="3362858" cy="3831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Intensive work within selected Partnership Bodies to develop improvement ideas on the selected performance issue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Select actions to implement in the next phase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12" name="background_ph_c3"/>
          <p:cNvSpPr/>
          <p:nvPr/>
        </p:nvSpPr>
        <p:spPr>
          <a:xfrm>
            <a:off x="8143037" y="1344168"/>
            <a:ext cx="3637178" cy="450799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ph_c3_band"/>
          <p:cNvSpPr/>
          <p:nvPr/>
        </p:nvSpPr>
        <p:spPr>
          <a:xfrm>
            <a:off x="8143037" y="134416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ph_c3_hdr"/>
          <p:cNvSpPr txBox="1"/>
          <p:nvPr/>
        </p:nvSpPr>
        <p:spPr>
          <a:xfrm>
            <a:off x="8261909" y="138074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Deliver (November – December)</a:t>
            </a:r>
          </a:p>
        </p:txBody>
      </p:sp>
      <p:sp>
        <p:nvSpPr>
          <p:cNvPr id="15" name="body_ph_c3_b"/>
          <p:cNvSpPr txBox="1"/>
          <p:nvPr/>
        </p:nvSpPr>
        <p:spPr>
          <a:xfrm>
            <a:off x="8280197" y="1911096"/>
            <a:ext cx="3362858" cy="3831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Implementation and refinement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Problem-solving sessions on findings, lessons learned, and implications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Workshop to share achievements across the Partnership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Report and publication of results; present results to the Coordinating Board in March 2010</a:t>
            </a:r>
          </a:p>
        </p:txBody>
      </p:sp>
      <p:sp>
        <p:nvSpPr>
          <p:cNvPr id="16" name="meta_today_rule"/>
          <p:cNvSpPr/>
          <p:nvPr/>
        </p:nvSpPr>
        <p:spPr>
          <a:xfrm>
            <a:off x="8088173" y="1088136"/>
            <a:ext cx="36576" cy="476402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ta_today"/>
          <p:cNvSpPr txBox="1"/>
          <p:nvPr/>
        </p:nvSpPr>
        <p:spPr>
          <a:xfrm>
            <a:off x="7320077" y="88696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Today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Note: 'Today' sits at the start of the Deliver phase (November 2009).</a:t>
            </a:r>
          </a:p>
        </p:txBody>
      </p:sp>
      <p:sp>
        <p:nvSpPr>
          <p:cNvPr id="19" name="meta_pagenum_5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We think about performance in terms of both processes and enablers — (1) Processes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subhead_pm"/>
          <p:cNvSpPr txBox="1"/>
          <p:nvPr/>
        </p:nvSpPr>
        <p:spPr>
          <a:xfrm>
            <a:off x="411480" y="14051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cxnSp>
        <p:nvCxnSpPr>
          <p:cNvPr id="5" name="meta_rule_chain"/>
          <p:cNvCxnSpPr/>
          <p:nvPr/>
        </p:nvCxnSpPr>
        <p:spPr>
          <a:xfrm>
            <a:off x="1282675" y="1917192"/>
            <a:ext cx="9626346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chip_1"/>
          <p:cNvSpPr/>
          <p:nvPr/>
        </p:nvSpPr>
        <p:spPr>
          <a:xfrm>
            <a:off x="1090651" y="172516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background_chip_2"/>
          <p:cNvSpPr/>
          <p:nvPr/>
        </p:nvSpPr>
        <p:spPr>
          <a:xfrm>
            <a:off x="3015920" y="172516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background_chip_3"/>
          <p:cNvSpPr/>
          <p:nvPr/>
        </p:nvSpPr>
        <p:spPr>
          <a:xfrm>
            <a:off x="4941189" y="172516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background_chip_4"/>
          <p:cNvSpPr/>
          <p:nvPr/>
        </p:nvSpPr>
        <p:spPr>
          <a:xfrm>
            <a:off x="6866458" y="172516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background_chip_5"/>
          <p:cNvSpPr/>
          <p:nvPr/>
        </p:nvSpPr>
        <p:spPr>
          <a:xfrm>
            <a:off x="8791727" y="172516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background_chip_6"/>
          <p:cNvSpPr/>
          <p:nvPr/>
        </p:nvSpPr>
        <p:spPr>
          <a:xfrm>
            <a:off x="10716997" y="172516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body_step_1"/>
          <p:cNvSpPr txBox="1"/>
          <p:nvPr/>
        </p:nvSpPr>
        <p:spPr>
          <a:xfrm>
            <a:off x="457200" y="221894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Set objectives</a:t>
            </a:r>
          </a:p>
        </p:txBody>
      </p:sp>
      <p:sp>
        <p:nvSpPr>
          <p:cNvPr id="13" name="body_step_2"/>
          <p:cNvSpPr txBox="1"/>
          <p:nvPr/>
        </p:nvSpPr>
        <p:spPr>
          <a:xfrm>
            <a:off x="2382469" y="221894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Set targets</a:t>
            </a:r>
          </a:p>
        </p:txBody>
      </p:sp>
      <p:sp>
        <p:nvSpPr>
          <p:cNvPr id="14" name="body_step_3"/>
          <p:cNvSpPr txBox="1"/>
          <p:nvPr/>
        </p:nvSpPr>
        <p:spPr>
          <a:xfrm>
            <a:off x="4307738" y="221894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Establish clear metrics</a:t>
            </a:r>
          </a:p>
        </p:txBody>
      </p:sp>
      <p:sp>
        <p:nvSpPr>
          <p:cNvPr id="15" name="body_step_4"/>
          <p:cNvSpPr txBox="1"/>
          <p:nvPr/>
        </p:nvSpPr>
        <p:spPr>
          <a:xfrm>
            <a:off x="6233008" y="221894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16" name="body_step_5"/>
          <p:cNvSpPr txBox="1"/>
          <p:nvPr/>
        </p:nvSpPr>
        <p:spPr>
          <a:xfrm>
            <a:off x="8158277" y="221894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Review performance</a:t>
            </a:r>
          </a:p>
        </p:txBody>
      </p:sp>
      <p:sp>
        <p:nvSpPr>
          <p:cNvPr id="17" name="body_step_6"/>
          <p:cNvSpPr txBox="1"/>
          <p:nvPr/>
        </p:nvSpPr>
        <p:spPr>
          <a:xfrm>
            <a:off x="10083546" y="221894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Celebrate achievements &amp; take further action</a:t>
            </a:r>
          </a:p>
        </p:txBody>
      </p:sp>
      <p:sp>
        <p:nvSpPr>
          <p:cNvPr id="18" name="background_fp_c1"/>
          <p:cNvSpPr/>
          <p:nvPr/>
        </p:nvSpPr>
        <p:spPr>
          <a:xfrm>
            <a:off x="411480" y="2950464"/>
            <a:ext cx="3637178" cy="2901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ckground_fp_c1_band"/>
          <p:cNvSpPr/>
          <p:nvPr/>
        </p:nvSpPr>
        <p:spPr>
          <a:xfrm>
            <a:off x="411480" y="2950464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_fp_c1_hdr"/>
          <p:cNvSpPr txBox="1"/>
          <p:nvPr/>
        </p:nvSpPr>
        <p:spPr>
          <a:xfrm>
            <a:off x="530352" y="2987040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Step group 1–2 — Set objectives &amp; targets</a:t>
            </a:r>
          </a:p>
        </p:txBody>
      </p:sp>
      <p:sp>
        <p:nvSpPr>
          <p:cNvPr id="21" name="body_fp_c1_b"/>
          <p:cNvSpPr txBox="1"/>
          <p:nvPr/>
        </p:nvSpPr>
        <p:spPr>
          <a:xfrm>
            <a:off x="548640" y="3517392"/>
            <a:ext cx="3362858" cy="222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Set metrics that directly measure agreed objectives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Set additional metrics that cascade down from the key metric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Set quantitative targets for the metrics; translate these into operational plans and budgets</a:t>
            </a:r>
          </a:p>
        </p:txBody>
      </p:sp>
      <p:sp>
        <p:nvSpPr>
          <p:cNvPr id="22" name="background_fp_c2"/>
          <p:cNvSpPr/>
          <p:nvPr/>
        </p:nvSpPr>
        <p:spPr>
          <a:xfrm>
            <a:off x="4277258" y="2950464"/>
            <a:ext cx="3637178" cy="2901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fp_c2_band"/>
          <p:cNvSpPr/>
          <p:nvPr/>
        </p:nvSpPr>
        <p:spPr>
          <a:xfrm>
            <a:off x="4277258" y="2950464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_fp_c2_hdr"/>
          <p:cNvSpPr txBox="1"/>
          <p:nvPr/>
        </p:nvSpPr>
        <p:spPr>
          <a:xfrm>
            <a:off x="4396130" y="2987040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Step group 3–4 — Establish &amp; track metrics</a:t>
            </a:r>
          </a:p>
        </p:txBody>
      </p:sp>
      <p:sp>
        <p:nvSpPr>
          <p:cNvPr id="25" name="body_fp_c2_b"/>
          <p:cNvSpPr txBox="1"/>
          <p:nvPr/>
        </p:nvSpPr>
        <p:spPr>
          <a:xfrm>
            <a:off x="4414418" y="3517392"/>
            <a:ext cx="3362858" cy="222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Produce progress reports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26" name="background_fp_c3"/>
          <p:cNvSpPr/>
          <p:nvPr/>
        </p:nvSpPr>
        <p:spPr>
          <a:xfrm>
            <a:off x="8143037" y="2950464"/>
            <a:ext cx="3637178" cy="2901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ckground_fp_c3_band"/>
          <p:cNvSpPr/>
          <p:nvPr/>
        </p:nvSpPr>
        <p:spPr>
          <a:xfrm>
            <a:off x="8143037" y="2950464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_fp_c3_hdr"/>
          <p:cNvSpPr txBox="1"/>
          <p:nvPr/>
        </p:nvSpPr>
        <p:spPr>
          <a:xfrm>
            <a:off x="8261909" y="2987040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Step group 5–6 — Review &amp; act</a:t>
            </a:r>
          </a:p>
        </p:txBody>
      </p:sp>
      <p:sp>
        <p:nvSpPr>
          <p:cNvPr id="29" name="body_fp_c3_b"/>
          <p:cNvSpPr txBox="1"/>
          <p:nvPr/>
        </p:nvSpPr>
        <p:spPr>
          <a:xfrm>
            <a:off x="8280197" y="3517392"/>
            <a:ext cx="3362858" cy="2225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Use reports to discuss progress in structured review meetings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Identify possible performance gaps and decide how to address them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Celebrate successes and take any required corrective actions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31" name="meta_pagenum_6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Definitions make the performance management terms concrete and shared across the Partnership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caption_table_terms"/>
          <p:cNvSpPr txBox="1"/>
          <p:nvPr/>
        </p:nvSpPr>
        <p:spPr>
          <a:xfrm>
            <a:off x="411480" y="1405128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Definition of performance management terms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661160"/>
          <a:ext cx="11338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48640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Supply low-cost, quality TB drugs at USD 20/treatment course for X patients in 2010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Funds raised; patient treatments supplied; grants approved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We think about performance in terms of both processes and enablers — (2) Enablers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fe_q1"/>
          <p:cNvSpPr/>
          <p:nvPr/>
        </p:nvSpPr>
        <p:spPr>
          <a:xfrm>
            <a:off x="411480" y="1405128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e_q1_band"/>
          <p:cNvSpPr/>
          <p:nvPr/>
        </p:nvSpPr>
        <p:spPr>
          <a:xfrm>
            <a:off x="411480" y="1405128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fe_q1_hdr"/>
          <p:cNvSpPr txBox="1"/>
          <p:nvPr/>
        </p:nvSpPr>
        <p:spPr>
          <a:xfrm>
            <a:off x="530352" y="144170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7" name="body_fe_q1_b"/>
          <p:cNvSpPr txBox="1"/>
          <p:nvPr/>
        </p:nvSpPr>
        <p:spPr>
          <a:xfrm>
            <a:off x="548640" y="1972056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8" name="background_fe_q2"/>
          <p:cNvSpPr/>
          <p:nvPr/>
        </p:nvSpPr>
        <p:spPr>
          <a:xfrm>
            <a:off x="6210148" y="1405128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fe_q2_band"/>
          <p:cNvSpPr/>
          <p:nvPr/>
        </p:nvSpPr>
        <p:spPr>
          <a:xfrm>
            <a:off x="6210148" y="1405128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fe_q2_hdr"/>
          <p:cNvSpPr txBox="1"/>
          <p:nvPr/>
        </p:nvSpPr>
        <p:spPr>
          <a:xfrm>
            <a:off x="6329020" y="144170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11" name="body_fe_q2_b"/>
          <p:cNvSpPr txBox="1"/>
          <p:nvPr/>
        </p:nvSpPr>
        <p:spPr>
          <a:xfrm>
            <a:off x="6347308" y="1972056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12" name="background_fe_q3"/>
          <p:cNvSpPr/>
          <p:nvPr/>
        </p:nvSpPr>
        <p:spPr>
          <a:xfrm>
            <a:off x="411480" y="3742944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fe_q3_band"/>
          <p:cNvSpPr/>
          <p:nvPr/>
        </p:nvSpPr>
        <p:spPr>
          <a:xfrm>
            <a:off x="411480" y="3742944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fe_q3_hdr"/>
          <p:cNvSpPr txBox="1"/>
          <p:nvPr/>
        </p:nvSpPr>
        <p:spPr>
          <a:xfrm>
            <a:off x="530352" y="3779520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15" name="body_fe_q3_b"/>
          <p:cNvSpPr txBox="1"/>
          <p:nvPr/>
        </p:nvSpPr>
        <p:spPr>
          <a:xfrm>
            <a:off x="548640" y="4309872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Communicate both performance and the importance of discussing performance regularly to all stakeholders.</a:t>
            </a:r>
          </a:p>
        </p:txBody>
      </p:sp>
      <p:sp>
        <p:nvSpPr>
          <p:cNvPr id="16" name="background_fe_q4"/>
          <p:cNvSpPr/>
          <p:nvPr/>
        </p:nvSpPr>
        <p:spPr>
          <a:xfrm>
            <a:off x="6210148" y="3742944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fe_q4_band"/>
          <p:cNvSpPr/>
          <p:nvPr/>
        </p:nvSpPr>
        <p:spPr>
          <a:xfrm>
            <a:off x="6210148" y="3742944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_fe_q4_hdr"/>
          <p:cNvSpPr txBox="1"/>
          <p:nvPr/>
        </p:nvSpPr>
        <p:spPr>
          <a:xfrm>
            <a:off x="6329020" y="3779520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9" name="body_fe_q4_b"/>
          <p:cNvSpPr txBox="1"/>
          <p:nvPr/>
        </p:nvSpPr>
        <p:spPr>
          <a:xfrm>
            <a:off x="6347308" y="4309872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1" name="meta_pagenum_8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Many GHPs find some performance processes challenging given their complex environment and structure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meta_rule_chain"/>
          <p:cNvCxnSpPr/>
          <p:nvPr/>
        </p:nvCxnSpPr>
        <p:spPr>
          <a:xfrm>
            <a:off x="1282675" y="1642872"/>
            <a:ext cx="9626346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ackground_chip_1"/>
          <p:cNvSpPr/>
          <p:nvPr/>
        </p:nvSpPr>
        <p:spPr>
          <a:xfrm>
            <a:off x="1090651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background_chip_2"/>
          <p:cNvSpPr/>
          <p:nvPr/>
        </p:nvSpPr>
        <p:spPr>
          <a:xfrm>
            <a:off x="3015920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background_chip_3"/>
          <p:cNvSpPr/>
          <p:nvPr/>
        </p:nvSpPr>
        <p:spPr>
          <a:xfrm>
            <a:off x="4941189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background_chip_4"/>
          <p:cNvSpPr/>
          <p:nvPr/>
        </p:nvSpPr>
        <p:spPr>
          <a:xfrm>
            <a:off x="6866458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background_chip_5"/>
          <p:cNvSpPr/>
          <p:nvPr/>
        </p:nvSpPr>
        <p:spPr>
          <a:xfrm>
            <a:off x="8791727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background_chip_6"/>
          <p:cNvSpPr/>
          <p:nvPr/>
        </p:nvSpPr>
        <p:spPr>
          <a:xfrm>
            <a:off x="10716997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body_step_1"/>
          <p:cNvSpPr txBox="1"/>
          <p:nvPr/>
        </p:nvSpPr>
        <p:spPr>
          <a:xfrm>
            <a:off x="457200" y="194462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Set objectives</a:t>
            </a:r>
          </a:p>
        </p:txBody>
      </p:sp>
      <p:sp>
        <p:nvSpPr>
          <p:cNvPr id="12" name="body_step_2"/>
          <p:cNvSpPr txBox="1"/>
          <p:nvPr/>
        </p:nvSpPr>
        <p:spPr>
          <a:xfrm>
            <a:off x="2382469" y="194462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Set targets</a:t>
            </a:r>
          </a:p>
        </p:txBody>
      </p:sp>
      <p:sp>
        <p:nvSpPr>
          <p:cNvPr id="13" name="body_step_3"/>
          <p:cNvSpPr txBox="1"/>
          <p:nvPr/>
        </p:nvSpPr>
        <p:spPr>
          <a:xfrm>
            <a:off x="4307738" y="194462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Establish clear metrics</a:t>
            </a:r>
          </a:p>
        </p:txBody>
      </p:sp>
      <p:sp>
        <p:nvSpPr>
          <p:cNvPr id="14" name="body_step_4"/>
          <p:cNvSpPr txBox="1"/>
          <p:nvPr/>
        </p:nvSpPr>
        <p:spPr>
          <a:xfrm>
            <a:off x="6233008" y="194462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15" name="body_step_5"/>
          <p:cNvSpPr txBox="1"/>
          <p:nvPr/>
        </p:nvSpPr>
        <p:spPr>
          <a:xfrm>
            <a:off x="8158277" y="194462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Review performance</a:t>
            </a:r>
          </a:p>
        </p:txBody>
      </p:sp>
      <p:sp>
        <p:nvSpPr>
          <p:cNvPr id="16" name="body_step_6"/>
          <p:cNvSpPr txBox="1"/>
          <p:nvPr/>
        </p:nvSpPr>
        <p:spPr>
          <a:xfrm>
            <a:off x="10083546" y="1944624"/>
            <a:ext cx="165094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332"/>
                </a:solidFill>
                <a:latin typeface="Arial"/>
              </a:rPr>
              <a:t>Celebrate achievements &amp; take further action</a:t>
            </a:r>
          </a:p>
        </p:txBody>
      </p:sp>
      <p:sp>
        <p:nvSpPr>
          <p:cNvPr id="17" name="background_cp_c1"/>
          <p:cNvSpPr/>
          <p:nvPr/>
        </p:nvSpPr>
        <p:spPr>
          <a:xfrm>
            <a:off x="411480" y="2676144"/>
            <a:ext cx="3637178" cy="31760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ckground_cp_c1_band"/>
          <p:cNvSpPr/>
          <p:nvPr/>
        </p:nvSpPr>
        <p:spPr>
          <a:xfrm>
            <a:off x="411480" y="2676144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_cp_c1_hdr"/>
          <p:cNvSpPr txBox="1"/>
          <p:nvPr/>
        </p:nvSpPr>
        <p:spPr>
          <a:xfrm>
            <a:off x="530352" y="2712720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Box 1 — Setting objectives &amp; targets</a:t>
            </a:r>
          </a:p>
        </p:txBody>
      </p:sp>
      <p:sp>
        <p:nvSpPr>
          <p:cNvPr id="20" name="body_cp_c1_b"/>
          <p:cNvSpPr txBox="1"/>
          <p:nvPr/>
        </p:nvSpPr>
        <p:spPr>
          <a:xfrm>
            <a:off x="548640" y="3243072"/>
            <a:ext cx="3362858" cy="2499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Getting from a vision to specific objectives for the partnership and its bodies, rather than directly to activities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Aligning divergent partner views on which objectives to pursue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Committing to targets is difficult because some targets are not entirely deliverable by the partnership, the voluntary nature of partnerships, and consequences of missing targets (e.g., future funding)</a:t>
            </a:r>
          </a:p>
        </p:txBody>
      </p:sp>
      <p:sp>
        <p:nvSpPr>
          <p:cNvPr id="21" name="background_cp_c2"/>
          <p:cNvSpPr/>
          <p:nvPr/>
        </p:nvSpPr>
        <p:spPr>
          <a:xfrm>
            <a:off x="4277258" y="2676144"/>
            <a:ext cx="3637178" cy="31760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ckground_cp_c2_band"/>
          <p:cNvSpPr/>
          <p:nvPr/>
        </p:nvSpPr>
        <p:spPr>
          <a:xfrm>
            <a:off x="4277258" y="2676144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_cp_c2_hdr"/>
          <p:cNvSpPr txBox="1"/>
          <p:nvPr/>
        </p:nvSpPr>
        <p:spPr>
          <a:xfrm>
            <a:off x="4396130" y="2712720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Box 2 — Metrics &amp; data</a:t>
            </a:r>
          </a:p>
        </p:txBody>
      </p:sp>
      <p:sp>
        <p:nvSpPr>
          <p:cNvPr id="24" name="body_cp_c2_b"/>
          <p:cNvSpPr txBox="1"/>
          <p:nvPr/>
        </p:nvSpPr>
        <p:spPr>
          <a:xfrm>
            <a:off x="4414418" y="3243072"/>
            <a:ext cx="3362858" cy="2499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Agreeing the right metrics for objectives that are difficult to measure, e.g., awareness about TB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Aligning organization structures with performance drivers and metrics to enable clear accountability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25" name="background_cp_c3"/>
          <p:cNvSpPr/>
          <p:nvPr/>
        </p:nvSpPr>
        <p:spPr>
          <a:xfrm>
            <a:off x="8143037" y="2676144"/>
            <a:ext cx="3637178" cy="31760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ckground_cp_c3_band"/>
          <p:cNvSpPr/>
          <p:nvPr/>
        </p:nvSpPr>
        <p:spPr>
          <a:xfrm>
            <a:off x="8143037" y="2676144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dy_cp_c3_hdr"/>
          <p:cNvSpPr txBox="1"/>
          <p:nvPr/>
        </p:nvSpPr>
        <p:spPr>
          <a:xfrm>
            <a:off x="8261909" y="2712720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Box 3 — Advocacy specifics</a:t>
            </a:r>
          </a:p>
        </p:txBody>
      </p:sp>
      <p:sp>
        <p:nvSpPr>
          <p:cNvPr id="28" name="body_cp_c3_b"/>
          <p:cNvSpPr txBox="1"/>
          <p:nvPr/>
        </p:nvSpPr>
        <p:spPr>
          <a:xfrm>
            <a:off x="8280197" y="3243072"/>
            <a:ext cx="3362858" cy="2499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Setting advocacy objectives that stay current and relevant in changing external circumstances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29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30" name="meta_pagenum_9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Many GHPs also struggle with the right enablers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e_q1"/>
          <p:cNvSpPr/>
          <p:nvPr/>
        </p:nvSpPr>
        <p:spPr>
          <a:xfrm>
            <a:off x="411480" y="1344168"/>
            <a:ext cx="5570068" cy="2139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ce_q1_band"/>
          <p:cNvSpPr/>
          <p:nvPr/>
        </p:nvSpPr>
        <p:spPr>
          <a:xfrm>
            <a:off x="411480" y="1344168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ce_q1_hdr"/>
          <p:cNvSpPr txBox="1"/>
          <p:nvPr/>
        </p:nvSpPr>
        <p:spPr>
          <a:xfrm>
            <a:off x="530352" y="138074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7" name="body_ce_q1_b"/>
          <p:cNvSpPr txBox="1"/>
          <p:nvPr/>
        </p:nvSpPr>
        <p:spPr>
          <a:xfrm>
            <a:off x="548640" y="1911096"/>
            <a:ext cx="52957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Ensuring leaders regularly lead and participate in performance reviews, in spite of many other calls on their time.</a:t>
            </a:r>
          </a:p>
        </p:txBody>
      </p:sp>
      <p:sp>
        <p:nvSpPr>
          <p:cNvPr id="8" name="background_ce_q2"/>
          <p:cNvSpPr/>
          <p:nvPr/>
        </p:nvSpPr>
        <p:spPr>
          <a:xfrm>
            <a:off x="6210148" y="1344168"/>
            <a:ext cx="5570068" cy="2139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ce_q2_band"/>
          <p:cNvSpPr/>
          <p:nvPr/>
        </p:nvSpPr>
        <p:spPr>
          <a:xfrm>
            <a:off x="6210148" y="1344168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ce_q2_hdr"/>
          <p:cNvSpPr txBox="1"/>
          <p:nvPr/>
        </p:nvSpPr>
        <p:spPr>
          <a:xfrm>
            <a:off x="6329020" y="138074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11" name="body_ce_q2_b"/>
          <p:cNvSpPr txBox="1"/>
          <p:nvPr/>
        </p:nvSpPr>
        <p:spPr>
          <a:xfrm>
            <a:off x="6347308" y="1911096"/>
            <a:ext cx="52957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12" name="background_ce_q3"/>
          <p:cNvSpPr/>
          <p:nvPr/>
        </p:nvSpPr>
        <p:spPr>
          <a:xfrm>
            <a:off x="411480" y="3712464"/>
            <a:ext cx="5570068" cy="2139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ce_q3_band"/>
          <p:cNvSpPr/>
          <p:nvPr/>
        </p:nvSpPr>
        <p:spPr>
          <a:xfrm>
            <a:off x="411480" y="3712464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ce_q3_hdr"/>
          <p:cNvSpPr txBox="1"/>
          <p:nvPr/>
        </p:nvSpPr>
        <p:spPr>
          <a:xfrm>
            <a:off x="530352" y="3749040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15" name="body_ce_q3_b"/>
          <p:cNvSpPr txBox="1"/>
          <p:nvPr/>
        </p:nvSpPr>
        <p:spPr>
          <a:xfrm>
            <a:off x="548640" y="4279392"/>
            <a:ext cx="52957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Establishing a shared understanding of accountability across the different backgrounds of partners; keeping partners in a loose working group engaged and motivated.</a:t>
            </a:r>
          </a:p>
        </p:txBody>
      </p:sp>
      <p:sp>
        <p:nvSpPr>
          <p:cNvPr id="16" name="background_ce_q4"/>
          <p:cNvSpPr/>
          <p:nvPr/>
        </p:nvSpPr>
        <p:spPr>
          <a:xfrm>
            <a:off x="6210148" y="3712464"/>
            <a:ext cx="5570068" cy="213969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ce_q4_band"/>
          <p:cNvSpPr/>
          <p:nvPr/>
        </p:nvSpPr>
        <p:spPr>
          <a:xfrm>
            <a:off x="6210148" y="3712464"/>
            <a:ext cx="557006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_ce_q4_hdr"/>
          <p:cNvSpPr txBox="1"/>
          <p:nvPr/>
        </p:nvSpPr>
        <p:spPr>
          <a:xfrm>
            <a:off x="6329020" y="3749040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9" name="body_ce_q4_b"/>
          <p:cNvSpPr txBox="1"/>
          <p:nvPr/>
        </p:nvSpPr>
        <p:spPr>
          <a:xfrm>
            <a:off x="6347308" y="4279392"/>
            <a:ext cx="529574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Moving from a culture of performance measurement (extensive reporting) to performance management (open discussion of outcomes); defining ambitious goals despite a consensus-building culture that tends toward abstract objectives.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21" name="meta_pagenum_10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Stop TB Partnership displays a number of strengths across performance processes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st_box"/>
          <p:cNvSpPr/>
          <p:nvPr/>
        </p:nvSpPr>
        <p:spPr>
          <a:xfrm>
            <a:off x="411480" y="1405128"/>
            <a:ext cx="11368735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st_box_band"/>
          <p:cNvSpPr/>
          <p:nvPr/>
        </p:nvSpPr>
        <p:spPr>
          <a:xfrm>
            <a:off x="411480" y="1405128"/>
            <a:ext cx="11368735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st_box_hdr"/>
          <p:cNvSpPr txBox="1"/>
          <p:nvPr/>
        </p:nvSpPr>
        <p:spPr>
          <a:xfrm>
            <a:off x="530352" y="1441704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Strengths (process)</a:t>
            </a:r>
          </a:p>
        </p:txBody>
      </p:sp>
      <p:sp>
        <p:nvSpPr>
          <p:cNvPr id="7" name="body_st_box_b"/>
          <p:cNvSpPr txBox="1"/>
          <p:nvPr/>
        </p:nvSpPr>
        <p:spPr>
          <a:xfrm>
            <a:off x="576072" y="1972056"/>
            <a:ext cx="11039551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Setting objectives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GDF objectives are clearly defined and distinguish the change GDF hopes to bring about in the world (e.g., MDGs — 70% of TB cases diagnosed, 85% cure rate) from the internal goals it sets itself</a:t>
            </a:r>
          </a:p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Tracking and disseminating metrics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despite limited resources, GDF tracks and reports on a wide variety of metrics to meet the different demands of donors</a:t>
            </a:r>
          </a:p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Establishing clear metrics and setting targets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the MDR-TB Working Group defines concrete metrics (e.g., patients with access to MDR-TB treatment) and sets specific targets (e.g., for 2009: 200,000 patients, 4 projects)</a:t>
            </a:r>
          </a:p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Reviewing performance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the Advocacy Team conducts an in-depth review of performance against objectives stated in its funding proposal, taking stock of results and lessons learned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9" name="meta_pagenum_11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Brief overview of performance issues we jointly agreed to address across the five Partnership bodies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caption_table_agreed"/>
          <p:cNvSpPr txBox="1"/>
          <p:nvPr/>
        </p:nvSpPr>
        <p:spPr>
          <a:xfrm>
            <a:off x="411480" y="1405128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Performance issues agreed across the five Partnership bodies</a:t>
            </a:r>
          </a:p>
        </p:txBody>
      </p:sp>
      <p:graphicFrame>
        <p:nvGraphicFramePr>
          <p:cNvPr id="5" name="table_agreed"/>
          <p:cNvGraphicFramePr>
            <a:graphicFrameLocks noGrp="1"/>
          </p:cNvGraphicFramePr>
          <p:nvPr/>
        </p:nvGraphicFramePr>
        <p:xfrm>
          <a:off x="411480" y="1661160"/>
          <a:ext cx="11338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9377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Setting advocacy objectives that stay current and relevant in changing external circumstances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Setting advocacy objectives within Stop TB that stay current; finding and making visible tactical opportunities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While most of the 250 metrics were relevant and helpful to GDF, data collection and reporting was onerous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quote_1"/>
          <p:cNvSpPr/>
          <p:nvPr/>
        </p:nvSpPr>
        <p:spPr>
          <a:xfrm>
            <a:off x="411480" y="1405128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_quote_1_m"/>
          <p:cNvSpPr txBox="1"/>
          <p:nvPr/>
        </p:nvSpPr>
        <p:spPr>
          <a:xfrm>
            <a:off x="521208" y="1450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6" name="body_quote_1"/>
          <p:cNvSpPr txBox="1"/>
          <p:nvPr/>
        </p:nvSpPr>
        <p:spPr>
          <a:xfrm>
            <a:off x="548640" y="1908048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7" name="background_quote_2"/>
          <p:cNvSpPr/>
          <p:nvPr/>
        </p:nvSpPr>
        <p:spPr>
          <a:xfrm>
            <a:off x="3310814" y="1405128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_quote_2_m"/>
          <p:cNvSpPr txBox="1"/>
          <p:nvPr/>
        </p:nvSpPr>
        <p:spPr>
          <a:xfrm>
            <a:off x="3420542" y="1450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9" name="body_quote_2"/>
          <p:cNvSpPr txBox="1"/>
          <p:nvPr/>
        </p:nvSpPr>
        <p:spPr>
          <a:xfrm>
            <a:off x="3447974" y="1908048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10" name="background_quote_3"/>
          <p:cNvSpPr/>
          <p:nvPr/>
        </p:nvSpPr>
        <p:spPr>
          <a:xfrm>
            <a:off x="6210148" y="1405128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dy_quote_3_m"/>
          <p:cNvSpPr txBox="1"/>
          <p:nvPr/>
        </p:nvSpPr>
        <p:spPr>
          <a:xfrm>
            <a:off x="6319876" y="1450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12" name="body_quote_3"/>
          <p:cNvSpPr txBox="1"/>
          <p:nvPr/>
        </p:nvSpPr>
        <p:spPr>
          <a:xfrm>
            <a:off x="6347308" y="1908048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13" name="background_quote_4"/>
          <p:cNvSpPr/>
          <p:nvPr/>
        </p:nvSpPr>
        <p:spPr>
          <a:xfrm>
            <a:off x="9109481" y="1405128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quote_4_m"/>
          <p:cNvSpPr txBox="1"/>
          <p:nvPr/>
        </p:nvSpPr>
        <p:spPr>
          <a:xfrm>
            <a:off x="9219209" y="1450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15" name="body_quote_4"/>
          <p:cNvSpPr txBox="1"/>
          <p:nvPr/>
        </p:nvSpPr>
        <p:spPr>
          <a:xfrm>
            <a:off x="9246641" y="1908048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16" name="background_quote_5"/>
          <p:cNvSpPr/>
          <p:nvPr/>
        </p:nvSpPr>
        <p:spPr>
          <a:xfrm>
            <a:off x="411480" y="3742944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_quote_5_m"/>
          <p:cNvSpPr txBox="1"/>
          <p:nvPr/>
        </p:nvSpPr>
        <p:spPr>
          <a:xfrm>
            <a:off x="521208" y="37886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18" name="body_quote_5"/>
          <p:cNvSpPr txBox="1"/>
          <p:nvPr/>
        </p:nvSpPr>
        <p:spPr>
          <a:xfrm>
            <a:off x="548640" y="4245864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19" name="background_quote_6"/>
          <p:cNvSpPr/>
          <p:nvPr/>
        </p:nvSpPr>
        <p:spPr>
          <a:xfrm>
            <a:off x="3310814" y="3742944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_quote_6_m"/>
          <p:cNvSpPr txBox="1"/>
          <p:nvPr/>
        </p:nvSpPr>
        <p:spPr>
          <a:xfrm>
            <a:off x="3420542" y="37886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21" name="body_quote_6"/>
          <p:cNvSpPr txBox="1"/>
          <p:nvPr/>
        </p:nvSpPr>
        <p:spPr>
          <a:xfrm>
            <a:off x="3447974" y="4245864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22" name="background_quote_7"/>
          <p:cNvSpPr/>
          <p:nvPr/>
        </p:nvSpPr>
        <p:spPr>
          <a:xfrm>
            <a:off x="6210148" y="3742944"/>
            <a:ext cx="267073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_quote_7_m"/>
          <p:cNvSpPr txBox="1"/>
          <p:nvPr/>
        </p:nvSpPr>
        <p:spPr>
          <a:xfrm>
            <a:off x="6319876" y="37886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864"/>
                </a:solidFill>
                <a:latin typeface="Georgia"/>
              </a:rPr>
              <a:t>“</a:t>
            </a:r>
          </a:p>
        </p:txBody>
      </p:sp>
      <p:sp>
        <p:nvSpPr>
          <p:cNvPr id="24" name="body_quote_7"/>
          <p:cNvSpPr txBox="1"/>
          <p:nvPr/>
        </p:nvSpPr>
        <p:spPr>
          <a:xfrm>
            <a:off x="6347308" y="4245864"/>
            <a:ext cx="2396414" cy="1514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A2332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25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Interviews.</a:t>
            </a:r>
          </a:p>
        </p:txBody>
      </p:sp>
      <p:sp>
        <p:nvSpPr>
          <p:cNvPr id="26" name="meta_pagenum_13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team followed an eight-step process to create streamlined, structured KPIs, dashboards, and review meetings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step_1"/>
          <p:cNvSpPr/>
          <p:nvPr/>
        </p:nvSpPr>
        <p:spPr>
          <a:xfrm>
            <a:off x="411480" y="1405128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stepchip_1"/>
          <p:cNvSpPr/>
          <p:nvPr/>
        </p:nvSpPr>
        <p:spPr>
          <a:xfrm>
            <a:off x="512064" y="150571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body_step_1"/>
          <p:cNvSpPr txBox="1"/>
          <p:nvPr/>
        </p:nvSpPr>
        <p:spPr>
          <a:xfrm>
            <a:off x="548640" y="1972056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Collate all GDF metrics reported on into one database: ~250 in total</a:t>
            </a:r>
          </a:p>
        </p:txBody>
      </p:sp>
      <p:sp>
        <p:nvSpPr>
          <p:cNvPr id="7" name="background_step_2"/>
          <p:cNvSpPr/>
          <p:nvPr/>
        </p:nvSpPr>
        <p:spPr>
          <a:xfrm>
            <a:off x="3299384" y="1405128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stepchip_2"/>
          <p:cNvSpPr/>
          <p:nvPr/>
        </p:nvSpPr>
        <p:spPr>
          <a:xfrm>
            <a:off x="3399968" y="150571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9" name="body_step_2"/>
          <p:cNvSpPr txBox="1"/>
          <p:nvPr/>
        </p:nvSpPr>
        <p:spPr>
          <a:xfrm>
            <a:off x="3436544" y="1972056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Agree on GDF objectives and cluster metrics/KPIs to objectives</a:t>
            </a:r>
          </a:p>
        </p:txBody>
      </p:sp>
      <p:sp>
        <p:nvSpPr>
          <p:cNvPr id="10" name="background_step_3"/>
          <p:cNvSpPr/>
          <p:nvPr/>
        </p:nvSpPr>
        <p:spPr>
          <a:xfrm>
            <a:off x="6187288" y="1405128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stepchip_3"/>
          <p:cNvSpPr/>
          <p:nvPr/>
        </p:nvSpPr>
        <p:spPr>
          <a:xfrm>
            <a:off x="6287872" y="150571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2" name="body_step_3"/>
          <p:cNvSpPr txBox="1"/>
          <p:nvPr/>
        </p:nvSpPr>
        <p:spPr>
          <a:xfrm>
            <a:off x="6324448" y="1972056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Develop a detailed KPI tree for each objective</a:t>
            </a:r>
          </a:p>
        </p:txBody>
      </p:sp>
      <p:sp>
        <p:nvSpPr>
          <p:cNvPr id="13" name="background_step_4"/>
          <p:cNvSpPr/>
          <p:nvPr/>
        </p:nvSpPr>
        <p:spPr>
          <a:xfrm>
            <a:off x="9075191" y="1405128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ckground_stepchip_4"/>
          <p:cNvSpPr/>
          <p:nvPr/>
        </p:nvSpPr>
        <p:spPr>
          <a:xfrm>
            <a:off x="9175775" y="150571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5" name="body_step_4"/>
          <p:cNvSpPr txBox="1"/>
          <p:nvPr/>
        </p:nvSpPr>
        <p:spPr>
          <a:xfrm>
            <a:off x="9212351" y="1972056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Streamline detailed trees, excluding activity-related or non-GDF-owned KPIs</a:t>
            </a:r>
          </a:p>
        </p:txBody>
      </p:sp>
      <p:sp>
        <p:nvSpPr>
          <p:cNvPr id="16" name="background_step_5"/>
          <p:cNvSpPr/>
          <p:nvPr/>
        </p:nvSpPr>
        <p:spPr>
          <a:xfrm>
            <a:off x="411480" y="3742944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stepchip_5"/>
          <p:cNvSpPr/>
          <p:nvPr/>
        </p:nvSpPr>
        <p:spPr>
          <a:xfrm>
            <a:off x="512064" y="384352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8" name="body_step_5"/>
          <p:cNvSpPr txBox="1"/>
          <p:nvPr/>
        </p:nvSpPr>
        <p:spPr>
          <a:xfrm>
            <a:off x="548640" y="4309872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Assign owners to, and define review frequency of, each KPI</a:t>
            </a:r>
          </a:p>
        </p:txBody>
      </p:sp>
      <p:sp>
        <p:nvSpPr>
          <p:cNvPr id="19" name="background_step_6"/>
          <p:cNvSpPr/>
          <p:nvPr/>
        </p:nvSpPr>
        <p:spPr>
          <a:xfrm>
            <a:off x="3299384" y="3742944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ckground_stepchip_6"/>
          <p:cNvSpPr/>
          <p:nvPr/>
        </p:nvSpPr>
        <p:spPr>
          <a:xfrm>
            <a:off x="3399968" y="384352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21" name="body_step_6"/>
          <p:cNvSpPr txBox="1"/>
          <p:nvPr/>
        </p:nvSpPr>
        <p:spPr>
          <a:xfrm>
            <a:off x="3436544" y="4309872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Develop a clear cascade of KPIs from teams up to the COO annual performance review</a:t>
            </a:r>
          </a:p>
        </p:txBody>
      </p:sp>
      <p:sp>
        <p:nvSpPr>
          <p:cNvPr id="22" name="background_step_7"/>
          <p:cNvSpPr/>
          <p:nvPr/>
        </p:nvSpPr>
        <p:spPr>
          <a:xfrm>
            <a:off x="6187288" y="3742944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stepchip_7"/>
          <p:cNvSpPr/>
          <p:nvPr/>
        </p:nvSpPr>
        <p:spPr>
          <a:xfrm>
            <a:off x="6287872" y="384352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24" name="body_step_7"/>
          <p:cNvSpPr txBox="1"/>
          <p:nvPr/>
        </p:nvSpPr>
        <p:spPr>
          <a:xfrm>
            <a:off x="6324448" y="4309872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Create dashboards and review calendars for each team</a:t>
            </a:r>
          </a:p>
        </p:txBody>
      </p:sp>
      <p:sp>
        <p:nvSpPr>
          <p:cNvPr id="25" name="background_step_8"/>
          <p:cNvSpPr/>
          <p:nvPr/>
        </p:nvSpPr>
        <p:spPr>
          <a:xfrm>
            <a:off x="9075191" y="3742944"/>
            <a:ext cx="2705024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ckground_stepchip_8"/>
          <p:cNvSpPr/>
          <p:nvPr/>
        </p:nvSpPr>
        <p:spPr>
          <a:xfrm>
            <a:off x="9175775" y="384352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27" name="body_step_8"/>
          <p:cNvSpPr txBox="1"/>
          <p:nvPr/>
        </p:nvSpPr>
        <p:spPr>
          <a:xfrm>
            <a:off x="9212351" y="4309872"/>
            <a:ext cx="2430704" cy="1450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Arial"/>
              </a:rPr>
              <a:t>Hold a workshop on conducting performance dialogues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9" name="meta_pagenum_14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Seven KPIs give a clear overview of GDF's performance against its three main objectives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caption_table_kpitree"/>
          <p:cNvSpPr txBox="1"/>
          <p:nvPr/>
        </p:nvSpPr>
        <p:spPr>
          <a:xfrm>
            <a:off x="411480" y="1405128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Objective → KPI mapping for GDF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661160"/>
          <a:ext cx="11338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44805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Provide uninterrupted supply of 1st- and 2nd-line TB drugs and diagnostics (low-cost, high-quality, timely, demand-driven, to eligible countries)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Sustainably strengthen eligible countries' national drug management, procurement capacity, and financial self-sufficiency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erlay_eyebrow"/>
          <p:cNvSpPr txBox="1"/>
          <p:nvPr/>
        </p:nvSpPr>
        <p:spPr>
          <a:xfrm>
            <a:off x="411480" y="274320"/>
            <a:ext cx="11338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COO's annual dashboard tracks cost and volume against target across treatment lines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aption_chart_dash"/>
          <p:cNvSpPr txBox="1"/>
          <p:nvPr/>
        </p:nvSpPr>
        <p:spPr>
          <a:xfrm>
            <a:off x="411480" y="1405128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1661160"/>
          <a:ext cx="72237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overlay_caption_table_funds"/>
          <p:cNvSpPr txBox="1"/>
          <p:nvPr/>
        </p:nvSpPr>
        <p:spPr>
          <a:xfrm>
            <a:off x="7909560" y="1405128"/>
            <a:ext cx="3870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funds"/>
          <p:cNvGraphicFramePr>
            <a:graphicFrameLocks noGrp="1"/>
          </p:cNvGraphicFramePr>
          <p:nvPr/>
        </p:nvGraphicFramePr>
        <p:xfrm>
          <a:off x="7909560" y="1661160"/>
          <a:ext cx="3870653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327"/>
                <a:gridCol w="967663"/>
                <a:gridCol w="967663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0" name="meta_pagenum_16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Next steps to implement and capture benefits at GDF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caption_table_ns"/>
          <p:cNvSpPr txBox="1"/>
          <p:nvPr/>
        </p:nvSpPr>
        <p:spPr>
          <a:xfrm>
            <a:off x="411480" y="1344168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GDF next-step actions and descriptions</a:t>
            </a:r>
          </a:p>
        </p:txBody>
      </p:sp>
      <p:graphicFrame>
        <p:nvGraphicFramePr>
          <p:cNvPr id="5" name="table_ns"/>
          <p:cNvGraphicFramePr>
            <a:graphicFrameLocks noGrp="1"/>
          </p:cNvGraphicFramePr>
          <p:nvPr/>
        </p:nvGraphicFramePr>
        <p:xfrm>
          <a:off x="411480" y="160020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32104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Present the GDF KPI tree to donors, compare with metrics they request, and agree on any additional KPIs to report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adv_c1"/>
          <p:cNvSpPr/>
          <p:nvPr/>
        </p:nvSpPr>
        <p:spPr>
          <a:xfrm>
            <a:off x="411480" y="1405128"/>
            <a:ext cx="363717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adv_c1_band"/>
          <p:cNvSpPr/>
          <p:nvPr/>
        </p:nvSpPr>
        <p:spPr>
          <a:xfrm>
            <a:off x="411480" y="1405128"/>
            <a:ext cx="363717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adv_c1_hdr"/>
          <p:cNvSpPr txBox="1"/>
          <p:nvPr/>
        </p:nvSpPr>
        <p:spPr>
          <a:xfrm>
            <a:off x="530352" y="14417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Step I — “Develop the sunflower”: get more information</a:t>
            </a:r>
          </a:p>
        </p:txBody>
      </p:sp>
      <p:sp>
        <p:nvSpPr>
          <p:cNvPr id="7" name="body_adv_c1_b"/>
          <p:cNvSpPr txBox="1"/>
          <p:nvPr/>
        </p:nvSpPr>
        <p:spPr>
          <a:xfrm>
            <a:off x="548640" y="1972056"/>
            <a:ext cx="336285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Make advocacy every partner's business and increase information sharing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8" name="background_adv_c2"/>
          <p:cNvSpPr/>
          <p:nvPr/>
        </p:nvSpPr>
        <p:spPr>
          <a:xfrm>
            <a:off x="4277258" y="1405128"/>
            <a:ext cx="363717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adv_c2_band"/>
          <p:cNvSpPr/>
          <p:nvPr/>
        </p:nvSpPr>
        <p:spPr>
          <a:xfrm>
            <a:off x="4277258" y="1405128"/>
            <a:ext cx="363717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adv_c2_hdr"/>
          <p:cNvSpPr txBox="1"/>
          <p:nvPr/>
        </p:nvSpPr>
        <p:spPr>
          <a:xfrm>
            <a:off x="4396130" y="14417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Step II — “Filter the intelligence”: filter the information received</a:t>
            </a:r>
          </a:p>
        </p:txBody>
      </p:sp>
      <p:sp>
        <p:nvSpPr>
          <p:cNvPr id="11" name="body_adv_c2_b"/>
          <p:cNvSpPr txBox="1"/>
          <p:nvPr/>
        </p:nvSpPr>
        <p:spPr>
          <a:xfrm>
            <a:off x="4414418" y="1972056"/>
            <a:ext cx="336285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Set up a process that filters information for validity, impact, global relevance, and feasibility</a:t>
            </a:r>
          </a:p>
        </p:txBody>
      </p:sp>
      <p:sp>
        <p:nvSpPr>
          <p:cNvPr id="12" name="background_adv_c3"/>
          <p:cNvSpPr/>
          <p:nvPr/>
        </p:nvSpPr>
        <p:spPr>
          <a:xfrm>
            <a:off x="8143037" y="1405128"/>
            <a:ext cx="3637178" cy="44470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adv_c3_band"/>
          <p:cNvSpPr/>
          <p:nvPr/>
        </p:nvSpPr>
        <p:spPr>
          <a:xfrm>
            <a:off x="8143037" y="1405128"/>
            <a:ext cx="363717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adv_c3_hdr"/>
          <p:cNvSpPr txBox="1"/>
          <p:nvPr/>
        </p:nvSpPr>
        <p:spPr>
          <a:xfrm>
            <a:off x="8261909" y="14417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Step III — “Keep the framework relevant”: create or adjust objectives and plans</a:t>
            </a:r>
          </a:p>
        </p:txBody>
      </p:sp>
      <p:sp>
        <p:nvSpPr>
          <p:cNvPr id="15" name="body_adv_c3_b"/>
          <p:cNvSpPr txBox="1"/>
          <p:nvPr/>
        </p:nvSpPr>
        <p:spPr>
          <a:xfrm>
            <a:off x="8280197" y="1972056"/>
            <a:ext cx="3362858" cy="377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For tactical opportunities requiring immediate action, create new or adjusted objectives and define what success looks like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For all other opportunities, draft adjustments into the Framework Document and seek advice from the AAC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Workshops.</a:t>
            </a:r>
          </a:p>
        </p:txBody>
      </p:sp>
      <p:sp>
        <p:nvSpPr>
          <p:cNvPr id="17" name="meta_pagenum_18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erlay_eyebrow"/>
          <p:cNvSpPr txBox="1"/>
          <p:nvPr/>
        </p:nvSpPr>
        <p:spPr>
          <a:xfrm>
            <a:off x="411480" y="274320"/>
            <a:ext cx="11338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PRELIMINARY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4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eta_filter_in"/>
          <p:cNvSpPr txBox="1"/>
          <p:nvPr/>
        </p:nvSpPr>
        <p:spPr>
          <a:xfrm>
            <a:off x="411480" y="1481328"/>
            <a:ext cx="26364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55606B"/>
                </a:solidFill>
                <a:latin typeface="Arial"/>
              </a:rPr>
              <a:t>Unfiltered information in</a:t>
            </a:r>
          </a:p>
        </p:txBody>
      </p:sp>
      <p:sp>
        <p:nvSpPr>
          <p:cNvPr id="6" name="meta_filter_out"/>
          <p:cNvSpPr txBox="1"/>
          <p:nvPr/>
        </p:nvSpPr>
        <p:spPr>
          <a:xfrm>
            <a:off x="9143771" y="1481328"/>
            <a:ext cx="26364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1F3864"/>
                </a:solidFill>
                <a:latin typeface="Arial"/>
              </a:rPr>
              <a:t>Filtered intelligence out</a:t>
            </a:r>
          </a:p>
        </p:txBody>
      </p:sp>
      <p:sp>
        <p:nvSpPr>
          <p:cNvPr id="7" name="background_af_c1"/>
          <p:cNvSpPr/>
          <p:nvPr/>
        </p:nvSpPr>
        <p:spPr>
          <a:xfrm>
            <a:off x="411480" y="1755648"/>
            <a:ext cx="2636444" cy="409651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af_c1_band"/>
          <p:cNvSpPr/>
          <p:nvPr/>
        </p:nvSpPr>
        <p:spPr>
          <a:xfrm>
            <a:off x="411480" y="1755648"/>
            <a:ext cx="2636444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af_c1_hdr"/>
          <p:cNvSpPr txBox="1"/>
          <p:nvPr/>
        </p:nvSpPr>
        <p:spPr>
          <a:xfrm>
            <a:off x="530352" y="1792224"/>
            <a:ext cx="23987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Validity</a:t>
            </a:r>
          </a:p>
        </p:txBody>
      </p:sp>
      <p:sp>
        <p:nvSpPr>
          <p:cNvPr id="10" name="body_af_c1_b"/>
          <p:cNvSpPr txBox="1"/>
          <p:nvPr/>
        </p:nvSpPr>
        <p:spPr>
          <a:xfrm>
            <a:off x="548640" y="2322576"/>
            <a:ext cx="2362124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received information is checked for validity with a second source: “Is the information accurate and true?”</a:t>
            </a:r>
          </a:p>
        </p:txBody>
      </p:sp>
      <p:sp>
        <p:nvSpPr>
          <p:cNvPr id="11" name="chartpart_arrow_1"/>
          <p:cNvSpPr/>
          <p:nvPr/>
        </p:nvSpPr>
        <p:spPr>
          <a:xfrm>
            <a:off x="3066212" y="3694176"/>
            <a:ext cx="237744" cy="219456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ground_af_c2"/>
          <p:cNvSpPr/>
          <p:nvPr/>
        </p:nvSpPr>
        <p:spPr>
          <a:xfrm>
            <a:off x="3322244" y="1755648"/>
            <a:ext cx="2636444" cy="409651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af_c2_band"/>
          <p:cNvSpPr/>
          <p:nvPr/>
        </p:nvSpPr>
        <p:spPr>
          <a:xfrm>
            <a:off x="3322244" y="1755648"/>
            <a:ext cx="2636444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af_c2_hdr"/>
          <p:cNvSpPr txBox="1"/>
          <p:nvPr/>
        </p:nvSpPr>
        <p:spPr>
          <a:xfrm>
            <a:off x="3441116" y="1792224"/>
            <a:ext cx="23987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Global</a:t>
            </a:r>
          </a:p>
        </p:txBody>
      </p:sp>
      <p:sp>
        <p:nvSpPr>
          <p:cNvPr id="15" name="body_af_c2_b"/>
          <p:cNvSpPr txBox="1"/>
          <p:nvPr/>
        </p:nvSpPr>
        <p:spPr>
          <a:xfrm>
            <a:off x="3459404" y="2322576"/>
            <a:ext cx="2362124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information is filtered for global relevance: “Does it have implications beyond local/national boundaries?”</a:t>
            </a:r>
          </a:p>
        </p:txBody>
      </p:sp>
      <p:sp>
        <p:nvSpPr>
          <p:cNvPr id="16" name="chartpart_arrow_2"/>
          <p:cNvSpPr/>
          <p:nvPr/>
        </p:nvSpPr>
        <p:spPr>
          <a:xfrm>
            <a:off x="5976976" y="3694176"/>
            <a:ext cx="237744" cy="219456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af_c3"/>
          <p:cNvSpPr/>
          <p:nvPr/>
        </p:nvSpPr>
        <p:spPr>
          <a:xfrm>
            <a:off x="6233008" y="1755648"/>
            <a:ext cx="2636444" cy="409651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ckground_af_c3_band"/>
          <p:cNvSpPr/>
          <p:nvPr/>
        </p:nvSpPr>
        <p:spPr>
          <a:xfrm>
            <a:off x="6233008" y="1755648"/>
            <a:ext cx="2636444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_af_c3_hdr"/>
          <p:cNvSpPr txBox="1"/>
          <p:nvPr/>
        </p:nvSpPr>
        <p:spPr>
          <a:xfrm>
            <a:off x="6351880" y="1792224"/>
            <a:ext cx="23987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20" name="body_af_c3_b"/>
          <p:cNvSpPr txBox="1"/>
          <p:nvPr/>
        </p:nvSpPr>
        <p:spPr>
          <a:xfrm>
            <a:off x="6370168" y="2322576"/>
            <a:ext cx="2362124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Once validated, the information is filtered for work-plan impact: can it affect policy, donors, or public opinion?</a:t>
            </a:r>
          </a:p>
        </p:txBody>
      </p:sp>
      <p:sp>
        <p:nvSpPr>
          <p:cNvPr id="21" name="chartpart_arrow_3"/>
          <p:cNvSpPr/>
          <p:nvPr/>
        </p:nvSpPr>
        <p:spPr>
          <a:xfrm>
            <a:off x="8887739" y="3694176"/>
            <a:ext cx="237744" cy="219456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ckground_af_c4"/>
          <p:cNvSpPr/>
          <p:nvPr/>
        </p:nvSpPr>
        <p:spPr>
          <a:xfrm>
            <a:off x="9143771" y="1755648"/>
            <a:ext cx="2636444" cy="409651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af_c4_band"/>
          <p:cNvSpPr/>
          <p:nvPr/>
        </p:nvSpPr>
        <p:spPr>
          <a:xfrm>
            <a:off x="9143771" y="1755648"/>
            <a:ext cx="2636444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_af_c4_hdr"/>
          <p:cNvSpPr txBox="1"/>
          <p:nvPr/>
        </p:nvSpPr>
        <p:spPr>
          <a:xfrm>
            <a:off x="9262643" y="1792224"/>
            <a:ext cx="23987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25" name="body_af_c4_b"/>
          <p:cNvSpPr txBox="1"/>
          <p:nvPr/>
        </p:nvSpPr>
        <p:spPr>
          <a:xfrm>
            <a:off x="9280931" y="2322576"/>
            <a:ext cx="2362124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Determine whether the information can feasibly and realistically be translated into sufficiently impactful activities.</a:t>
            </a:r>
          </a:p>
        </p:txBody>
      </p:sp>
      <p:sp>
        <p:nvSpPr>
          <p:cNvPr id="2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Workshops. Apply the filter at the start of advocacy meetings.</a:t>
            </a:r>
          </a:p>
        </p:txBody>
      </p:sp>
      <p:sp>
        <p:nvSpPr>
          <p:cNvPr id="27" name="meta_pagenum_19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High-level objectives relate to three areas — raising awareness, engaging TB networks, and supporting the Secretariat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ission_banner"/>
          <p:cNvSpPr/>
          <p:nvPr/>
        </p:nvSpPr>
        <p:spPr>
          <a:xfrm>
            <a:off x="411480" y="1405128"/>
            <a:ext cx="11368735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_mission_banner"/>
          <p:cNvSpPr txBox="1"/>
          <p:nvPr/>
        </p:nvSpPr>
        <p:spPr>
          <a:xfrm>
            <a:off x="594360" y="1478280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Mission: Inspire the world into action against tuberculosis (TB)</a:t>
            </a:r>
          </a:p>
        </p:txBody>
      </p:sp>
      <p:sp>
        <p:nvSpPr>
          <p:cNvPr id="6" name="background_cmb_c1"/>
          <p:cNvSpPr/>
          <p:nvPr/>
        </p:nvSpPr>
        <p:spPr>
          <a:xfrm>
            <a:off x="411480" y="2090928"/>
            <a:ext cx="3637178" cy="37612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ckground_cmb_c1_band"/>
          <p:cNvSpPr/>
          <p:nvPr/>
        </p:nvSpPr>
        <p:spPr>
          <a:xfrm>
            <a:off x="411480" y="209092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_cmb_c1_hdr"/>
          <p:cNvSpPr txBox="1"/>
          <p:nvPr/>
        </p:nvSpPr>
        <p:spPr>
          <a:xfrm>
            <a:off x="530352" y="21275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1 — Raise awareness about TB among:</a:t>
            </a:r>
          </a:p>
        </p:txBody>
      </p:sp>
      <p:sp>
        <p:nvSpPr>
          <p:cNvPr id="9" name="body_cmb_c1_b"/>
          <p:cNvSpPr txBox="1"/>
          <p:nvPr/>
        </p:nvSpPr>
        <p:spPr>
          <a:xfrm>
            <a:off x="548640" y="2657856"/>
            <a:ext cx="3362858" cy="3084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A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The “fourth estate” (news media)</a:t>
            </a:r>
          </a:p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B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Members of the public in donor countries and selected high-burden countries / BRIC+2</a:t>
            </a:r>
          </a:p>
          <a:p>
            <a:pPr algn="l" marL="181610" indent="-181610">
              <a:spcAft>
                <a:spcPts val="800"/>
              </a:spcAft>
              <a:buFont typeface="Arial"/>
              <a:buChar char="▪"/>
            </a:pPr>
            <a:r>
              <a:rPr sz="1300" b="1" i="0">
                <a:solidFill>
                  <a:srgbClr val="1A2332"/>
                </a:solidFill>
                <a:latin typeface="Arial"/>
              </a:rPr>
              <a:t>C — </a:t>
            </a:r>
            <a:r>
              <a:rPr sz="1300" b="0" i="0">
                <a:solidFill>
                  <a:srgbClr val="1A2332"/>
                </a:solidFill>
                <a:latin typeface="Arial"/>
              </a:rPr>
              <a:t>Selected institutions</a:t>
            </a:r>
          </a:p>
        </p:txBody>
      </p:sp>
      <p:sp>
        <p:nvSpPr>
          <p:cNvPr id="10" name="background_cmb_c2"/>
          <p:cNvSpPr/>
          <p:nvPr/>
        </p:nvSpPr>
        <p:spPr>
          <a:xfrm>
            <a:off x="4277258" y="2090928"/>
            <a:ext cx="3637178" cy="37612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cmb_c2_band"/>
          <p:cNvSpPr/>
          <p:nvPr/>
        </p:nvSpPr>
        <p:spPr>
          <a:xfrm>
            <a:off x="4277258" y="209092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_cmb_c2_hdr"/>
          <p:cNvSpPr txBox="1"/>
          <p:nvPr/>
        </p:nvSpPr>
        <p:spPr>
          <a:xfrm>
            <a:off x="4396130" y="21275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2 — Engage TB networks</a:t>
            </a:r>
          </a:p>
        </p:txBody>
      </p:sp>
      <p:sp>
        <p:nvSpPr>
          <p:cNvPr id="13" name="body_cmb_c2_b"/>
          <p:cNvSpPr txBox="1"/>
          <p:nvPr/>
        </p:nvSpPr>
        <p:spPr>
          <a:xfrm>
            <a:off x="4414418" y="2657856"/>
            <a:ext cx="3362858" cy="3084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Engage, support, and foster a shared sense of purpose among partners and other members of TB networks.</a:t>
            </a:r>
          </a:p>
        </p:txBody>
      </p:sp>
      <p:sp>
        <p:nvSpPr>
          <p:cNvPr id="14" name="background_cmb_c3"/>
          <p:cNvSpPr/>
          <p:nvPr/>
        </p:nvSpPr>
        <p:spPr>
          <a:xfrm>
            <a:off x="8143037" y="2090928"/>
            <a:ext cx="3637178" cy="376123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ground_cmb_c3_band"/>
          <p:cNvSpPr/>
          <p:nvPr/>
        </p:nvSpPr>
        <p:spPr>
          <a:xfrm>
            <a:off x="8143037" y="2090928"/>
            <a:ext cx="363717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_cmb_c3_hdr"/>
          <p:cNvSpPr txBox="1"/>
          <p:nvPr/>
        </p:nvSpPr>
        <p:spPr>
          <a:xfrm>
            <a:off x="8261909" y="2127504"/>
            <a:ext cx="339943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3 — Support the Secretariat</a:t>
            </a:r>
          </a:p>
        </p:txBody>
      </p:sp>
      <p:sp>
        <p:nvSpPr>
          <p:cNvPr id="17" name="body_cmb_c3_b"/>
          <p:cNvSpPr txBox="1"/>
          <p:nvPr/>
        </p:nvSpPr>
        <p:spPr>
          <a:xfrm>
            <a:off x="8280197" y="2657856"/>
            <a:ext cx="3362858" cy="3084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Arial"/>
              </a:rPr>
              <a:t>Provide coordinated support for the core work of the Secretariat.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Note: BRIC+2 = Brazil, Russia, India, China, Indonesia, and South Africa. Source: Team discussion.</a:t>
            </a:r>
          </a:p>
        </p:txBody>
      </p:sp>
      <p:sp>
        <p:nvSpPr>
          <p:cNvPr id="19" name="meta_pagenum_20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For each high-level objective, audience groups, objectives, metrics, and targets have been defined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caption_table_cmbt"/>
          <p:cNvSpPr txBox="1"/>
          <p:nvPr/>
        </p:nvSpPr>
        <p:spPr>
          <a:xfrm>
            <a:off x="411480" y="1405128"/>
            <a:ext cx="11338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Audience groups, objectives, metrics, and targets</a:t>
            </a:r>
          </a:p>
        </p:txBody>
      </p:sp>
      <p:graphicFrame>
        <p:nvGraphicFramePr>
          <p:cNvPr id="5" name="table_cmbt"/>
          <p:cNvGraphicFramePr>
            <a:graphicFrameLocks noGrp="1"/>
          </p:cNvGraphicFramePr>
          <p:nvPr/>
        </p:nvGraphicFramePr>
        <p:xfrm>
          <a:off x="411480" y="1661160"/>
          <a:ext cx="11338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291840"/>
                <a:gridCol w="3108960"/>
                <a:gridCol w="24688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Raise awareness of the prevalence and threat of TB via traditional and innovative channels to grow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Develop and roll out a viral marketing / social-media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People reached via social channels (YouTube, Facebook)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(awareness)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% of population 18–65 acknowledging TB as a top-5 global health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Meet with editors to encourage TB coverage; pitch high-impact topics (MDR/XDR-TB)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Arial"/>
                        </a:rPr>
                        <a:t>(target TBD)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The team clarified the CFCS mission and defined objectives to deliver it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fcs_mission"/>
          <p:cNvSpPr/>
          <p:nvPr/>
        </p:nvSpPr>
        <p:spPr>
          <a:xfrm>
            <a:off x="411480" y="1344168"/>
            <a:ext cx="3749040" cy="45079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_cfcs_mission"/>
          <p:cNvSpPr txBox="1"/>
          <p:nvPr/>
        </p:nvSpPr>
        <p:spPr>
          <a:xfrm>
            <a:off x="612648" y="1527048"/>
            <a:ext cx="3346704" cy="4142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D6E0F0"/>
                </a:solidFill>
                <a:latin typeface="Arial"/>
              </a:rPr>
              <a:t>CFCS mission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6" name="background_cfcs_c1"/>
          <p:cNvSpPr/>
          <p:nvPr/>
        </p:nvSpPr>
        <p:spPr>
          <a:xfrm>
            <a:off x="4434840" y="1344168"/>
            <a:ext cx="3535528" cy="450799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ckground_cfcs_c1_band"/>
          <p:cNvSpPr/>
          <p:nvPr/>
        </p:nvSpPr>
        <p:spPr>
          <a:xfrm>
            <a:off x="4434840" y="1344168"/>
            <a:ext cx="353552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_cfcs_c1_hdr"/>
          <p:cNvSpPr txBox="1"/>
          <p:nvPr/>
        </p:nvSpPr>
        <p:spPr>
          <a:xfrm>
            <a:off x="4553712" y="1380744"/>
            <a:ext cx="32977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1 — Assist community-based civil-society organizations</a:t>
            </a:r>
          </a:p>
        </p:txBody>
      </p:sp>
      <p:sp>
        <p:nvSpPr>
          <p:cNvPr id="9" name="body_cfcs_c1_b"/>
          <p:cNvSpPr txBox="1"/>
          <p:nvPr/>
        </p:nvSpPr>
        <p:spPr>
          <a:xfrm>
            <a:off x="4572000" y="1911096"/>
            <a:ext cx="3261208" cy="3831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Provide small grants for projects that increase awareness and active participation of local communities and build their capabilities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Provide coaching and technical assistance to grant recipients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Strengthen links between grant recipients and local authorities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Bring organizations together to exchange best practices</a:t>
            </a:r>
          </a:p>
        </p:txBody>
      </p:sp>
      <p:sp>
        <p:nvSpPr>
          <p:cNvPr id="10" name="background_cfcs_c2"/>
          <p:cNvSpPr/>
          <p:nvPr/>
        </p:nvSpPr>
        <p:spPr>
          <a:xfrm>
            <a:off x="8244688" y="1344168"/>
            <a:ext cx="3535528" cy="4507992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cfcs_c2_band"/>
          <p:cNvSpPr/>
          <p:nvPr/>
        </p:nvSpPr>
        <p:spPr>
          <a:xfrm>
            <a:off x="8244688" y="1344168"/>
            <a:ext cx="353552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_cfcs_c2_hdr"/>
          <p:cNvSpPr txBox="1"/>
          <p:nvPr/>
        </p:nvSpPr>
        <p:spPr>
          <a:xfrm>
            <a:off x="8363560" y="1380744"/>
            <a:ext cx="32977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2 — Efficiently manage CFCS resources</a:t>
            </a:r>
          </a:p>
        </p:txBody>
      </p:sp>
      <p:sp>
        <p:nvSpPr>
          <p:cNvPr id="13" name="body_cfcs_c2_b"/>
          <p:cNvSpPr txBox="1"/>
          <p:nvPr/>
        </p:nvSpPr>
        <p:spPr>
          <a:xfrm>
            <a:off x="8381848" y="1911096"/>
            <a:ext cx="3261208" cy="3831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Identify and stimulate high-quality, competitive applications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Develop selection criteria that ensure involvement of local health services and strengthen local autonomy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Hold grantees accountable to project milestones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Use simple evaluation processes that assess impact and integrate lessons learned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5" name="meta_pagenum_22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2332"/>
                </a:solidFill>
                <a:latin typeface="Georgia"/>
              </a:rPr>
              <a:t>A team “barometer” survey assesses working-group engagement across four dimensions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dr_q1"/>
          <p:cNvSpPr/>
          <p:nvPr/>
        </p:nvSpPr>
        <p:spPr>
          <a:xfrm>
            <a:off x="411480" y="1405128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mdr_q1_band"/>
          <p:cNvSpPr/>
          <p:nvPr/>
        </p:nvSpPr>
        <p:spPr>
          <a:xfrm>
            <a:off x="411480" y="1405128"/>
            <a:ext cx="557006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_mdr_q1_hdr"/>
          <p:cNvSpPr txBox="1"/>
          <p:nvPr/>
        </p:nvSpPr>
        <p:spPr>
          <a:xfrm>
            <a:off x="530352" y="144170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Objectives and direction</a:t>
            </a:r>
          </a:p>
        </p:txBody>
      </p:sp>
      <p:sp>
        <p:nvSpPr>
          <p:cNvPr id="7" name="body_mdr_q1_b"/>
          <p:cNvSpPr txBox="1"/>
          <p:nvPr/>
        </p:nvSpPr>
        <p:spPr>
          <a:xfrm>
            <a:off x="548640" y="1972056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8" name="background_mdr_q2"/>
          <p:cNvSpPr/>
          <p:nvPr/>
        </p:nvSpPr>
        <p:spPr>
          <a:xfrm>
            <a:off x="6210148" y="1405128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mdr_q2_band"/>
          <p:cNvSpPr/>
          <p:nvPr/>
        </p:nvSpPr>
        <p:spPr>
          <a:xfrm>
            <a:off x="6210148" y="1405128"/>
            <a:ext cx="557006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mdr_q2_hdr"/>
          <p:cNvSpPr txBox="1"/>
          <p:nvPr/>
        </p:nvSpPr>
        <p:spPr>
          <a:xfrm>
            <a:off x="6329020" y="1441704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Delivery against objectives</a:t>
            </a:r>
          </a:p>
        </p:txBody>
      </p:sp>
      <p:sp>
        <p:nvSpPr>
          <p:cNvPr id="11" name="body_mdr_q2_b"/>
          <p:cNvSpPr txBox="1"/>
          <p:nvPr/>
        </p:nvSpPr>
        <p:spPr>
          <a:xfrm>
            <a:off x="6347308" y="1972056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12" name="background_mdr_q3"/>
          <p:cNvSpPr/>
          <p:nvPr/>
        </p:nvSpPr>
        <p:spPr>
          <a:xfrm>
            <a:off x="411480" y="3742944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mdr_q3_band"/>
          <p:cNvSpPr/>
          <p:nvPr/>
        </p:nvSpPr>
        <p:spPr>
          <a:xfrm>
            <a:off x="411480" y="3742944"/>
            <a:ext cx="557006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mdr_q3_hdr"/>
          <p:cNvSpPr txBox="1"/>
          <p:nvPr/>
        </p:nvSpPr>
        <p:spPr>
          <a:xfrm>
            <a:off x="530352" y="3779520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Individual contributions</a:t>
            </a:r>
          </a:p>
        </p:txBody>
      </p:sp>
      <p:sp>
        <p:nvSpPr>
          <p:cNvPr id="15" name="body_mdr_q3_b"/>
          <p:cNvSpPr txBox="1"/>
          <p:nvPr/>
        </p:nvSpPr>
        <p:spPr>
          <a:xfrm>
            <a:off x="548640" y="4309872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After meetings, accountabilities and deadlines for specific actions are clear</a:t>
            </a:r>
          </a:p>
        </p:txBody>
      </p:sp>
      <p:sp>
        <p:nvSpPr>
          <p:cNvPr id="16" name="background_mdr_q4"/>
          <p:cNvSpPr/>
          <p:nvPr/>
        </p:nvSpPr>
        <p:spPr>
          <a:xfrm>
            <a:off x="6210148" y="3742944"/>
            <a:ext cx="5570068" cy="2109216"/>
          </a:xfrm>
          <a:prstGeom prst="rect">
            <a:avLst/>
          </a:prstGeom>
          <a:solidFill>
            <a:srgbClr val="F2F4F8"/>
          </a:solidFill>
          <a:ln w="952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mdr_q4_band"/>
          <p:cNvSpPr/>
          <p:nvPr/>
        </p:nvSpPr>
        <p:spPr>
          <a:xfrm>
            <a:off x="6210148" y="3742944"/>
            <a:ext cx="5570068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_mdr_q4_hdr"/>
          <p:cNvSpPr txBox="1"/>
          <p:nvPr/>
        </p:nvSpPr>
        <p:spPr>
          <a:xfrm>
            <a:off x="6329020" y="3779520"/>
            <a:ext cx="53323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Mindsets and behaviors</a:t>
            </a:r>
          </a:p>
        </p:txBody>
      </p:sp>
      <p:sp>
        <p:nvSpPr>
          <p:cNvPr id="19" name="body_mdr_q4_b"/>
          <p:cNvSpPr txBox="1"/>
          <p:nvPr/>
        </p:nvSpPr>
        <p:spPr>
          <a:xfrm>
            <a:off x="6347308" y="4309872"/>
            <a:ext cx="5295748" cy="143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The culture within the WG is collaborative and constructive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1A2332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Note: Scale 1 = strongly disagree to 5 = strongly agree.</a:t>
            </a:r>
          </a:p>
        </p:txBody>
      </p:sp>
      <p:sp>
        <p:nvSpPr>
          <p:cNvPr id="21" name="meta_pagenum_23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06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The next ~10 weeks will focus on implementing the solutions developed</a:t>
            </a:r>
          </a:p>
        </p:txBody>
      </p:sp>
      <p:cxnSp>
        <p:nvCxnSpPr>
          <p:cNvPr id="3" name="meta_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phase_1"/>
          <p:cNvSpPr/>
          <p:nvPr/>
        </p:nvSpPr>
        <p:spPr>
          <a:xfrm>
            <a:off x="411480" y="1344168"/>
            <a:ext cx="3637178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Diagnose</a:t>
            </a:r>
          </a:p>
        </p:txBody>
      </p:sp>
      <p:sp>
        <p:nvSpPr>
          <p:cNvPr id="5" name="background_phase_2"/>
          <p:cNvSpPr/>
          <p:nvPr/>
        </p:nvSpPr>
        <p:spPr>
          <a:xfrm>
            <a:off x="4277258" y="1344168"/>
            <a:ext cx="3637178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6" name="background_phase_3"/>
          <p:cNvSpPr/>
          <p:nvPr/>
        </p:nvSpPr>
        <p:spPr>
          <a:xfrm>
            <a:off x="8143037" y="1344168"/>
            <a:ext cx="3637178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7" name="meta_today_rule2"/>
          <p:cNvSpPr/>
          <p:nvPr/>
        </p:nvSpPr>
        <p:spPr>
          <a:xfrm>
            <a:off x="8088173" y="1106424"/>
            <a:ext cx="36576" cy="23774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today2"/>
          <p:cNvSpPr txBox="1"/>
          <p:nvPr/>
        </p:nvSpPr>
        <p:spPr>
          <a:xfrm>
            <a:off x="7320077" y="9235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Today</a:t>
            </a:r>
          </a:p>
        </p:txBody>
      </p:sp>
      <p:sp>
        <p:nvSpPr>
          <p:cNvPr id="9" name="background_deliver"/>
          <p:cNvSpPr/>
          <p:nvPr/>
        </p:nvSpPr>
        <p:spPr>
          <a:xfrm>
            <a:off x="411480" y="2167128"/>
            <a:ext cx="11368735" cy="3776472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deliver"/>
          <p:cNvSpPr txBox="1"/>
          <p:nvPr/>
        </p:nvSpPr>
        <p:spPr>
          <a:xfrm>
            <a:off x="594360" y="2304288"/>
            <a:ext cx="11002975" cy="3502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Implementation within project teams begins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The report is produced and findings are published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11" name="background_accent_bar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a_source"/>
          <p:cNvSpPr txBox="1"/>
          <p:nvPr/>
        </p:nvSpPr>
        <p:spPr>
          <a:xfrm>
            <a:off x="411480" y="63550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C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24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6C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