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4.1</c:v>
                </c:pt>
                <c:pt idx="2">
                  <c:v>2.1</c:v>
                </c:pt>
                <c:pt idx="3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2E6DB4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3.5</c:v>
                </c:pt>
                <c:pt idx="2">
                  <c:v>1.9</c:v>
                </c:pt>
                <c:pt idx="3">
                  <c:v>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672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672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B6672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411480" y="640080"/>
            <a:ext cx="3611880" cy="175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Helping Global Health Partnerships to increase their impact: Stop TB Partnership – McKinsey collaboration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252069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ody_cover_date"/>
          <p:cNvSpPr txBox="1"/>
          <p:nvPr/>
        </p:nvSpPr>
        <p:spPr>
          <a:xfrm>
            <a:off x="411480" y="2685288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Thursday, November 5, 2009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FDCEE"/>
                </a:solidFill>
                <a:latin typeface="Arial"/>
              </a:rPr>
              <a:t>Pre-reading for Coordinating Board presentation</a:t>
            </a:r>
          </a:p>
        </p:txBody>
      </p:sp>
      <p:sp>
        <p:nvSpPr>
          <p:cNvPr id="6" name="meta_footer"/>
          <p:cNvSpPr txBox="1"/>
          <p:nvPr/>
        </p:nvSpPr>
        <p:spPr>
          <a:xfrm>
            <a:off x="411480" y="626364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FDCEE"/>
                </a:solidFill>
                <a:latin typeface="Arial"/>
              </a:rPr>
              <a:t>McKinsey &amp; Company</a:t>
            </a:r>
          </a:p>
        </p:txBody>
      </p:sp>
      <p:sp>
        <p:nvSpPr>
          <p:cNvPr id="7" name="background_band_confidential"/>
          <p:cNvSpPr/>
          <p:nvPr/>
        </p:nvSpPr>
        <p:spPr>
          <a:xfrm>
            <a:off x="4663440" y="3977639"/>
            <a:ext cx="7086600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CONFIDENTIAL</a:t>
            </a:r>
          </a:p>
        </p:txBody>
      </p:sp>
      <p:sp>
        <p:nvSpPr>
          <p:cNvPr id="8" name="body_confidential"/>
          <p:cNvSpPr txBox="1"/>
          <p:nvPr/>
        </p:nvSpPr>
        <p:spPr>
          <a:xfrm>
            <a:off x="4663440" y="4361688"/>
            <a:ext cx="7086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C3E50"/>
                </a:solidFill>
                <a:latin typeface="Arial"/>
              </a:rPr>
              <a:t>CONFIDENTIAL AND PROPRIETARY. Any use of this material without specific permission of McKinsey &amp; Company is strictly prohibited.</a:t>
            </a:r>
          </a:p>
        </p:txBody>
      </p:sp>
      <p:sp>
        <p:nvSpPr>
          <p:cNvPr id="9" name="background_motif"/>
          <p:cNvSpPr/>
          <p:nvPr/>
        </p:nvSpPr>
        <p:spPr>
          <a:xfrm>
            <a:off x="4663440" y="2286000"/>
            <a:ext cx="411480" cy="41148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Contents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338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hip_1"/>
          <p:cNvSpPr/>
          <p:nvPr/>
        </p:nvSpPr>
        <p:spPr>
          <a:xfrm>
            <a:off x="411480" y="1389888"/>
            <a:ext cx="310896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eta_chipnum_1"/>
          <p:cNvSpPr txBox="1"/>
          <p:nvPr/>
        </p:nvSpPr>
        <p:spPr>
          <a:xfrm>
            <a:off x="411480" y="13898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body_nav_1"/>
          <p:cNvSpPr txBox="1"/>
          <p:nvPr/>
        </p:nvSpPr>
        <p:spPr>
          <a:xfrm>
            <a:off x="905256" y="138988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Project overview</a:t>
            </a:r>
          </a:p>
        </p:txBody>
      </p:sp>
      <p:sp>
        <p:nvSpPr>
          <p:cNvPr id="7" name="background_chip_2"/>
          <p:cNvSpPr/>
          <p:nvPr/>
        </p:nvSpPr>
        <p:spPr>
          <a:xfrm>
            <a:off x="411480" y="2066543"/>
            <a:ext cx="310896" cy="310896"/>
          </a:xfrm>
          <a:prstGeom prst="rect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a_chipnum_2"/>
          <p:cNvSpPr txBox="1"/>
          <p:nvPr/>
        </p:nvSpPr>
        <p:spPr>
          <a:xfrm>
            <a:off x="411480" y="2066543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body_nav_2"/>
          <p:cNvSpPr txBox="1"/>
          <p:nvPr/>
        </p:nvSpPr>
        <p:spPr>
          <a:xfrm>
            <a:off x="905256" y="2066543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2"/>
                </a:solidFill>
                <a:latin typeface="Arial"/>
              </a:rPr>
              <a:t>Global Drug Facility</a:t>
            </a:r>
          </a:p>
        </p:txBody>
      </p:sp>
      <p:sp>
        <p:nvSpPr>
          <p:cNvPr id="10" name="background_chip_3"/>
          <p:cNvSpPr/>
          <p:nvPr/>
        </p:nvSpPr>
        <p:spPr>
          <a:xfrm>
            <a:off x="411480" y="2743200"/>
            <a:ext cx="310896" cy="310896"/>
          </a:xfrm>
          <a:prstGeom prst="rect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ta_chipnum_3"/>
          <p:cNvSpPr txBox="1"/>
          <p:nvPr/>
        </p:nvSpPr>
        <p:spPr>
          <a:xfrm>
            <a:off x="411480" y="274320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body_nav_3"/>
          <p:cNvSpPr txBox="1"/>
          <p:nvPr/>
        </p:nvSpPr>
        <p:spPr>
          <a:xfrm>
            <a:off x="905256" y="2743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2"/>
                </a:solidFill>
                <a:latin typeface="Arial"/>
              </a:rPr>
              <a:t>Advocacy</a:t>
            </a:r>
          </a:p>
        </p:txBody>
      </p:sp>
      <p:sp>
        <p:nvSpPr>
          <p:cNvPr id="13" name="background_chip_4"/>
          <p:cNvSpPr/>
          <p:nvPr/>
        </p:nvSpPr>
        <p:spPr>
          <a:xfrm>
            <a:off x="411480" y="3419856"/>
            <a:ext cx="310896" cy="310896"/>
          </a:xfrm>
          <a:prstGeom prst="rect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ta_chipnum_4"/>
          <p:cNvSpPr txBox="1"/>
          <p:nvPr/>
        </p:nvSpPr>
        <p:spPr>
          <a:xfrm>
            <a:off x="411480" y="34198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body_nav_4"/>
          <p:cNvSpPr txBox="1"/>
          <p:nvPr/>
        </p:nvSpPr>
        <p:spPr>
          <a:xfrm>
            <a:off x="905256" y="341985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2"/>
                </a:solidFill>
                <a:latin typeface="Arial"/>
              </a:rPr>
              <a:t>Communication, Marketing and Branding</a:t>
            </a:r>
          </a:p>
        </p:txBody>
      </p:sp>
      <p:sp>
        <p:nvSpPr>
          <p:cNvPr id="16" name="background_chip_5"/>
          <p:cNvSpPr/>
          <p:nvPr/>
        </p:nvSpPr>
        <p:spPr>
          <a:xfrm>
            <a:off x="411480" y="4096512"/>
            <a:ext cx="310896" cy="310896"/>
          </a:xfrm>
          <a:prstGeom prst="rect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eta_chipnum_5"/>
          <p:cNvSpPr txBox="1"/>
          <p:nvPr/>
        </p:nvSpPr>
        <p:spPr>
          <a:xfrm>
            <a:off x="411480" y="40965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body_nav_5"/>
          <p:cNvSpPr txBox="1"/>
          <p:nvPr/>
        </p:nvSpPr>
        <p:spPr>
          <a:xfrm>
            <a:off x="905256" y="4096512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2"/>
                </a:solidFill>
                <a:latin typeface="Arial"/>
              </a:rPr>
              <a:t>Challenge Facility for Civil Society</a:t>
            </a:r>
          </a:p>
        </p:txBody>
      </p:sp>
      <p:sp>
        <p:nvSpPr>
          <p:cNvPr id="19" name="background_chip_6"/>
          <p:cNvSpPr/>
          <p:nvPr/>
        </p:nvSpPr>
        <p:spPr>
          <a:xfrm>
            <a:off x="411480" y="4773168"/>
            <a:ext cx="310896" cy="310896"/>
          </a:xfrm>
          <a:prstGeom prst="rect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eta_chipnum_6"/>
          <p:cNvSpPr txBox="1"/>
          <p:nvPr/>
        </p:nvSpPr>
        <p:spPr>
          <a:xfrm>
            <a:off x="411480" y="477316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1" name="body_nav_6"/>
          <p:cNvSpPr txBox="1"/>
          <p:nvPr/>
        </p:nvSpPr>
        <p:spPr>
          <a:xfrm>
            <a:off x="905256" y="477316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2"/>
                </a:solidFill>
                <a:latin typeface="Arial"/>
              </a:rPr>
              <a:t>MDR-TB Working Group</a:t>
            </a:r>
          </a:p>
        </p:txBody>
      </p:sp>
      <p:sp>
        <p:nvSpPr>
          <p:cNvPr id="22" name="background_chip_7"/>
          <p:cNvSpPr/>
          <p:nvPr/>
        </p:nvSpPr>
        <p:spPr>
          <a:xfrm>
            <a:off x="411480" y="5449823"/>
            <a:ext cx="310896" cy="310896"/>
          </a:xfrm>
          <a:prstGeom prst="rect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eta_chipnum_7"/>
          <p:cNvSpPr txBox="1"/>
          <p:nvPr/>
        </p:nvSpPr>
        <p:spPr>
          <a:xfrm>
            <a:off x="411480" y="5449823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4" name="body_nav_7"/>
          <p:cNvSpPr txBox="1"/>
          <p:nvPr/>
        </p:nvSpPr>
        <p:spPr>
          <a:xfrm>
            <a:off x="905256" y="5449823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2"/>
                </a:solidFill>
                <a:latin typeface="Arial"/>
              </a:rPr>
              <a:t>Next steps</a:t>
            </a:r>
          </a:p>
        </p:txBody>
      </p:sp>
      <p:sp>
        <p:nvSpPr>
          <p:cNvPr id="25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&amp; Company, November 2009.</a:t>
            </a:r>
          </a:p>
        </p:txBody>
      </p:sp>
      <p:sp>
        <p:nvSpPr>
          <p:cNvPr id="26" name="meta_pagenum_2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The performance of Global Health Partnerships is increasingly important and scrutinized, yet achieving high performance is proving challenging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band_bg_role"/>
          <p:cNvSpPr/>
          <p:nvPr/>
        </p:nvSpPr>
        <p:spPr>
          <a:xfrm>
            <a:off x="411480" y="1450848"/>
            <a:ext cx="5524347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Increasing role of GHP performance</a:t>
            </a:r>
          </a:p>
        </p:txBody>
      </p:sp>
      <p:sp>
        <p:nvSpPr>
          <p:cNvPr id="5" name="body_bg_role"/>
          <p:cNvSpPr txBox="1"/>
          <p:nvPr/>
        </p:nvSpPr>
        <p:spPr>
          <a:xfrm>
            <a:off x="411480" y="1862328"/>
            <a:ext cx="5524347" cy="4264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GHPs play a major role in global health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Performance of GHPs can have huge impact on the health of the world's population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The focus on performance is increasing, driven by</a:t>
            </a:r>
          </a:p>
          <a:p>
            <a:pPr lvl="1" algn="l" marL="412750" indent="-18161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2C3E50"/>
                </a:solidFill>
                <a:latin typeface="Arial"/>
              </a:rPr>
              <a:t>Increasing donor focus on impact, effectiveness, and efficiency</a:t>
            </a:r>
          </a:p>
          <a:p>
            <a:pPr lvl="1" algn="l" marL="412750" indent="-18161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2C3E50"/>
                </a:solidFill>
                <a:latin typeface="Arial"/>
              </a:rPr>
              <a:t>Increasing number of Partnerships in global health</a:t>
            </a:r>
          </a:p>
          <a:p>
            <a:pPr lvl="1" algn="l" marL="412750" indent="-18161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2C3E50"/>
                </a:solidFill>
                <a:latin typeface="Arial"/>
              </a:rPr>
              <a:t>Likelihood of lower funding growth or less funding, given the financial crisis</a:t>
            </a:r>
          </a:p>
        </p:txBody>
      </p:sp>
      <p:sp>
        <p:nvSpPr>
          <p:cNvPr id="6" name="background_band_bg_challenge"/>
          <p:cNvSpPr/>
          <p:nvPr/>
        </p:nvSpPr>
        <p:spPr>
          <a:xfrm>
            <a:off x="6255867" y="1450848"/>
            <a:ext cx="5524347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Challenging factors</a:t>
            </a:r>
          </a:p>
        </p:txBody>
      </p:sp>
      <p:sp>
        <p:nvSpPr>
          <p:cNvPr id="7" name="body_bg_challenge"/>
          <p:cNvSpPr txBox="1"/>
          <p:nvPr/>
        </p:nvSpPr>
        <p:spPr>
          <a:xfrm>
            <a:off x="6255867" y="1862328"/>
            <a:ext cx="5524347" cy="4264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Complex environment and nature of GHP organizations create challenges, e.g.</a:t>
            </a:r>
          </a:p>
          <a:p>
            <a:pPr algn="l" marL="181610" indent="-181610">
              <a:spcAft>
                <a:spcPts val="6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Objective-setting: </a:t>
            </a:r>
            <a:r>
              <a:rPr sz="1300" b="0" i="0">
                <a:solidFill>
                  <a:srgbClr val="2C3E50"/>
                </a:solidFill>
                <a:latin typeface="Arial"/>
              </a:rPr>
              <a:t>distinguishing between the change a GHP hopes to bring about in the world vs. the goals it sets itself that will help bring about the change</a:t>
            </a:r>
          </a:p>
          <a:p>
            <a:pPr algn="l" marL="181610" indent="-181610">
              <a:spcAft>
                <a:spcPts val="6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Accountability: </a:t>
            </a:r>
            <a:r>
              <a:rPr sz="1300" b="0" i="0">
                <a:solidFill>
                  <a:srgbClr val="2C3E50"/>
                </a:solidFill>
                <a:latin typeface="Arial"/>
              </a:rPr>
              <a:t>ensuring accountability and delivery in the context of loose Partnership structures, voluntary membership, and limited hierarchy</a:t>
            </a:r>
          </a:p>
          <a:p>
            <a:pPr algn="l" marL="181610" indent="-181610">
              <a:spcAft>
                <a:spcPts val="6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Capabilities: </a:t>
            </a:r>
            <a:r>
              <a:rPr sz="1300" b="0" i="0">
                <a:solidFill>
                  <a:srgbClr val="2C3E50"/>
                </a:solidFill>
                <a:latin typeface="Arial"/>
              </a:rPr>
              <a:t>gaining the capacity and capabilities needed to continuously improve performance</a:t>
            </a:r>
          </a:p>
        </p:txBody>
      </p:sp>
      <p:sp>
        <p:nvSpPr>
          <p:cNvPr id="8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9" name="meta_pagenum_3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The project will deliver practical insights on improving GHP performance based on piloted improvement ideas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band_goals_goals"/>
          <p:cNvSpPr/>
          <p:nvPr/>
        </p:nvSpPr>
        <p:spPr>
          <a:xfrm>
            <a:off x="411480" y="1450848"/>
            <a:ext cx="363717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Goals</a:t>
            </a:r>
          </a:p>
        </p:txBody>
      </p:sp>
      <p:sp>
        <p:nvSpPr>
          <p:cNvPr id="5" name="body_goals_goals"/>
          <p:cNvSpPr txBox="1"/>
          <p:nvPr/>
        </p:nvSpPr>
        <p:spPr>
          <a:xfrm>
            <a:off x="411480" y="1862328"/>
            <a:ext cx="3637178" cy="4264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Aft>
                <a:spcPts val="6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Develop a joint perspective, tested and proven, on how GHPs can improve performance, by</a:t>
            </a:r>
          </a:p>
          <a:p>
            <a:pPr lvl="1" algn="l" marL="412750" indent="-18161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2C3E50"/>
                </a:solidFill>
                <a:latin typeface="Arial"/>
              </a:rPr>
              <a:t>Exploring how to improve performance in a GHP, not simply adopting existing (e.g., private-sector) approaches</a:t>
            </a:r>
          </a:p>
          <a:p>
            <a:pPr lvl="1" algn="l" marL="412750" indent="-18161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2C3E50"/>
                </a:solidFill>
                <a:latin typeface="Arial"/>
              </a:rPr>
              <a:t>Testing new ways of working with Stop TB bodies that could lead to higher performance</a:t>
            </a:r>
          </a:p>
          <a:p>
            <a:pPr lvl="1" algn="l" marL="412750" indent="-18161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2C3E50"/>
                </a:solidFill>
                <a:latin typeface="Arial"/>
              </a:rPr>
              <a:t>Developing a joint perspective to share with the global health community</a:t>
            </a:r>
          </a:p>
        </p:txBody>
      </p:sp>
      <p:sp>
        <p:nvSpPr>
          <p:cNvPr id="6" name="background_band_goals_approach"/>
          <p:cNvSpPr/>
          <p:nvPr/>
        </p:nvSpPr>
        <p:spPr>
          <a:xfrm>
            <a:off x="4277258" y="1450848"/>
            <a:ext cx="363717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Approach</a:t>
            </a:r>
          </a:p>
        </p:txBody>
      </p:sp>
      <p:sp>
        <p:nvSpPr>
          <p:cNvPr id="7" name="body_goals_approach"/>
          <p:cNvSpPr txBox="1"/>
          <p:nvPr/>
        </p:nvSpPr>
        <p:spPr>
          <a:xfrm>
            <a:off x="4277258" y="1862328"/>
            <a:ext cx="3637178" cy="4264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Build on strengths and improvement opportunities outlined in the 2008 evaluation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Joint working, collaborative, co-creation — not client–consultant work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Duration ~22 weeks: 10 weeks diagnosis and design, 12 weeks delivery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Scope: 5 Partnership bodies — GDF, MDR-TB WG, CFCS, Advocacy, and CM&amp;B teams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External interactions with other GHPs, e.g., RBM, UNAIDS, GAVI, GF</a:t>
            </a:r>
          </a:p>
        </p:txBody>
      </p:sp>
      <p:sp>
        <p:nvSpPr>
          <p:cNvPr id="8" name="background_band_goals_products"/>
          <p:cNvSpPr/>
          <p:nvPr/>
        </p:nvSpPr>
        <p:spPr>
          <a:xfrm>
            <a:off x="8143036" y="1450848"/>
            <a:ext cx="363717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3 main end-products</a:t>
            </a:r>
          </a:p>
        </p:txBody>
      </p:sp>
      <p:sp>
        <p:nvSpPr>
          <p:cNvPr id="9" name="body_goals_products"/>
          <p:cNvSpPr txBox="1"/>
          <p:nvPr/>
        </p:nvSpPr>
        <p:spPr>
          <a:xfrm>
            <a:off x="8143036" y="1862328"/>
            <a:ext cx="3637178" cy="4264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Successful performance-improvement pilots in selected Partnership bodies, with documentation to support roll-out to other bodies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A co-authored project report, suitable for publication in major journals, detailing the experience and lessons for other GHPs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A “practitioner's guide” to support McKinsey teams conducting similar work</a:t>
            </a:r>
          </a:p>
        </p:txBody>
      </p:sp>
      <p:sp>
        <p:nvSpPr>
          <p:cNvPr id="10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1" name="meta_pagenum_4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This project is organized in three distinct phases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338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band_phases_diag"/>
          <p:cNvSpPr/>
          <p:nvPr/>
        </p:nvSpPr>
        <p:spPr>
          <a:xfrm>
            <a:off x="411480" y="1298448"/>
            <a:ext cx="360669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Diagnose (August – September)</a:t>
            </a:r>
          </a:p>
        </p:txBody>
      </p:sp>
      <p:sp>
        <p:nvSpPr>
          <p:cNvPr id="5" name="body_phases_diag"/>
          <p:cNvSpPr txBox="1"/>
          <p:nvPr/>
        </p:nvSpPr>
        <p:spPr>
          <a:xfrm>
            <a:off x="411480" y="1709928"/>
            <a:ext cx="3606698" cy="4416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Selection of Partnership Bodies to work with — GDF, Advocacy, Communication/Marketing &amp; Branding, CFCS, MDR-TB Working Group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Understanding of current performance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Identification of areas of high performance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Selection of one performance issue to improve</a:t>
            </a:r>
          </a:p>
        </p:txBody>
      </p:sp>
      <p:sp>
        <p:nvSpPr>
          <p:cNvPr id="6" name="background_band_phases_design"/>
          <p:cNvSpPr/>
          <p:nvPr/>
        </p:nvSpPr>
        <p:spPr>
          <a:xfrm>
            <a:off x="4292498" y="1298448"/>
            <a:ext cx="360669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Design (September – October)</a:t>
            </a:r>
          </a:p>
        </p:txBody>
      </p:sp>
      <p:sp>
        <p:nvSpPr>
          <p:cNvPr id="7" name="body_phases_design"/>
          <p:cNvSpPr txBox="1"/>
          <p:nvPr/>
        </p:nvSpPr>
        <p:spPr>
          <a:xfrm>
            <a:off x="4292498" y="1709928"/>
            <a:ext cx="3606698" cy="4416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Intensive work within selected Partnership Bodies to develop improvement ideas on the selected performance issue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Select actions to implement in the next phase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Development of implementation plans for the Delivery phase</a:t>
            </a:r>
          </a:p>
        </p:txBody>
      </p:sp>
      <p:sp>
        <p:nvSpPr>
          <p:cNvPr id="8" name="background_band_phases_deliver"/>
          <p:cNvSpPr/>
          <p:nvPr/>
        </p:nvSpPr>
        <p:spPr>
          <a:xfrm>
            <a:off x="8173516" y="1298448"/>
            <a:ext cx="360669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Deliver (November – December)</a:t>
            </a:r>
          </a:p>
        </p:txBody>
      </p:sp>
      <p:sp>
        <p:nvSpPr>
          <p:cNvPr id="9" name="body_phases_deliver"/>
          <p:cNvSpPr txBox="1"/>
          <p:nvPr/>
        </p:nvSpPr>
        <p:spPr>
          <a:xfrm>
            <a:off x="8173516" y="1709928"/>
            <a:ext cx="3606698" cy="4416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Implementation and refinement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Problem-solving sessions on findings, lessons learned, and implications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Workshop to share achievements across the Partnership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Report and publication of results; present results to the Coordinating Board in March 2010</a:t>
            </a:r>
          </a:p>
        </p:txBody>
      </p:sp>
      <p:cxnSp>
        <p:nvCxnSpPr>
          <p:cNvPr id="10" name="meta_today_line"/>
          <p:cNvCxnSpPr/>
          <p:nvPr/>
        </p:nvCxnSpPr>
        <p:spPr>
          <a:xfrm>
            <a:off x="8036356" y="1298448"/>
            <a:ext cx="0" cy="4764024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eta_today"/>
          <p:cNvSpPr txBox="1"/>
          <p:nvPr/>
        </p:nvSpPr>
        <p:spPr>
          <a:xfrm>
            <a:off x="7716316" y="1042415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6DB4"/>
                </a:solidFill>
                <a:latin typeface="Arial"/>
              </a:rPr>
              <a:t>Today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Note: “Today” sits at the start of the Deliver phase (November 2009).</a:t>
            </a:r>
          </a:p>
        </p:txBody>
      </p:sp>
      <p:sp>
        <p:nvSpPr>
          <p:cNvPr id="13" name="meta_pagenum_5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We think about performance in terms of both processes and enablers — (1) Processes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hain_label"/>
          <p:cNvSpPr txBox="1"/>
          <p:nvPr/>
        </p:nvSpPr>
        <p:spPr>
          <a:xfrm>
            <a:off x="411480" y="145084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Performance management</a:t>
            </a:r>
          </a:p>
        </p:txBody>
      </p:sp>
      <p:sp>
        <p:nvSpPr>
          <p:cNvPr id="5" name="card_step_1"/>
          <p:cNvSpPr/>
          <p:nvPr/>
        </p:nvSpPr>
        <p:spPr>
          <a:xfrm>
            <a:off x="411480" y="1706880"/>
            <a:ext cx="1795729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Set objectives</a:t>
            </a:r>
          </a:p>
        </p:txBody>
      </p:sp>
      <p:sp>
        <p:nvSpPr>
          <p:cNvPr id="6" name="card_step_2"/>
          <p:cNvSpPr/>
          <p:nvPr/>
        </p:nvSpPr>
        <p:spPr>
          <a:xfrm>
            <a:off x="2326081" y="1706880"/>
            <a:ext cx="1795729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Set targets</a:t>
            </a:r>
          </a:p>
        </p:txBody>
      </p:sp>
      <p:sp>
        <p:nvSpPr>
          <p:cNvPr id="7" name="card_step_3"/>
          <p:cNvSpPr/>
          <p:nvPr/>
        </p:nvSpPr>
        <p:spPr>
          <a:xfrm>
            <a:off x="4240682" y="1706880"/>
            <a:ext cx="1795729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Establish clear metrics</a:t>
            </a:r>
          </a:p>
        </p:txBody>
      </p:sp>
      <p:sp>
        <p:nvSpPr>
          <p:cNvPr id="8" name="card_step_4"/>
          <p:cNvSpPr/>
          <p:nvPr/>
        </p:nvSpPr>
        <p:spPr>
          <a:xfrm>
            <a:off x="6155283" y="1706880"/>
            <a:ext cx="1795729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Track &amp; disseminate metrics</a:t>
            </a:r>
          </a:p>
        </p:txBody>
      </p:sp>
      <p:sp>
        <p:nvSpPr>
          <p:cNvPr id="9" name="card_step_5"/>
          <p:cNvSpPr/>
          <p:nvPr/>
        </p:nvSpPr>
        <p:spPr>
          <a:xfrm>
            <a:off x="8069884" y="1706880"/>
            <a:ext cx="1795729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Review performance</a:t>
            </a:r>
          </a:p>
        </p:txBody>
      </p:sp>
      <p:sp>
        <p:nvSpPr>
          <p:cNvPr id="10" name="card_step_6"/>
          <p:cNvSpPr/>
          <p:nvPr/>
        </p:nvSpPr>
        <p:spPr>
          <a:xfrm>
            <a:off x="9984485" y="1706880"/>
            <a:ext cx="1795729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Celebrate &amp; take further action</a:t>
            </a:r>
          </a:p>
        </p:txBody>
      </p:sp>
      <p:sp>
        <p:nvSpPr>
          <p:cNvPr id="11" name="background_band_fp_12"/>
          <p:cNvSpPr/>
          <p:nvPr/>
        </p:nvSpPr>
        <p:spPr>
          <a:xfrm>
            <a:off x="411480" y="2685288"/>
            <a:ext cx="363717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Set objectives &amp; targets (1–2)</a:t>
            </a:r>
          </a:p>
        </p:txBody>
      </p:sp>
      <p:sp>
        <p:nvSpPr>
          <p:cNvPr id="12" name="body_fp_12"/>
          <p:cNvSpPr txBox="1"/>
          <p:nvPr/>
        </p:nvSpPr>
        <p:spPr>
          <a:xfrm>
            <a:off x="411480" y="3096767"/>
            <a:ext cx="3637178" cy="3029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Set time-bound objectives that contribute to fulfilling the mission and vision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Set metrics that directly measure agreed objectives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Set additional metrics that cascade down from the key metric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Set quantitative targets for the metrics; translate these into operational plans and budgets</a:t>
            </a:r>
          </a:p>
        </p:txBody>
      </p:sp>
      <p:sp>
        <p:nvSpPr>
          <p:cNvPr id="13" name="background_band_fp_34"/>
          <p:cNvSpPr/>
          <p:nvPr/>
        </p:nvSpPr>
        <p:spPr>
          <a:xfrm>
            <a:off x="4277258" y="2685288"/>
            <a:ext cx="363717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Establish &amp; track metrics (3–4)</a:t>
            </a:r>
          </a:p>
        </p:txBody>
      </p:sp>
      <p:sp>
        <p:nvSpPr>
          <p:cNvPr id="14" name="body_fp_34"/>
          <p:cNvSpPr txBox="1"/>
          <p:nvPr/>
        </p:nvSpPr>
        <p:spPr>
          <a:xfrm>
            <a:off x="4277258" y="3096767"/>
            <a:ext cx="3637178" cy="3029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Produce progress reports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Disseminate reports to team members and stakeholders at pre-aligned intervals</a:t>
            </a:r>
          </a:p>
        </p:txBody>
      </p:sp>
      <p:sp>
        <p:nvSpPr>
          <p:cNvPr id="15" name="background_band_fp_56"/>
          <p:cNvSpPr/>
          <p:nvPr/>
        </p:nvSpPr>
        <p:spPr>
          <a:xfrm>
            <a:off x="8143036" y="2685288"/>
            <a:ext cx="363717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Review &amp; act (5–6)</a:t>
            </a:r>
          </a:p>
        </p:txBody>
      </p:sp>
      <p:sp>
        <p:nvSpPr>
          <p:cNvPr id="16" name="body_fp_56"/>
          <p:cNvSpPr txBox="1"/>
          <p:nvPr/>
        </p:nvSpPr>
        <p:spPr>
          <a:xfrm>
            <a:off x="8143036" y="3096767"/>
            <a:ext cx="3637178" cy="3029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Use reports to discuss progress in structured review meetings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Identify possible performance gaps and decide how to address them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Celebrate successes and take any required corrective actions</a:t>
            </a:r>
          </a:p>
        </p:txBody>
      </p:sp>
      <p:sp>
        <p:nvSpPr>
          <p:cNvPr id="17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8" name="meta_pagenum_6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Definition of performance management terms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338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terms"/>
          <p:cNvSpPr txBox="1"/>
          <p:nvPr/>
        </p:nvSpPr>
        <p:spPr>
          <a:xfrm>
            <a:off x="411480" y="129844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Definitions of performance management terms, with examples</a:t>
            </a:r>
          </a:p>
        </p:txBody>
      </p:sp>
      <p:graphicFrame>
        <p:nvGraphicFramePr>
          <p:cNvPr id="5" name="table_terms"/>
          <p:cNvGraphicFramePr>
            <a:graphicFrameLocks noGrp="1"/>
          </p:cNvGraphicFramePr>
          <p:nvPr/>
        </p:nvGraphicFramePr>
        <p:xfrm>
          <a:off x="411480" y="1536192"/>
          <a:ext cx="11365991" cy="4544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5852160"/>
                <a:gridCol w="4050791"/>
              </a:tblGrid>
              <a:tr h="5680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Definition / 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807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Narrow, time-bound, quantifiable goal that contributes to delivering the 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Supply low-cost, quality TB drugs at USD 20/treatment course for X patients in 2010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Measurable variable that indicates progress toward an objective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Funds raised; patient treatments supplied; grants approved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6807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The target value of the chosen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15 million patient treatments supplied by 2010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Report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A set of metrics and current values vs. target, with reasons for performance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See dashboard examples in this document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6807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Performance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A sequence of meetings to review performance, find root causes, and agree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Quarterly team review meeting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Mission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Defines the organization's purpose and primary objectives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Supply low-cost, quality drugs to countries that need them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6807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Articulates the aspiration or target for the future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A TB-free world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7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We think about performance in terms of both processes and enablers — (2) Enablers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enab_lead"/>
          <p:cNvSpPr/>
          <p:nvPr/>
        </p:nvSpPr>
        <p:spPr>
          <a:xfrm>
            <a:off x="411480" y="1450848"/>
            <a:ext cx="5547207" cy="22006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Committed leadership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FDCEE"/>
                </a:solidFill>
                <a:latin typeface="Arial"/>
              </a:rPr>
              <a:t>Strong leadership involvement and dedication.</a:t>
            </a:r>
          </a:p>
        </p:txBody>
      </p:sp>
      <p:sp>
        <p:nvSpPr>
          <p:cNvPr id="5" name="card_enab_cap"/>
          <p:cNvSpPr/>
          <p:nvPr/>
        </p:nvSpPr>
        <p:spPr>
          <a:xfrm>
            <a:off x="6233007" y="1450848"/>
            <a:ext cx="5547207" cy="22006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Capacity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FDCEE"/>
                </a:solidFill>
                <a:latin typeface="Arial"/>
              </a:rPr>
              <a:t>Ensure sufficient skills, infrastructure, and resources for performance.</a:t>
            </a:r>
          </a:p>
        </p:txBody>
      </p:sp>
      <p:sp>
        <p:nvSpPr>
          <p:cNvPr id="6" name="card_enab_comm"/>
          <p:cNvSpPr/>
          <p:nvPr/>
        </p:nvSpPr>
        <p:spPr>
          <a:xfrm>
            <a:off x="411480" y="3925823"/>
            <a:ext cx="5547207" cy="22006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Communications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FDCEE"/>
                </a:solidFill>
                <a:latin typeface="Arial"/>
              </a:rPr>
              <a:t>Communicate both performance and the importance of discussing performance regularly to all stakeholders.</a:t>
            </a:r>
          </a:p>
        </p:txBody>
      </p:sp>
      <p:sp>
        <p:nvSpPr>
          <p:cNvPr id="7" name="card_enab_cult"/>
          <p:cNvSpPr/>
          <p:nvPr/>
        </p:nvSpPr>
        <p:spPr>
          <a:xfrm>
            <a:off x="6233007" y="3925823"/>
            <a:ext cx="5547207" cy="22006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Culture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FDCEE"/>
                </a:solidFill>
                <a:latin typeface="Arial"/>
              </a:rPr>
              <a:t>Develop shared cultural norms for performance (e.g., accountability, behaviors).</a:t>
            </a:r>
          </a:p>
        </p:txBody>
      </p:sp>
      <p:sp>
        <p:nvSpPr>
          <p:cNvPr id="8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9" name="meta_pagenum_8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Many GHPs find some performance processes challenging given their complex environment and structure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hain_label"/>
          <p:cNvSpPr txBox="1"/>
          <p:nvPr/>
        </p:nvSpPr>
        <p:spPr>
          <a:xfrm>
            <a:off x="411480" y="145084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Performance management</a:t>
            </a:r>
          </a:p>
        </p:txBody>
      </p:sp>
      <p:sp>
        <p:nvSpPr>
          <p:cNvPr id="5" name="card_step_1"/>
          <p:cNvSpPr/>
          <p:nvPr/>
        </p:nvSpPr>
        <p:spPr>
          <a:xfrm>
            <a:off x="411480" y="1706880"/>
            <a:ext cx="1795729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Set objectives</a:t>
            </a:r>
          </a:p>
        </p:txBody>
      </p:sp>
      <p:sp>
        <p:nvSpPr>
          <p:cNvPr id="6" name="card_step_2"/>
          <p:cNvSpPr/>
          <p:nvPr/>
        </p:nvSpPr>
        <p:spPr>
          <a:xfrm>
            <a:off x="2326081" y="1706880"/>
            <a:ext cx="1795729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Set targets</a:t>
            </a:r>
          </a:p>
        </p:txBody>
      </p:sp>
      <p:sp>
        <p:nvSpPr>
          <p:cNvPr id="7" name="card_step_3"/>
          <p:cNvSpPr/>
          <p:nvPr/>
        </p:nvSpPr>
        <p:spPr>
          <a:xfrm>
            <a:off x="4240682" y="1706880"/>
            <a:ext cx="1795729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Establish clear metrics</a:t>
            </a:r>
          </a:p>
        </p:txBody>
      </p:sp>
      <p:sp>
        <p:nvSpPr>
          <p:cNvPr id="8" name="card_step_4"/>
          <p:cNvSpPr/>
          <p:nvPr/>
        </p:nvSpPr>
        <p:spPr>
          <a:xfrm>
            <a:off x="6155283" y="1706880"/>
            <a:ext cx="1795729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Track &amp; disseminate metrics</a:t>
            </a:r>
          </a:p>
        </p:txBody>
      </p:sp>
      <p:sp>
        <p:nvSpPr>
          <p:cNvPr id="9" name="card_step_5"/>
          <p:cNvSpPr/>
          <p:nvPr/>
        </p:nvSpPr>
        <p:spPr>
          <a:xfrm>
            <a:off x="8069884" y="1706880"/>
            <a:ext cx="1795729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Review performance</a:t>
            </a:r>
          </a:p>
        </p:txBody>
      </p:sp>
      <p:sp>
        <p:nvSpPr>
          <p:cNvPr id="10" name="card_step_6"/>
          <p:cNvSpPr/>
          <p:nvPr/>
        </p:nvSpPr>
        <p:spPr>
          <a:xfrm>
            <a:off x="9984485" y="1706880"/>
            <a:ext cx="1795729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Celebrate &amp; take further action</a:t>
            </a:r>
          </a:p>
        </p:txBody>
      </p:sp>
      <p:sp>
        <p:nvSpPr>
          <p:cNvPr id="11" name="background_band_cp_set"/>
          <p:cNvSpPr/>
          <p:nvPr/>
        </p:nvSpPr>
        <p:spPr>
          <a:xfrm>
            <a:off x="411480" y="2685288"/>
            <a:ext cx="363717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Setting objectives &amp; targets</a:t>
            </a:r>
          </a:p>
        </p:txBody>
      </p:sp>
      <p:sp>
        <p:nvSpPr>
          <p:cNvPr id="12" name="body_cp_set"/>
          <p:cNvSpPr txBox="1"/>
          <p:nvPr/>
        </p:nvSpPr>
        <p:spPr>
          <a:xfrm>
            <a:off x="411480" y="3096767"/>
            <a:ext cx="3637178" cy="3029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Getting from a vision to specific objectives for the partnership and its bodies, rather than directly to activities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Aligning divergent partner views on which objectives to pursue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Committing to targets is difficult because some targets are not entirely deliverable by the partnership, the voluntary nature of partnerships, and consequences of missing targets (e.g., future funding)</a:t>
            </a:r>
          </a:p>
        </p:txBody>
      </p:sp>
      <p:sp>
        <p:nvSpPr>
          <p:cNvPr id="13" name="background_band_cp_metrics"/>
          <p:cNvSpPr/>
          <p:nvPr/>
        </p:nvSpPr>
        <p:spPr>
          <a:xfrm>
            <a:off x="4277258" y="2685288"/>
            <a:ext cx="363717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Metrics &amp; data</a:t>
            </a:r>
          </a:p>
        </p:txBody>
      </p:sp>
      <p:sp>
        <p:nvSpPr>
          <p:cNvPr id="14" name="body_cp_metrics"/>
          <p:cNvSpPr txBox="1"/>
          <p:nvPr/>
        </p:nvSpPr>
        <p:spPr>
          <a:xfrm>
            <a:off x="4277258" y="3096767"/>
            <a:ext cx="3637178" cy="3029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Agreeing the right metrics for objectives that are difficult to measure, e.g., awareness about TB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Aligning organization structures with performance drivers and metrics to enable clear accountability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Getting good performance data given in-country data-gathering limitations</a:t>
            </a:r>
          </a:p>
        </p:txBody>
      </p:sp>
      <p:sp>
        <p:nvSpPr>
          <p:cNvPr id="15" name="background_band_cp_advoc"/>
          <p:cNvSpPr/>
          <p:nvPr/>
        </p:nvSpPr>
        <p:spPr>
          <a:xfrm>
            <a:off x="8143036" y="2685288"/>
            <a:ext cx="363717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Advocacy specifics</a:t>
            </a:r>
          </a:p>
        </p:txBody>
      </p:sp>
      <p:sp>
        <p:nvSpPr>
          <p:cNvPr id="16" name="body_cp_advoc"/>
          <p:cNvSpPr txBox="1"/>
          <p:nvPr/>
        </p:nvSpPr>
        <p:spPr>
          <a:xfrm>
            <a:off x="8143036" y="3096767"/>
            <a:ext cx="3637178" cy="3029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Setting advocacy objectives that stay current and relevant in changing external circumstances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Finding and making visible tactical advocacy opportunities for partners</a:t>
            </a:r>
          </a:p>
        </p:txBody>
      </p:sp>
      <p:sp>
        <p:nvSpPr>
          <p:cNvPr id="17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18" name="meta_pagenum_9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Many GHPs also struggle with the right enablers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338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ce_lead"/>
          <p:cNvSpPr/>
          <p:nvPr/>
        </p:nvSpPr>
        <p:spPr>
          <a:xfrm>
            <a:off x="411480" y="1298448"/>
            <a:ext cx="5547207" cy="22768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Committed leadership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FDCEE"/>
                </a:solidFill>
                <a:latin typeface="Arial"/>
              </a:rPr>
              <a:t>Ensuring leaders regularly lead and participate in performance reviews, in spite of many other calls on their time.</a:t>
            </a:r>
          </a:p>
        </p:txBody>
      </p:sp>
      <p:sp>
        <p:nvSpPr>
          <p:cNvPr id="5" name="card_ce_cap"/>
          <p:cNvSpPr/>
          <p:nvPr/>
        </p:nvSpPr>
        <p:spPr>
          <a:xfrm>
            <a:off x="6233007" y="1298448"/>
            <a:ext cx="5547207" cy="22768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Capacity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FDCEE"/>
                </a:solidFill>
                <a:latin typeface="Arial"/>
              </a:rPr>
              <a:t>Allocating appropriate resources to performance management given limited resources for internal processes.</a:t>
            </a:r>
          </a:p>
        </p:txBody>
      </p:sp>
      <p:sp>
        <p:nvSpPr>
          <p:cNvPr id="6" name="card_ce_comm"/>
          <p:cNvSpPr/>
          <p:nvPr/>
        </p:nvSpPr>
        <p:spPr>
          <a:xfrm>
            <a:off x="411480" y="3849624"/>
            <a:ext cx="5547207" cy="22768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Communications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FDCEE"/>
                </a:solidFill>
                <a:latin typeface="Arial"/>
              </a:rPr>
              <a:t>Establishing a shared understanding of accountability across the different backgrounds of partners; keeping partners in a loose working group engaged and motivated.</a:t>
            </a:r>
          </a:p>
        </p:txBody>
      </p:sp>
      <p:sp>
        <p:nvSpPr>
          <p:cNvPr id="7" name="card_ce_cult"/>
          <p:cNvSpPr/>
          <p:nvPr/>
        </p:nvSpPr>
        <p:spPr>
          <a:xfrm>
            <a:off x="6233007" y="3849624"/>
            <a:ext cx="5547207" cy="22768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Culture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FDCEE"/>
                </a:solidFill>
                <a:latin typeface="Arial"/>
              </a:rPr>
              <a:t>Moving from a culture of performance measurement (extensive reporting) to performance management (open discussion of outcomes); defining ambitious goals despite a consensus-building culture that tends toward abstract objectives.</a:t>
            </a:r>
          </a:p>
        </p:txBody>
      </p:sp>
      <p:sp>
        <p:nvSpPr>
          <p:cNvPr id="8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9" name="meta_pagenum_10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The Stop TB Partnership displays a number of strengths across performance processes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band_strengths"/>
          <p:cNvSpPr/>
          <p:nvPr/>
        </p:nvSpPr>
        <p:spPr>
          <a:xfrm>
            <a:off x="411480" y="1450848"/>
            <a:ext cx="11368735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Strengths across the performance process</a:t>
            </a:r>
          </a:p>
        </p:txBody>
      </p:sp>
      <p:sp>
        <p:nvSpPr>
          <p:cNvPr id="5" name="body_strengths"/>
          <p:cNvSpPr txBox="1"/>
          <p:nvPr/>
        </p:nvSpPr>
        <p:spPr>
          <a:xfrm>
            <a:off x="411480" y="1871472"/>
            <a:ext cx="11368735" cy="4255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Aft>
                <a:spcPts val="10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Setting objectives — </a:t>
            </a:r>
            <a:r>
              <a:rPr sz="1300" b="0" i="0">
                <a:solidFill>
                  <a:srgbClr val="2C3E50"/>
                </a:solidFill>
                <a:latin typeface="Arial"/>
              </a:rPr>
              <a:t>GDF objectives are clearly defined and distinguish the change GDF hopes to bring about in the world (e.g., MDGs — 70% of TB cases diagnosed, 85% cure rate) from the internal goals it sets itself</a:t>
            </a:r>
          </a:p>
          <a:p>
            <a:pPr algn="l" marL="181610" indent="-181610">
              <a:spcAft>
                <a:spcPts val="10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Tracking and disseminating metrics — </a:t>
            </a:r>
            <a:r>
              <a:rPr sz="1300" b="0" i="0">
                <a:solidFill>
                  <a:srgbClr val="2C3E50"/>
                </a:solidFill>
                <a:latin typeface="Arial"/>
              </a:rPr>
              <a:t>despite limited resources, GDF tracks and reports on a wide variety of metrics to meet the different demands of donors</a:t>
            </a:r>
          </a:p>
          <a:p>
            <a:pPr algn="l" marL="181610" indent="-181610">
              <a:spcAft>
                <a:spcPts val="10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Establishing clear metrics and setting targets — </a:t>
            </a:r>
            <a:r>
              <a:rPr sz="1300" b="0" i="0">
                <a:solidFill>
                  <a:srgbClr val="2C3E50"/>
                </a:solidFill>
                <a:latin typeface="Arial"/>
              </a:rPr>
              <a:t>the MDR-TB Working Group defines concrete metrics (e.g., patients with access to MDR-TB treatment) and sets specific targets (e.g., for 2009: 200,000 patients, 4 projects)</a:t>
            </a:r>
          </a:p>
          <a:p>
            <a:pPr algn="l" marL="181610" indent="-181610">
              <a:spcAft>
                <a:spcPts val="10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Reviewing performance — </a:t>
            </a:r>
            <a:r>
              <a:rPr sz="1300" b="0" i="0">
                <a:solidFill>
                  <a:srgbClr val="2C3E50"/>
                </a:solidFill>
                <a:latin typeface="Arial"/>
              </a:rPr>
              <a:t>the Advocacy Team conducts an in-depth review of performance against objectives stated in its funding proposal, taking stock of results and lessons learned</a:t>
            </a:r>
          </a:p>
        </p:txBody>
      </p:sp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analysis; interviews.</a:t>
            </a:r>
          </a:p>
        </p:txBody>
      </p:sp>
      <p:sp>
        <p:nvSpPr>
          <p:cNvPr id="7" name="meta_pagenum_11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Brief overview of performance issues we jointly agreed to address across the five Partnership bodies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agreed"/>
          <p:cNvSpPr txBox="1"/>
          <p:nvPr/>
        </p:nvSpPr>
        <p:spPr>
          <a:xfrm>
            <a:off x="411480" y="145084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Agreed performance issues by Partnership body</a:t>
            </a:r>
          </a:p>
        </p:txBody>
      </p:sp>
      <p:graphicFrame>
        <p:nvGraphicFramePr>
          <p:cNvPr id="5" name="table_agreed"/>
          <p:cNvGraphicFramePr>
            <a:graphicFrameLocks noGrp="1"/>
          </p:cNvGraphicFramePr>
          <p:nvPr/>
        </p:nvGraphicFramePr>
        <p:xfrm>
          <a:off x="411480" y="1688592"/>
          <a:ext cx="11365992" cy="4392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4114800"/>
                <a:gridCol w="4965192"/>
              </a:tblGrid>
              <a:tr h="7320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Partnership body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Central GHP performance issue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Specific question addressed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7320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GDF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GDF tracks 250 metrics, but not all relate to GDF, some overlap, and metrics are not organized hierarchically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20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Advocacy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Setting advocacy objectives that stay current and relevant in changing external circumstances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Setting advocacy objectives within Stop TB that stay current; finding and making visible tactical opportunities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7320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Comms, Marketing &amp; Branding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Determining detailed objectives for each audience group and defining metrics for 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20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Challenge Facility for Civil Society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Refining the mission based on the first two years' experience and articulating specific objectives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7320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MDR-TB Working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Tying metrics explicitly to WG objectives; clarifying accountabilities and timelines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2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While most of the 250 metrics were relevant and helpful to GDF, data collection and reporting was onerous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quote_1"/>
          <p:cNvSpPr/>
          <p:nvPr/>
        </p:nvSpPr>
        <p:spPr>
          <a:xfrm>
            <a:off x="411480" y="1542288"/>
            <a:ext cx="2705023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E6DB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C3E50"/>
                </a:solidFill>
                <a:latin typeface="Arial"/>
              </a:rPr>
              <a:t>All together we report on over 200 KPIs that cover our numerous external reporting requirements</a:t>
            </a:r>
          </a:p>
        </p:txBody>
      </p:sp>
      <p:sp>
        <p:nvSpPr>
          <p:cNvPr id="5" name="card_quote_2"/>
          <p:cNvSpPr/>
          <p:nvPr/>
        </p:nvSpPr>
        <p:spPr>
          <a:xfrm>
            <a:off x="3299383" y="1542288"/>
            <a:ext cx="2705023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E6DB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C3E50"/>
                </a:solidFill>
                <a:latin typeface="Arial"/>
              </a:rPr>
              <a:t>Most individual KPIs are relevant and helpful</a:t>
            </a:r>
          </a:p>
        </p:txBody>
      </p:sp>
      <p:sp>
        <p:nvSpPr>
          <p:cNvPr id="6" name="card_quote_3"/>
          <p:cNvSpPr/>
          <p:nvPr/>
        </p:nvSpPr>
        <p:spPr>
          <a:xfrm>
            <a:off x="6187287" y="1542288"/>
            <a:ext cx="2705023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E6DB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C3E50"/>
                </a:solidFill>
                <a:latin typeface="Arial"/>
              </a:rPr>
              <a:t>KPIs are specific and measurable</a:t>
            </a:r>
          </a:p>
        </p:txBody>
      </p:sp>
      <p:sp>
        <p:nvSpPr>
          <p:cNvPr id="7" name="card_quote_4"/>
          <p:cNvSpPr/>
          <p:nvPr/>
        </p:nvSpPr>
        <p:spPr>
          <a:xfrm>
            <a:off x="9075191" y="1542288"/>
            <a:ext cx="2705023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E6DB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C3E50"/>
                </a:solidFill>
                <a:latin typeface="Arial"/>
              </a:rPr>
              <a:t>It is difficult to define metrics for some areas, so we have KPI gaps</a:t>
            </a:r>
          </a:p>
        </p:txBody>
      </p:sp>
      <p:sp>
        <p:nvSpPr>
          <p:cNvPr id="8" name="card_quote_5"/>
          <p:cNvSpPr/>
          <p:nvPr/>
        </p:nvSpPr>
        <p:spPr>
          <a:xfrm>
            <a:off x="411480" y="2959608"/>
            <a:ext cx="2705023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E6DB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C3E50"/>
                </a:solidFill>
                <a:latin typeface="Arial"/>
              </a:rPr>
              <a:t>Some of our KPIs overlap, so it is unclear what we are optimizing for</a:t>
            </a:r>
          </a:p>
        </p:txBody>
      </p:sp>
      <p:sp>
        <p:nvSpPr>
          <p:cNvPr id="9" name="card_quote_6"/>
          <p:cNvSpPr/>
          <p:nvPr/>
        </p:nvSpPr>
        <p:spPr>
          <a:xfrm>
            <a:off x="3299383" y="2959608"/>
            <a:ext cx="2705023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E6DB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C3E50"/>
                </a:solidFill>
                <a:latin typeface="Arial"/>
              </a:rPr>
              <a:t>It takes too much time to collect the information and adapt it to our 200+ KPIs</a:t>
            </a:r>
          </a:p>
        </p:txBody>
      </p:sp>
      <p:sp>
        <p:nvSpPr>
          <p:cNvPr id="10" name="card_quote_7"/>
          <p:cNvSpPr/>
          <p:nvPr/>
        </p:nvSpPr>
        <p:spPr>
          <a:xfrm>
            <a:off x="6187287" y="2959608"/>
            <a:ext cx="2705023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E6DB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C3E50"/>
                </a:solidFill>
                <a:latin typeface="Arial"/>
              </a:rPr>
              <a:t>Since the hierarchy of KPIs is not clear, it is hard to prioritize</a:t>
            </a:r>
          </a:p>
        </p:txBody>
      </p:sp>
      <p:sp>
        <p:nvSpPr>
          <p:cNvPr id="11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Interviews.</a:t>
            </a:r>
          </a:p>
        </p:txBody>
      </p:sp>
      <p:sp>
        <p:nvSpPr>
          <p:cNvPr id="12" name="meta_pagenum_13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The team followed an eight-step process to create streamlined, structured KPIs, dashboards, and review meetings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step_a"/>
          <p:cNvSpPr/>
          <p:nvPr/>
        </p:nvSpPr>
        <p:spPr>
          <a:xfrm>
            <a:off x="411480" y="1542288"/>
            <a:ext cx="2705023" cy="137160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6DB4"/>
                </a:solidFill>
                <a:latin typeface="Arial"/>
              </a:rPr>
              <a:t>a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Arial"/>
              </a:rPr>
              <a:t>Collate all GDF metrics reported on into one database: ~250 in total</a:t>
            </a:r>
          </a:p>
        </p:txBody>
      </p:sp>
      <p:sp>
        <p:nvSpPr>
          <p:cNvPr id="5" name="card_step_b"/>
          <p:cNvSpPr/>
          <p:nvPr/>
        </p:nvSpPr>
        <p:spPr>
          <a:xfrm>
            <a:off x="3299383" y="1542288"/>
            <a:ext cx="2705023" cy="137160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6DB4"/>
                </a:solidFill>
                <a:latin typeface="Arial"/>
              </a:rPr>
              <a:t>b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Arial"/>
              </a:rPr>
              <a:t>Agree on GDF objectives and cluster metrics/KPIs to objectives</a:t>
            </a:r>
          </a:p>
        </p:txBody>
      </p:sp>
      <p:sp>
        <p:nvSpPr>
          <p:cNvPr id="6" name="card_step_c"/>
          <p:cNvSpPr/>
          <p:nvPr/>
        </p:nvSpPr>
        <p:spPr>
          <a:xfrm>
            <a:off x="6187287" y="1542288"/>
            <a:ext cx="2705023" cy="137160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6DB4"/>
                </a:solidFill>
                <a:latin typeface="Arial"/>
              </a:rPr>
              <a:t>c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Arial"/>
              </a:rPr>
              <a:t>Develop a detailed KPI tree for each objective</a:t>
            </a:r>
          </a:p>
        </p:txBody>
      </p:sp>
      <p:sp>
        <p:nvSpPr>
          <p:cNvPr id="7" name="card_step_d"/>
          <p:cNvSpPr/>
          <p:nvPr/>
        </p:nvSpPr>
        <p:spPr>
          <a:xfrm>
            <a:off x="9075191" y="1542288"/>
            <a:ext cx="2705023" cy="137160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6DB4"/>
                </a:solidFill>
                <a:latin typeface="Arial"/>
              </a:rPr>
              <a:t>d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Arial"/>
              </a:rPr>
              <a:t>Streamline detailed trees, excluding activity-related or non-GDF-owned KPIs</a:t>
            </a:r>
          </a:p>
        </p:txBody>
      </p:sp>
      <p:sp>
        <p:nvSpPr>
          <p:cNvPr id="8" name="card_step_e"/>
          <p:cNvSpPr/>
          <p:nvPr/>
        </p:nvSpPr>
        <p:spPr>
          <a:xfrm>
            <a:off x="411480" y="3142488"/>
            <a:ext cx="2705023" cy="137160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6DB4"/>
                </a:solidFill>
                <a:latin typeface="Arial"/>
              </a:rPr>
              <a:t>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Arial"/>
              </a:rPr>
              <a:t>Assign owners to, and define review frequency of, each KPI</a:t>
            </a:r>
          </a:p>
        </p:txBody>
      </p:sp>
      <p:sp>
        <p:nvSpPr>
          <p:cNvPr id="9" name="card_step_f"/>
          <p:cNvSpPr/>
          <p:nvPr/>
        </p:nvSpPr>
        <p:spPr>
          <a:xfrm>
            <a:off x="3299383" y="3142488"/>
            <a:ext cx="2705023" cy="137160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6DB4"/>
                </a:solidFill>
                <a:latin typeface="Arial"/>
              </a:rPr>
              <a:t>f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Arial"/>
              </a:rPr>
              <a:t>Develop a clear cascade of KPIs from teams up to the COO annual performance review</a:t>
            </a:r>
          </a:p>
        </p:txBody>
      </p:sp>
      <p:sp>
        <p:nvSpPr>
          <p:cNvPr id="10" name="card_step_g"/>
          <p:cNvSpPr/>
          <p:nvPr/>
        </p:nvSpPr>
        <p:spPr>
          <a:xfrm>
            <a:off x="6187287" y="3142488"/>
            <a:ext cx="2705023" cy="137160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6DB4"/>
                </a:solidFill>
                <a:latin typeface="Arial"/>
              </a:rPr>
              <a:t>g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Arial"/>
              </a:rPr>
              <a:t>Create dashboards and review calendars for each team</a:t>
            </a:r>
          </a:p>
        </p:txBody>
      </p:sp>
      <p:sp>
        <p:nvSpPr>
          <p:cNvPr id="11" name="card_step_h"/>
          <p:cNvSpPr/>
          <p:nvPr/>
        </p:nvSpPr>
        <p:spPr>
          <a:xfrm>
            <a:off x="9075191" y="3142488"/>
            <a:ext cx="2705023" cy="1371600"/>
          </a:xfrm>
          <a:prstGeom prst="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6DB4"/>
                </a:solidFill>
                <a:latin typeface="Arial"/>
              </a:rPr>
              <a:t>h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Arial"/>
              </a:rPr>
              <a:t>Hold a workshop on conducting performance dialogues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3" name="meta_pagenum_14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Seven KPIs give a clear overview of GDF's performance against its three main objectives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kpitree"/>
          <p:cNvSpPr txBox="1"/>
          <p:nvPr/>
        </p:nvSpPr>
        <p:spPr>
          <a:xfrm>
            <a:off x="411480" y="145084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GDF KPI tree mapped to three main objectives</a:t>
            </a:r>
          </a:p>
        </p:txBody>
      </p:sp>
      <p:graphicFrame>
        <p:nvGraphicFramePr>
          <p:cNvPr id="5" name="table_kpitree"/>
          <p:cNvGraphicFramePr>
            <a:graphicFrameLocks noGrp="1"/>
          </p:cNvGraphicFramePr>
          <p:nvPr/>
        </p:nvGraphicFramePr>
        <p:xfrm>
          <a:off x="411480" y="1688592"/>
          <a:ext cx="11365992" cy="4392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/>
                <a:gridCol w="6766560"/>
                <a:gridCol w="4142232"/>
              </a:tblGrid>
              <a:tr h="54902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4902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1a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Provide uninterrupted supply of 1st- and 2nd-line TB drugs and diagnostics (low-cost, high-quality, timely, demand-driven, to eligible countries)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Number of patient treatments delivered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902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1b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Average cost per patient treatment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4902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2a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Sustainably strengthen eligible countries' national drug management, procurement capacity, and financial self-sufficiency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Number of countries that move to direct 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902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3a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Ensure appropriate and efficient staffing and funding to drive the mission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Organizational health and culture index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4902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Staff capacity and capability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902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3c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Funds raised vs. required for GDF administrative costs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4902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Funds raised vs. required for GDF 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analysis; Annual GDF report 2008.</a:t>
            </a:r>
          </a:p>
        </p:txBody>
      </p:sp>
      <p:sp>
        <p:nvSpPr>
          <p:cNvPr id="7" name="meta_pagenum_15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eyebrow"/>
          <p:cNvSpPr txBox="1"/>
          <p:nvPr/>
        </p:nvSpPr>
        <p:spPr>
          <a:xfrm>
            <a:off x="411480" y="274320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DB4"/>
                </a:solidFill>
                <a:latin typeface="Arial"/>
              </a:rPr>
              <a:t>ILLUSTRATIVE — DUMMY NUMBERS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The COO's annual dashboard tracks cost and volume against target across treatment lines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_dash"/>
          <p:cNvSpPr txBox="1"/>
          <p:nvPr/>
        </p:nvSpPr>
        <p:spPr>
          <a:xfrm>
            <a:off x="411480" y="145084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Average cost per patient treatment or diagnostic unit (USD), Actual vs. Target</a:t>
            </a:r>
          </a:p>
        </p:txBody>
      </p:sp>
      <p:graphicFrame>
        <p:nvGraphicFramePr>
          <p:cNvPr id="6" name="chart_dashboard"/>
          <p:cNvGraphicFramePr>
            <a:graphicFrameLocks noGrp="1"/>
          </p:cNvGraphicFramePr>
          <p:nvPr/>
        </p:nvGraphicFramePr>
        <p:xfrm>
          <a:off x="411480" y="1688592"/>
          <a:ext cx="68580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aption_table_funds"/>
          <p:cNvSpPr txBox="1"/>
          <p:nvPr/>
        </p:nvSpPr>
        <p:spPr>
          <a:xfrm>
            <a:off x="7589520" y="1450848"/>
            <a:ext cx="41906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Funds raised vs. required ($M)</a:t>
            </a:r>
          </a:p>
        </p:txBody>
      </p:sp>
      <p:graphicFrame>
        <p:nvGraphicFramePr>
          <p:cNvPr id="8" name="table_funds"/>
          <p:cNvGraphicFramePr>
            <a:graphicFrameLocks noGrp="1"/>
          </p:cNvGraphicFramePr>
          <p:nvPr/>
        </p:nvGraphicFramePr>
        <p:xfrm>
          <a:off x="7589520" y="1688592"/>
          <a:ext cx="3977640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1143000"/>
                <a:gridCol w="12801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Stream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Raised (X)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Required (Y)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GDF 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GDF administration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1.7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9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analysis. Dummy numbers for illustration.</a:t>
            </a:r>
          </a:p>
        </p:txBody>
      </p:sp>
      <p:sp>
        <p:nvSpPr>
          <p:cNvPr id="10" name="meta_pagenum_16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Next steps to implement and capture benefits at GDF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338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gdfnext"/>
          <p:cNvSpPr txBox="1"/>
          <p:nvPr/>
        </p:nvSpPr>
        <p:spPr>
          <a:xfrm>
            <a:off x="411480" y="129844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GDF next-step actions and descriptions</a:t>
            </a:r>
          </a:p>
        </p:txBody>
      </p:sp>
      <p:graphicFrame>
        <p:nvGraphicFramePr>
          <p:cNvPr id="5" name="table_gdfnext"/>
          <p:cNvGraphicFramePr>
            <a:graphicFrameLocks noGrp="1"/>
          </p:cNvGraphicFramePr>
          <p:nvPr/>
        </p:nvGraphicFramePr>
        <p:xfrm>
          <a:off x="411480" y="1536192"/>
          <a:ext cx="11365991" cy="454456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8257031"/>
              </a:tblGrid>
              <a:tr h="9089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90891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Share KPI trees with donors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Present the GDF KPI tree to donors, compare with metrics they request, and agree on any additional KPIs to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891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Integrate KPIs into MIS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Establish simple mechanisms within GDF's existing MIS to input and analyze the data required for KPIs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90891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Complete performance-dialogue workshop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Run a two-hour workshop with GDF team leads on facilitating constructive performance dialogues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891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Embed KPIs in team performance review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Assign reporting responsibilities, schedule review meetings, complete one round of reviews, and refine based on feedback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7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Three steps ensure that emerging opportunities are incorporated into advocacy partners' plans and the Framework Document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band_adv_step1"/>
          <p:cNvSpPr/>
          <p:nvPr/>
        </p:nvSpPr>
        <p:spPr>
          <a:xfrm>
            <a:off x="411480" y="1450848"/>
            <a:ext cx="360669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Step I · “Develop the sunflower”</a:t>
            </a:r>
          </a:p>
        </p:txBody>
      </p:sp>
      <p:sp>
        <p:nvSpPr>
          <p:cNvPr id="5" name="body_adv_step1"/>
          <p:cNvSpPr txBox="1"/>
          <p:nvPr/>
        </p:nvSpPr>
        <p:spPr>
          <a:xfrm>
            <a:off x="411480" y="1862328"/>
            <a:ext cx="3606698" cy="4264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Aft>
                <a:spcPts val="6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Get more information: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Make advocacy every partner's business and increase information sharing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Extend the reach of TB advocacy beyond the Partnership</a:t>
            </a:r>
          </a:p>
        </p:txBody>
      </p:sp>
      <p:sp>
        <p:nvSpPr>
          <p:cNvPr id="6" name="background_band_adv_step2"/>
          <p:cNvSpPr/>
          <p:nvPr/>
        </p:nvSpPr>
        <p:spPr>
          <a:xfrm>
            <a:off x="4292498" y="1450848"/>
            <a:ext cx="360669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Step II · “Filter the intelligence”</a:t>
            </a:r>
          </a:p>
        </p:txBody>
      </p:sp>
      <p:sp>
        <p:nvSpPr>
          <p:cNvPr id="7" name="body_adv_step2"/>
          <p:cNvSpPr txBox="1"/>
          <p:nvPr/>
        </p:nvSpPr>
        <p:spPr>
          <a:xfrm>
            <a:off x="4292498" y="1862328"/>
            <a:ext cx="3606698" cy="4264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Aft>
                <a:spcPts val="6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Filter the information received: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Set up a process that filters information for validity, impact, global relevance, and feasibility</a:t>
            </a:r>
          </a:p>
        </p:txBody>
      </p:sp>
      <p:sp>
        <p:nvSpPr>
          <p:cNvPr id="8" name="background_band_adv_step3"/>
          <p:cNvSpPr/>
          <p:nvPr/>
        </p:nvSpPr>
        <p:spPr>
          <a:xfrm>
            <a:off x="8173516" y="1450848"/>
            <a:ext cx="360669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Step III · “Keep the framework relevant”</a:t>
            </a:r>
          </a:p>
        </p:txBody>
      </p:sp>
      <p:sp>
        <p:nvSpPr>
          <p:cNvPr id="9" name="body_adv_step3"/>
          <p:cNvSpPr txBox="1"/>
          <p:nvPr/>
        </p:nvSpPr>
        <p:spPr>
          <a:xfrm>
            <a:off x="8173516" y="1862328"/>
            <a:ext cx="3606698" cy="4264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Aft>
                <a:spcPts val="6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Create or adjust objectives and plans: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For tactical opportunities requiring immediate action, create new or adjusted objectives and define what success looks like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For all other opportunities, draft adjustments into the Framework Document and seek advice from the AAC</a:t>
            </a:r>
          </a:p>
        </p:txBody>
      </p:sp>
      <p:sp>
        <p:nvSpPr>
          <p:cNvPr id="10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Workshops.</a:t>
            </a:r>
          </a:p>
        </p:txBody>
      </p:sp>
      <p:sp>
        <p:nvSpPr>
          <p:cNvPr id="11" name="meta_pagenum_18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eyebrow"/>
          <p:cNvSpPr txBox="1"/>
          <p:nvPr/>
        </p:nvSpPr>
        <p:spPr>
          <a:xfrm>
            <a:off x="411480" y="274320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DB4"/>
                </a:solidFill>
                <a:latin typeface="Arial"/>
              </a:rPr>
              <a:t>PRELIMINARY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Information from an active, extended network is filtered across four criteria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1338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rd_filter_validity"/>
          <p:cNvSpPr/>
          <p:nvPr/>
        </p:nvSpPr>
        <p:spPr>
          <a:xfrm>
            <a:off x="411480" y="1389888"/>
            <a:ext cx="2622727" cy="2377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Validity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DCEE"/>
                </a:solidFill>
                <a:latin typeface="Arial"/>
              </a:rPr>
              <a:t>The received information is checked for validity with a second source: “Is the information accurate and true?”</a:t>
            </a:r>
          </a:p>
        </p:txBody>
      </p:sp>
      <p:sp>
        <p:nvSpPr>
          <p:cNvPr id="6" name="meta_arrow_1"/>
          <p:cNvSpPr txBox="1"/>
          <p:nvPr/>
        </p:nvSpPr>
        <p:spPr>
          <a:xfrm>
            <a:off x="3070783" y="2441448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6DB4"/>
                </a:solidFill>
                <a:latin typeface="Arial"/>
              </a:rPr>
              <a:t>→</a:t>
            </a:r>
          </a:p>
        </p:txBody>
      </p:sp>
      <p:sp>
        <p:nvSpPr>
          <p:cNvPr id="7" name="card_filter_global"/>
          <p:cNvSpPr/>
          <p:nvPr/>
        </p:nvSpPr>
        <p:spPr>
          <a:xfrm>
            <a:off x="3326815" y="1389888"/>
            <a:ext cx="2622727" cy="2377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Global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DCEE"/>
                </a:solidFill>
                <a:latin typeface="Arial"/>
              </a:rPr>
              <a:t>The information is filtered for global relevance: “Does it have implications beyond local/national boundaries?”</a:t>
            </a:r>
          </a:p>
        </p:txBody>
      </p:sp>
      <p:sp>
        <p:nvSpPr>
          <p:cNvPr id="8" name="meta_arrow_2"/>
          <p:cNvSpPr txBox="1"/>
          <p:nvPr/>
        </p:nvSpPr>
        <p:spPr>
          <a:xfrm>
            <a:off x="5986119" y="2441448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6DB4"/>
                </a:solidFill>
                <a:latin typeface="Arial"/>
              </a:rPr>
              <a:t>→</a:t>
            </a:r>
          </a:p>
        </p:txBody>
      </p:sp>
      <p:sp>
        <p:nvSpPr>
          <p:cNvPr id="9" name="card_filter_impact"/>
          <p:cNvSpPr/>
          <p:nvPr/>
        </p:nvSpPr>
        <p:spPr>
          <a:xfrm>
            <a:off x="6242151" y="1389888"/>
            <a:ext cx="2622727" cy="2377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Impact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DCEE"/>
                </a:solidFill>
                <a:latin typeface="Arial"/>
              </a:rPr>
              <a:t>Once validated, the information is filtered for work-plan impact: can it affect policy, donors, or public opinion?</a:t>
            </a:r>
          </a:p>
        </p:txBody>
      </p:sp>
      <p:sp>
        <p:nvSpPr>
          <p:cNvPr id="10" name="meta_arrow_3"/>
          <p:cNvSpPr txBox="1"/>
          <p:nvPr/>
        </p:nvSpPr>
        <p:spPr>
          <a:xfrm>
            <a:off x="8901455" y="2441448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6DB4"/>
                </a:solidFill>
                <a:latin typeface="Arial"/>
              </a:rPr>
              <a:t>→</a:t>
            </a:r>
          </a:p>
        </p:txBody>
      </p:sp>
      <p:sp>
        <p:nvSpPr>
          <p:cNvPr id="11" name="card_filter_feasibility"/>
          <p:cNvSpPr/>
          <p:nvPr/>
        </p:nvSpPr>
        <p:spPr>
          <a:xfrm>
            <a:off x="9157487" y="1389888"/>
            <a:ext cx="2622727" cy="2377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Feasibility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DCEE"/>
                </a:solidFill>
                <a:latin typeface="Arial"/>
              </a:rPr>
              <a:t>Determine whether the information can feasibly and realistically be translated into sufficiently impactful activities.</a:t>
            </a:r>
          </a:p>
        </p:txBody>
      </p:sp>
      <p:sp>
        <p:nvSpPr>
          <p:cNvPr id="12" name="meta_filter_in"/>
          <p:cNvSpPr txBox="1"/>
          <p:nvPr/>
        </p:nvSpPr>
        <p:spPr>
          <a:xfrm>
            <a:off x="411480" y="39136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Unfiltered information in  →</a:t>
            </a:r>
          </a:p>
        </p:txBody>
      </p:sp>
      <p:sp>
        <p:nvSpPr>
          <p:cNvPr id="13" name="meta_filter_out"/>
          <p:cNvSpPr txBox="1"/>
          <p:nvPr/>
        </p:nvSpPr>
        <p:spPr>
          <a:xfrm>
            <a:off x="7208215" y="39136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→  Filtered intelligence out</a:t>
            </a:r>
          </a:p>
        </p:txBody>
      </p:sp>
      <p:sp>
        <p:nvSpPr>
          <p:cNvPr id="14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Workshops. Apply the filter at the start of advocacy meetings.</a:t>
            </a:r>
          </a:p>
        </p:txBody>
      </p:sp>
      <p:sp>
        <p:nvSpPr>
          <p:cNvPr id="15" name="meta_pagenum_19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High-level objectives relate to three areas — raising awareness, engaging TB networks, and supporting the Secretariat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mission"/>
          <p:cNvSpPr/>
          <p:nvPr/>
        </p:nvSpPr>
        <p:spPr>
          <a:xfrm>
            <a:off x="411480" y="1450848"/>
            <a:ext cx="11368735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eta_mission"/>
          <p:cNvSpPr txBox="1"/>
          <p:nvPr/>
        </p:nvSpPr>
        <p:spPr>
          <a:xfrm>
            <a:off x="548640" y="145084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Mission: Inspire the world into action against tuberculosis (TB)</a:t>
            </a:r>
          </a:p>
        </p:txBody>
      </p:sp>
      <p:sp>
        <p:nvSpPr>
          <p:cNvPr id="6" name="background_band_cmb_obj1"/>
          <p:cNvSpPr/>
          <p:nvPr/>
        </p:nvSpPr>
        <p:spPr>
          <a:xfrm>
            <a:off x="411480" y="2136648"/>
            <a:ext cx="363717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1 · Raise awareness about TB among:</a:t>
            </a:r>
          </a:p>
        </p:txBody>
      </p:sp>
      <p:sp>
        <p:nvSpPr>
          <p:cNvPr id="7" name="body_cmb_obj1"/>
          <p:cNvSpPr txBox="1"/>
          <p:nvPr/>
        </p:nvSpPr>
        <p:spPr>
          <a:xfrm>
            <a:off x="411480" y="2548128"/>
            <a:ext cx="3637178" cy="3578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Aft>
                <a:spcPts val="6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A — </a:t>
            </a:r>
            <a:r>
              <a:rPr sz="1300" b="0" i="0">
                <a:solidFill>
                  <a:srgbClr val="2C3E50"/>
                </a:solidFill>
                <a:latin typeface="Arial"/>
              </a:rPr>
              <a:t>The “fourth estate” (news media)</a:t>
            </a:r>
          </a:p>
          <a:p>
            <a:pPr algn="l" marL="181610" indent="-181610">
              <a:spcAft>
                <a:spcPts val="6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B — </a:t>
            </a:r>
            <a:r>
              <a:rPr sz="1300" b="0" i="0">
                <a:solidFill>
                  <a:srgbClr val="2C3E50"/>
                </a:solidFill>
                <a:latin typeface="Arial"/>
              </a:rPr>
              <a:t>Members of the public in donor countries and selected high-burden countries / BRIC+2</a:t>
            </a:r>
          </a:p>
          <a:p>
            <a:pPr algn="l" marL="181610" indent="-181610">
              <a:spcAft>
                <a:spcPts val="600"/>
              </a:spcAft>
              <a:buFont typeface="Arial"/>
              <a:buChar char="▪"/>
            </a:pPr>
            <a:r>
              <a:rPr sz="1300" b="1" i="0">
                <a:solidFill>
                  <a:srgbClr val="2C3E50"/>
                </a:solidFill>
                <a:latin typeface="Arial"/>
              </a:rPr>
              <a:t>C — </a:t>
            </a:r>
            <a:r>
              <a:rPr sz="1300" b="0" i="0">
                <a:solidFill>
                  <a:srgbClr val="2C3E50"/>
                </a:solidFill>
                <a:latin typeface="Arial"/>
              </a:rPr>
              <a:t>Selected institutions</a:t>
            </a:r>
          </a:p>
        </p:txBody>
      </p:sp>
      <p:sp>
        <p:nvSpPr>
          <p:cNvPr id="8" name="background_band_cmb_obj2"/>
          <p:cNvSpPr/>
          <p:nvPr/>
        </p:nvSpPr>
        <p:spPr>
          <a:xfrm>
            <a:off x="4277258" y="2136648"/>
            <a:ext cx="363717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2 · Engage TB networks</a:t>
            </a:r>
          </a:p>
        </p:txBody>
      </p:sp>
      <p:sp>
        <p:nvSpPr>
          <p:cNvPr id="9" name="body_cmb_obj2"/>
          <p:cNvSpPr txBox="1"/>
          <p:nvPr/>
        </p:nvSpPr>
        <p:spPr>
          <a:xfrm>
            <a:off x="4277258" y="2548128"/>
            <a:ext cx="3637178" cy="3578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Engage, support, and foster a shared sense of purpose among partners and other members of TB networks</a:t>
            </a:r>
          </a:p>
        </p:txBody>
      </p:sp>
      <p:sp>
        <p:nvSpPr>
          <p:cNvPr id="10" name="background_band_cmb_obj3"/>
          <p:cNvSpPr/>
          <p:nvPr/>
        </p:nvSpPr>
        <p:spPr>
          <a:xfrm>
            <a:off x="8143036" y="2136648"/>
            <a:ext cx="3637178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3 · Support the Secretariat</a:t>
            </a:r>
          </a:p>
        </p:txBody>
      </p:sp>
      <p:sp>
        <p:nvSpPr>
          <p:cNvPr id="11" name="body_cmb_obj3"/>
          <p:cNvSpPr txBox="1"/>
          <p:nvPr/>
        </p:nvSpPr>
        <p:spPr>
          <a:xfrm>
            <a:off x="8143036" y="2548128"/>
            <a:ext cx="3637178" cy="3578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Provide coordinated support for the core work of the Secretariat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Note: BRIC+2 = Brazil, Russia, India, China, Indonesia, and South Africa. Source: Team discussion.</a:t>
            </a:r>
          </a:p>
        </p:txBody>
      </p:sp>
      <p:sp>
        <p:nvSpPr>
          <p:cNvPr id="13" name="meta_pagenum_20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For each high-level objective, audience groups, objectives, metrics, and targets have been defined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cmbtargets"/>
          <p:cNvSpPr txBox="1"/>
          <p:nvPr/>
        </p:nvSpPr>
        <p:spPr>
          <a:xfrm>
            <a:off x="411480" y="145084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Audience groups with objectives, metrics, and targets</a:t>
            </a:r>
          </a:p>
        </p:txBody>
      </p:sp>
      <p:graphicFrame>
        <p:nvGraphicFramePr>
          <p:cNvPr id="5" name="table_cmbtargets"/>
          <p:cNvGraphicFramePr>
            <a:graphicFrameLocks noGrp="1"/>
          </p:cNvGraphicFramePr>
          <p:nvPr/>
        </p:nvGraphicFramePr>
        <p:xfrm>
          <a:off x="411480" y="1688592"/>
          <a:ext cx="11365992" cy="439216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3383280"/>
                <a:gridCol w="2743200"/>
                <a:gridCol w="2770632"/>
              </a:tblGrid>
              <a:tr h="8784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Audience group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7843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Students &amp; adults, donor countries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Raise awareness of the prevalence and threat of TB via traditional and innovative channels to grow donations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Total people reached through marketing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Online viral campaign: 30 million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843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Students &amp; adults, high-burden countries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Develop and roll out a viral marketing / social-media campaign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People reached via social channels (YouTube, Facebook)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Social channels: 5 million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87843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General 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(awareness)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% of population 18–65 acknowledging TB as a top-5 global health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TV PSAs: 5M; Internet PSAs: 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843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News media (fourth estate)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Meet with editors to encourage TB coverage; pitch high-impact topics (MDR/XDR-TB)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Number of editors engaged in ongoing dialogue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  <a:latin typeface="Arial"/>
                        </a:rPr>
                        <a:t>(target TBD)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Team discussion.</a:t>
            </a:r>
          </a:p>
        </p:txBody>
      </p:sp>
      <p:sp>
        <p:nvSpPr>
          <p:cNvPr id="7" name="meta_pagenum_21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The team clarified the CFCS mission and defined objectives to deliver it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338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cfcs_mission"/>
          <p:cNvSpPr/>
          <p:nvPr/>
        </p:nvSpPr>
        <p:spPr>
          <a:xfrm>
            <a:off x="411480" y="1298448"/>
            <a:ext cx="3383280" cy="48280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CFCS mission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FDCEE"/>
                </a:solidFill>
                <a:latin typeface="Arial"/>
              </a:rPr>
              <a:t>To provide support to community-based organizations engaged in advocacy and social-mobilization activities seeking to raise awareness and empower communities to become part of the solution in the fight against TB.</a:t>
            </a:r>
          </a:p>
        </p:txBody>
      </p:sp>
      <p:sp>
        <p:nvSpPr>
          <p:cNvPr id="5" name="background_band_cfcs_o1"/>
          <p:cNvSpPr/>
          <p:nvPr/>
        </p:nvSpPr>
        <p:spPr>
          <a:xfrm>
            <a:off x="4114800" y="1298448"/>
            <a:ext cx="7665415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Objective 1 · Assist community-based civil-society organizations</a:t>
            </a:r>
          </a:p>
        </p:txBody>
      </p:sp>
      <p:sp>
        <p:nvSpPr>
          <p:cNvPr id="6" name="body_cfcs_o1"/>
          <p:cNvSpPr txBox="1"/>
          <p:nvPr/>
        </p:nvSpPr>
        <p:spPr>
          <a:xfrm>
            <a:off x="4114800" y="1709928"/>
            <a:ext cx="7665415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Provide small grants for projects that increase awareness and active participation of local communities and build their capabilities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Provide coaching and technical assistance to grant recipients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Strengthen links between grant recipients and local authorities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Bring organizations together to exchange best practices</a:t>
            </a:r>
          </a:p>
        </p:txBody>
      </p:sp>
      <p:sp>
        <p:nvSpPr>
          <p:cNvPr id="7" name="background_band_cfcs_o2"/>
          <p:cNvSpPr/>
          <p:nvPr/>
        </p:nvSpPr>
        <p:spPr>
          <a:xfrm>
            <a:off x="4114800" y="4032504"/>
            <a:ext cx="7665415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Objective 2 · Efficiently manage CFCS resources</a:t>
            </a:r>
          </a:p>
        </p:txBody>
      </p:sp>
      <p:sp>
        <p:nvSpPr>
          <p:cNvPr id="8" name="body_cfcs_o2"/>
          <p:cNvSpPr txBox="1"/>
          <p:nvPr/>
        </p:nvSpPr>
        <p:spPr>
          <a:xfrm>
            <a:off x="4114800" y="4443984"/>
            <a:ext cx="7665415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Identify and stimulate high-quality, competitive applications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Develop selection criteria that ensure involvement of local health services and strengthen local autonomy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Hold grantees accountable to project milestones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Use simple evaluation processes that assess impact and integrate lessons learned</a:t>
            </a:r>
          </a:p>
        </p:txBody>
      </p:sp>
      <p:sp>
        <p:nvSpPr>
          <p:cNvPr id="9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0" name="meta_pagenum_22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E50"/>
                </a:solidFill>
                <a:latin typeface="Georgia"/>
              </a:rPr>
              <a:t>A team “barometer” survey assesses working-group engagement across four dimensions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band_mdr_obj"/>
          <p:cNvSpPr/>
          <p:nvPr/>
        </p:nvSpPr>
        <p:spPr>
          <a:xfrm>
            <a:off x="411480" y="1450848"/>
            <a:ext cx="2691307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Objectives and direction</a:t>
            </a:r>
          </a:p>
        </p:txBody>
      </p:sp>
      <p:sp>
        <p:nvSpPr>
          <p:cNvPr id="5" name="body_mdr_obj"/>
          <p:cNvSpPr txBox="1"/>
          <p:nvPr/>
        </p:nvSpPr>
        <p:spPr>
          <a:xfrm>
            <a:off x="411480" y="1862328"/>
            <a:ext cx="2691307" cy="394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The objectives of the WG are clear and members are fully aligned on them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The WG's leaders provide clear strategic direction</a:t>
            </a:r>
          </a:p>
        </p:txBody>
      </p:sp>
      <p:sp>
        <p:nvSpPr>
          <p:cNvPr id="6" name="background_band_mdr_del"/>
          <p:cNvSpPr/>
          <p:nvPr/>
        </p:nvSpPr>
        <p:spPr>
          <a:xfrm>
            <a:off x="3303955" y="1450848"/>
            <a:ext cx="2691307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Delivery against objectives</a:t>
            </a:r>
          </a:p>
        </p:txBody>
      </p:sp>
      <p:sp>
        <p:nvSpPr>
          <p:cNvPr id="7" name="body_mdr_del"/>
          <p:cNvSpPr txBox="1"/>
          <p:nvPr/>
        </p:nvSpPr>
        <p:spPr>
          <a:xfrm>
            <a:off x="3303955" y="1862328"/>
            <a:ext cx="2691307" cy="394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I believe the WG is making good progress toward achieving its objectives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The WG is having a meaningful impact in the fight against MDR-TB</a:t>
            </a:r>
          </a:p>
        </p:txBody>
      </p:sp>
      <p:sp>
        <p:nvSpPr>
          <p:cNvPr id="8" name="background_band_mdr_ind"/>
          <p:cNvSpPr/>
          <p:nvPr/>
        </p:nvSpPr>
        <p:spPr>
          <a:xfrm>
            <a:off x="6196431" y="1450848"/>
            <a:ext cx="2691307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Individual contributions</a:t>
            </a:r>
          </a:p>
        </p:txBody>
      </p:sp>
      <p:sp>
        <p:nvSpPr>
          <p:cNvPr id="9" name="body_mdr_ind"/>
          <p:cNvSpPr txBox="1"/>
          <p:nvPr/>
        </p:nvSpPr>
        <p:spPr>
          <a:xfrm>
            <a:off x="6196431" y="1862328"/>
            <a:ext cx="2691307" cy="394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My subgroup meaningfully contributes to the overall objectives of the WG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After meetings, accountabilities and deadlines for specific actions are clear</a:t>
            </a:r>
          </a:p>
        </p:txBody>
      </p:sp>
      <p:sp>
        <p:nvSpPr>
          <p:cNvPr id="10" name="background_band_mdr_mind"/>
          <p:cNvSpPr/>
          <p:nvPr/>
        </p:nvSpPr>
        <p:spPr>
          <a:xfrm>
            <a:off x="9088907" y="1450848"/>
            <a:ext cx="2691307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Mindsets and behaviors</a:t>
            </a:r>
          </a:p>
        </p:txBody>
      </p:sp>
      <p:sp>
        <p:nvSpPr>
          <p:cNvPr id="11" name="body_mdr_mind"/>
          <p:cNvSpPr txBox="1"/>
          <p:nvPr/>
        </p:nvSpPr>
        <p:spPr>
          <a:xfrm>
            <a:off x="9088907" y="1862328"/>
            <a:ext cx="2691307" cy="394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The culture within the WG is collaborative and constructive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C3E50"/>
                </a:solidFill>
                <a:latin typeface="Arial"/>
              </a:rPr>
              <a:t>Members are encouraged to voice their opinions, even if controversial</a:t>
            </a:r>
          </a:p>
        </p:txBody>
      </p:sp>
      <p:sp>
        <p:nvSpPr>
          <p:cNvPr id="12" name="meta_scale"/>
          <p:cNvSpPr txBox="1"/>
          <p:nvPr/>
        </p:nvSpPr>
        <p:spPr>
          <a:xfrm>
            <a:off x="411480" y="6080760"/>
            <a:ext cx="1136873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B6672"/>
                </a:solidFill>
                <a:latin typeface="Arial"/>
              </a:rPr>
              <a:t>Scale: 1 = strongly disagree … 5 = strongly agree.</a:t>
            </a:r>
          </a:p>
        </p:txBody>
      </p:sp>
      <p:sp>
        <p:nvSpPr>
          <p:cNvPr id="13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4" name="meta_pagenum_23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The next ~10 weeks will focus on implementing the solutions developed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33856"/>
            <a:ext cx="1463040" cy="0"/>
          </a:xfrm>
          <a:prstGeom prst="bentConnector3">
            <a:avLst/>
          </a:prstGeom>
          <a:ln w="317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phase_diagnose"/>
          <p:cNvSpPr/>
          <p:nvPr/>
        </p:nvSpPr>
        <p:spPr>
          <a:xfrm>
            <a:off x="411480" y="1298448"/>
            <a:ext cx="3606698" cy="640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Diagnose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FDCEE"/>
                </a:solidFill>
                <a:latin typeface="Arial"/>
              </a:rPr>
              <a:t>Aug – Sep</a:t>
            </a:r>
          </a:p>
        </p:txBody>
      </p:sp>
      <p:sp>
        <p:nvSpPr>
          <p:cNvPr id="5" name="card_phase_design"/>
          <p:cNvSpPr/>
          <p:nvPr/>
        </p:nvSpPr>
        <p:spPr>
          <a:xfrm>
            <a:off x="4292498" y="1298448"/>
            <a:ext cx="3606698" cy="640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FDCEE"/>
                </a:solidFill>
                <a:latin typeface="Arial"/>
              </a:rPr>
              <a:t>Sep – Oct</a:t>
            </a:r>
          </a:p>
        </p:txBody>
      </p:sp>
      <p:sp>
        <p:nvSpPr>
          <p:cNvPr id="6" name="card_phase_deliver"/>
          <p:cNvSpPr/>
          <p:nvPr/>
        </p:nvSpPr>
        <p:spPr>
          <a:xfrm>
            <a:off x="8173516" y="1298448"/>
            <a:ext cx="3606698" cy="64008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Deliver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FDCEE"/>
                </a:solidFill>
                <a:latin typeface="Arial"/>
              </a:rPr>
              <a:t>Nov – Dec</a:t>
            </a:r>
          </a:p>
        </p:txBody>
      </p:sp>
      <p:sp>
        <p:nvSpPr>
          <p:cNvPr id="7" name="meta_today"/>
          <p:cNvSpPr txBox="1"/>
          <p:nvPr/>
        </p:nvSpPr>
        <p:spPr>
          <a:xfrm>
            <a:off x="7716316" y="1042415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6DB4"/>
                </a:solidFill>
                <a:latin typeface="Arial"/>
              </a:rPr>
              <a:t>Today</a:t>
            </a:r>
          </a:p>
        </p:txBody>
      </p:sp>
      <p:sp>
        <p:nvSpPr>
          <p:cNvPr id="8" name="background_band_nextsteps"/>
          <p:cNvSpPr/>
          <p:nvPr/>
        </p:nvSpPr>
        <p:spPr>
          <a:xfrm>
            <a:off x="411480" y="2212848"/>
            <a:ext cx="11368735" cy="347472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76200" tIns="0" bIns="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Deliver-phase actions</a:t>
            </a:r>
          </a:p>
        </p:txBody>
      </p:sp>
      <p:sp>
        <p:nvSpPr>
          <p:cNvPr id="9" name="body_nextsteps"/>
          <p:cNvSpPr txBox="1"/>
          <p:nvPr/>
        </p:nvSpPr>
        <p:spPr>
          <a:xfrm>
            <a:off x="411480" y="2633472"/>
            <a:ext cx="11368735" cy="3493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CFDCEE"/>
                </a:solidFill>
                <a:latin typeface="Arial"/>
              </a:rPr>
              <a:t>Implementation within project teams begins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CFDCEE"/>
                </a:solidFill>
                <a:latin typeface="Arial"/>
              </a:rPr>
              <a:t>Problem-solving sessions on findings, lessons learned, and implications are conducted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CFDCEE"/>
                </a:solidFill>
                <a:latin typeface="Arial"/>
              </a:rPr>
              <a:t>Workshops to share achievements with other Partnership bodies are conducted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CFDCEE"/>
                </a:solidFill>
                <a:latin typeface="Arial"/>
              </a:rPr>
              <a:t>The report is produced and findings are published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CFDCEE"/>
                </a:solidFill>
                <a:latin typeface="Arial"/>
              </a:rPr>
              <a:t>Progress is presented to the Coordinating Board in March 2010</a:t>
            </a:r>
          </a:p>
        </p:txBody>
      </p:sp>
      <p:sp>
        <p:nvSpPr>
          <p:cNvPr id="10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1" name="meta_pagenum_24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