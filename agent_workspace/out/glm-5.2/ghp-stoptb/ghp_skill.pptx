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4.1</c:v>
                </c:pt>
                <c:pt idx="2">
                  <c:v>2.1</c:v>
                </c:pt>
                <c:pt idx="3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2E4D7B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3.5</c:v>
                </c:pt>
                <c:pt idx="2">
                  <c:v>1.9</c:v>
                </c:pt>
                <c:pt idx="3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7606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760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7606B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_eyebrow"/>
          <p:cNvSpPr txBox="1"/>
          <p:nvPr/>
        </p:nvSpPr>
        <p:spPr>
          <a:xfrm>
            <a:off x="502920" y="187451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6E0F0"/>
                </a:solidFill>
                <a:latin typeface="Arial"/>
              </a:rPr>
              <a:t>STOP TB PARTNERSHIP × McKINSEY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02920" y="224028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Helping Global Health Partnerships to increase their impact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502920" y="4160520"/>
            <a:ext cx="1463040" cy="0"/>
          </a:xfrm>
          <a:prstGeom prst="bentConnector3">
            <a:avLst/>
          </a:prstGeom>
          <a:ln w="3175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a_subtitle"/>
          <p:cNvSpPr txBox="1"/>
          <p:nvPr/>
        </p:nvSpPr>
        <p:spPr>
          <a:xfrm>
            <a:off x="502920" y="43434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6E0F0"/>
                </a:solidFill>
                <a:latin typeface="Arial"/>
              </a:rPr>
              <a:t>Stop TB Partnership – McKinsey collaboration</a:t>
            </a:r>
          </a:p>
        </p:txBody>
      </p:sp>
      <p:sp>
        <p:nvSpPr>
          <p:cNvPr id="7" name="meta_footer"/>
          <p:cNvSpPr txBox="1"/>
          <p:nvPr/>
        </p:nvSpPr>
        <p:spPr>
          <a:xfrm>
            <a:off x="502920" y="63093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D4E6"/>
                </a:solidFill>
                <a:latin typeface="Arial"/>
              </a:rPr>
              <a:t>McKinsey &amp; Company</a:t>
            </a:r>
          </a:p>
        </p:txBody>
      </p:sp>
      <p:sp>
        <p:nvSpPr>
          <p:cNvPr id="8" name="meta_date"/>
          <p:cNvSpPr txBox="1"/>
          <p:nvPr/>
        </p:nvSpPr>
        <p:spPr>
          <a:xfrm>
            <a:off x="4572000" y="777240"/>
            <a:ext cx="7132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Arial"/>
              </a:rPr>
              <a:t>Thursday, November 5, 2009</a:t>
            </a:r>
          </a:p>
        </p:txBody>
      </p:sp>
      <p:sp>
        <p:nvSpPr>
          <p:cNvPr id="9" name="meta_pread"/>
          <p:cNvSpPr txBox="1"/>
          <p:nvPr/>
        </p:nvSpPr>
        <p:spPr>
          <a:xfrm>
            <a:off x="4572000" y="128016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32D38"/>
                </a:solidFill>
                <a:latin typeface="Arial"/>
              </a:rPr>
              <a:t>Pre-reading for Coordinating Board presentation</a:t>
            </a:r>
          </a:p>
        </p:txBody>
      </p:sp>
      <p:cxnSp>
        <p:nvCxnSpPr>
          <p:cNvPr id="10" name="background_accent_rule"/>
          <p:cNvCxnSpPr/>
          <p:nvPr/>
        </p:nvCxnSpPr>
        <p:spPr>
          <a:xfrm>
            <a:off x="4572000" y="1828800"/>
            <a:ext cx="201168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ackground_confidential"/>
          <p:cNvSpPr/>
          <p:nvPr/>
        </p:nvSpPr>
        <p:spPr>
          <a:xfrm>
            <a:off x="4572000" y="5212080"/>
            <a:ext cx="7132320" cy="96012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a_confidential"/>
          <p:cNvSpPr txBox="1"/>
          <p:nvPr/>
        </p:nvSpPr>
        <p:spPr>
          <a:xfrm>
            <a:off x="4754880" y="5358384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32D38"/>
                </a:solidFill>
                <a:latin typeface="Arial"/>
              </a:rPr>
              <a:t>CONFIDENTIAL AND PROPRIETARY. Any use of this material without specific permission of McKinsey &amp; Company is strictly prohibited.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The pre-reading is organized across seven sections, from project overview to next steps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hartpart_chip_1"/>
          <p:cNvSpPr/>
          <p:nvPr/>
        </p:nvSpPr>
        <p:spPr>
          <a:xfrm>
            <a:off x="411480" y="1450848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meta_agenda_1"/>
          <p:cNvSpPr txBox="1"/>
          <p:nvPr/>
        </p:nvSpPr>
        <p:spPr>
          <a:xfrm>
            <a:off x="978408" y="1469136"/>
            <a:ext cx="108018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2D38"/>
                </a:solidFill>
                <a:latin typeface="Arial"/>
              </a:rPr>
              <a:t>Project overview</a:t>
            </a:r>
          </a:p>
        </p:txBody>
      </p:sp>
      <p:sp>
        <p:nvSpPr>
          <p:cNvPr id="6" name="chartpart_chip_2"/>
          <p:cNvSpPr/>
          <p:nvPr/>
        </p:nvSpPr>
        <p:spPr>
          <a:xfrm>
            <a:off x="411480" y="2127504"/>
            <a:ext cx="384048" cy="384048"/>
          </a:xfrm>
          <a:prstGeom prst="ellipse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32D38"/>
                </a:solidFill>
                <a:latin typeface="Arial"/>
              </a:rPr>
              <a:t>2</a:t>
            </a:r>
          </a:p>
        </p:txBody>
      </p:sp>
      <p:sp>
        <p:nvSpPr>
          <p:cNvPr id="7" name="meta_agenda_2"/>
          <p:cNvSpPr txBox="1"/>
          <p:nvPr/>
        </p:nvSpPr>
        <p:spPr>
          <a:xfrm>
            <a:off x="978408" y="2145792"/>
            <a:ext cx="108018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606B"/>
                </a:solidFill>
                <a:latin typeface="Arial"/>
              </a:rPr>
              <a:t>Global Drug Facility</a:t>
            </a:r>
          </a:p>
        </p:txBody>
      </p:sp>
      <p:sp>
        <p:nvSpPr>
          <p:cNvPr id="8" name="chartpart_chip_3"/>
          <p:cNvSpPr/>
          <p:nvPr/>
        </p:nvSpPr>
        <p:spPr>
          <a:xfrm>
            <a:off x="411480" y="2804160"/>
            <a:ext cx="384048" cy="384048"/>
          </a:xfrm>
          <a:prstGeom prst="ellipse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32D38"/>
                </a:solidFill>
                <a:latin typeface="Arial"/>
              </a:rPr>
              <a:t>3</a:t>
            </a:r>
          </a:p>
        </p:txBody>
      </p:sp>
      <p:sp>
        <p:nvSpPr>
          <p:cNvPr id="9" name="meta_agenda_3"/>
          <p:cNvSpPr txBox="1"/>
          <p:nvPr/>
        </p:nvSpPr>
        <p:spPr>
          <a:xfrm>
            <a:off x="978408" y="2822448"/>
            <a:ext cx="108018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606B"/>
                </a:solidFill>
                <a:latin typeface="Arial"/>
              </a:rPr>
              <a:t>Advocacy</a:t>
            </a:r>
          </a:p>
        </p:txBody>
      </p:sp>
      <p:sp>
        <p:nvSpPr>
          <p:cNvPr id="10" name="chartpart_chip_4"/>
          <p:cNvSpPr/>
          <p:nvPr/>
        </p:nvSpPr>
        <p:spPr>
          <a:xfrm>
            <a:off x="411480" y="3480816"/>
            <a:ext cx="384048" cy="384048"/>
          </a:xfrm>
          <a:prstGeom prst="ellipse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32D38"/>
                </a:solidFill>
                <a:latin typeface="Arial"/>
              </a:rPr>
              <a:t>4</a:t>
            </a:r>
          </a:p>
        </p:txBody>
      </p:sp>
      <p:sp>
        <p:nvSpPr>
          <p:cNvPr id="11" name="meta_agenda_4"/>
          <p:cNvSpPr txBox="1"/>
          <p:nvPr/>
        </p:nvSpPr>
        <p:spPr>
          <a:xfrm>
            <a:off x="978408" y="3499104"/>
            <a:ext cx="108018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606B"/>
                </a:solidFill>
                <a:latin typeface="Arial"/>
              </a:rPr>
              <a:t>Communication, Marketing and Branding</a:t>
            </a:r>
          </a:p>
        </p:txBody>
      </p:sp>
      <p:sp>
        <p:nvSpPr>
          <p:cNvPr id="12" name="chartpart_chip_5"/>
          <p:cNvSpPr/>
          <p:nvPr/>
        </p:nvSpPr>
        <p:spPr>
          <a:xfrm>
            <a:off x="411480" y="4157472"/>
            <a:ext cx="384048" cy="384048"/>
          </a:xfrm>
          <a:prstGeom prst="ellipse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32D38"/>
                </a:solidFill>
                <a:latin typeface="Arial"/>
              </a:rPr>
              <a:t>5</a:t>
            </a:r>
          </a:p>
        </p:txBody>
      </p:sp>
      <p:sp>
        <p:nvSpPr>
          <p:cNvPr id="13" name="meta_agenda_5"/>
          <p:cNvSpPr txBox="1"/>
          <p:nvPr/>
        </p:nvSpPr>
        <p:spPr>
          <a:xfrm>
            <a:off x="978408" y="4175760"/>
            <a:ext cx="108018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606B"/>
                </a:solidFill>
                <a:latin typeface="Arial"/>
              </a:rPr>
              <a:t>Challenge Facility for Civil Society</a:t>
            </a:r>
          </a:p>
        </p:txBody>
      </p:sp>
      <p:sp>
        <p:nvSpPr>
          <p:cNvPr id="14" name="chartpart_chip_6"/>
          <p:cNvSpPr/>
          <p:nvPr/>
        </p:nvSpPr>
        <p:spPr>
          <a:xfrm>
            <a:off x="411480" y="4834128"/>
            <a:ext cx="384048" cy="384048"/>
          </a:xfrm>
          <a:prstGeom prst="ellipse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32D38"/>
                </a:solidFill>
                <a:latin typeface="Arial"/>
              </a:rPr>
              <a:t>6</a:t>
            </a:r>
          </a:p>
        </p:txBody>
      </p:sp>
      <p:sp>
        <p:nvSpPr>
          <p:cNvPr id="15" name="meta_agenda_6"/>
          <p:cNvSpPr txBox="1"/>
          <p:nvPr/>
        </p:nvSpPr>
        <p:spPr>
          <a:xfrm>
            <a:off x="978408" y="4852416"/>
            <a:ext cx="108018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606B"/>
                </a:solidFill>
                <a:latin typeface="Arial"/>
              </a:rPr>
              <a:t>MDR-TB Working Group</a:t>
            </a:r>
          </a:p>
        </p:txBody>
      </p:sp>
      <p:sp>
        <p:nvSpPr>
          <p:cNvPr id="16" name="chartpart_chip_7"/>
          <p:cNvSpPr/>
          <p:nvPr/>
        </p:nvSpPr>
        <p:spPr>
          <a:xfrm>
            <a:off x="411480" y="5510784"/>
            <a:ext cx="384048" cy="384048"/>
          </a:xfrm>
          <a:prstGeom prst="ellipse">
            <a:avLst/>
          </a:prstGeom>
          <a:solidFill>
            <a:srgbClr val="AE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32D38"/>
                </a:solidFill>
                <a:latin typeface="Arial"/>
              </a:rPr>
              <a:t>7</a:t>
            </a:r>
          </a:p>
        </p:txBody>
      </p:sp>
      <p:sp>
        <p:nvSpPr>
          <p:cNvPr id="17" name="meta_agenda_7"/>
          <p:cNvSpPr txBox="1"/>
          <p:nvPr/>
        </p:nvSpPr>
        <p:spPr>
          <a:xfrm>
            <a:off x="978408" y="5529072"/>
            <a:ext cx="108018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606B"/>
                </a:solidFill>
                <a:latin typeface="Arial"/>
              </a:rPr>
              <a:t>Next steps</a:t>
            </a:r>
          </a:p>
        </p:txBody>
      </p:sp>
      <p:sp>
        <p:nvSpPr>
          <p:cNvPr id="18" name="meta_pagenum_2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The performance of Global Health Partnerships is increasingly important and scrutinized, yet achieving high performance is proving challenging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hdr_col_left"/>
          <p:cNvSpPr/>
          <p:nvPr/>
        </p:nvSpPr>
        <p:spPr>
          <a:xfrm>
            <a:off x="411480" y="1450848"/>
            <a:ext cx="5547207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field_col_left"/>
          <p:cNvSpPr/>
          <p:nvPr/>
        </p:nvSpPr>
        <p:spPr>
          <a:xfrm>
            <a:off x="411480" y="1761744"/>
            <a:ext cx="5547207" cy="429768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hdr_col_left"/>
          <p:cNvSpPr txBox="1"/>
          <p:nvPr/>
        </p:nvSpPr>
        <p:spPr>
          <a:xfrm>
            <a:off x="539496" y="1450848"/>
            <a:ext cx="529117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Increasing role of GHP performance</a:t>
            </a:r>
          </a:p>
        </p:txBody>
      </p:sp>
      <p:sp>
        <p:nvSpPr>
          <p:cNvPr id="7" name="body_col_left"/>
          <p:cNvSpPr txBox="1"/>
          <p:nvPr/>
        </p:nvSpPr>
        <p:spPr>
          <a:xfrm>
            <a:off x="557784" y="1853184"/>
            <a:ext cx="525459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GHPs play a major role in global health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Performance of GHPs can have huge impact on the health of the world's population</a:t>
            </a:r>
          </a:p>
          <a:p>
            <a:pPr algn="l" marL="181610" indent="-18161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The focus on performance is increasing, driven by</a:t>
            </a:r>
          </a:p>
          <a:p>
            <a:pPr lvl="1" algn="l" marL="381000" indent="-16764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200" b="0" i="0">
                <a:solidFill>
                  <a:srgbClr val="232D38"/>
                </a:solidFill>
                <a:latin typeface="Arial"/>
              </a:rPr>
              <a:t>Increasing donor focus on impact, effectiveness, and efficiency</a:t>
            </a:r>
          </a:p>
          <a:p>
            <a:pPr lvl="1" algn="l" marL="381000" indent="-16764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200" b="0" i="0">
                <a:solidFill>
                  <a:srgbClr val="232D38"/>
                </a:solidFill>
                <a:latin typeface="Arial"/>
              </a:rPr>
              <a:t>Increasing number of Partnerships in global health</a:t>
            </a:r>
          </a:p>
          <a:p>
            <a:pPr lvl="1" algn="l" marL="381000" indent="-167640"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sz="1200" b="0" i="0">
                <a:solidFill>
                  <a:srgbClr val="232D38"/>
                </a:solidFill>
                <a:latin typeface="Arial"/>
              </a:rPr>
              <a:t>Likelihood of lower funding growth or less funding, given the financial crisis</a:t>
            </a:r>
          </a:p>
        </p:txBody>
      </p:sp>
      <p:sp>
        <p:nvSpPr>
          <p:cNvPr id="8" name="background_hdr_col_right"/>
          <p:cNvSpPr/>
          <p:nvPr/>
        </p:nvSpPr>
        <p:spPr>
          <a:xfrm>
            <a:off x="6233007" y="1450848"/>
            <a:ext cx="5547207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field_col_right"/>
          <p:cNvSpPr/>
          <p:nvPr/>
        </p:nvSpPr>
        <p:spPr>
          <a:xfrm>
            <a:off x="6233007" y="1761744"/>
            <a:ext cx="5547207" cy="429768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a_hdr_col_right"/>
          <p:cNvSpPr txBox="1"/>
          <p:nvPr/>
        </p:nvSpPr>
        <p:spPr>
          <a:xfrm>
            <a:off x="6361023" y="1450848"/>
            <a:ext cx="529117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Challenging factors</a:t>
            </a:r>
          </a:p>
        </p:txBody>
      </p:sp>
      <p:sp>
        <p:nvSpPr>
          <p:cNvPr id="11" name="body_col_right"/>
          <p:cNvSpPr txBox="1"/>
          <p:nvPr/>
        </p:nvSpPr>
        <p:spPr>
          <a:xfrm>
            <a:off x="6379311" y="1853184"/>
            <a:ext cx="525459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Complex environment and nature of GHP organizations create challenges, e.g.</a:t>
            </a:r>
          </a:p>
          <a:p>
            <a:pPr algn="l" marL="167640" indent="-167640">
              <a:spcAft>
                <a:spcPts val="600"/>
              </a:spcAft>
              <a:buFont typeface="Arial"/>
              <a:buChar char="▪"/>
            </a:pPr>
            <a:r>
              <a:rPr sz="1200" b="1" i="0">
                <a:solidFill>
                  <a:srgbClr val="232D38"/>
                </a:solidFill>
                <a:latin typeface="Arial"/>
              </a:rPr>
              <a:t>Objective-setting: </a:t>
            </a:r>
            <a:r>
              <a:rPr sz="1200" b="0" i="0">
                <a:solidFill>
                  <a:srgbClr val="232D38"/>
                </a:solidFill>
                <a:latin typeface="Arial"/>
              </a:rPr>
              <a:t>distinguishing between the change a GHP hopes to bring about in the world vs. the goals it sets itself that will help bring about the change</a:t>
            </a:r>
          </a:p>
          <a:p>
            <a:pPr algn="l" marL="167640" indent="-167640">
              <a:spcAft>
                <a:spcPts val="600"/>
              </a:spcAft>
              <a:buFont typeface="Arial"/>
              <a:buChar char="▪"/>
            </a:pPr>
            <a:r>
              <a:rPr sz="1200" b="1" i="0">
                <a:solidFill>
                  <a:srgbClr val="232D38"/>
                </a:solidFill>
                <a:latin typeface="Arial"/>
              </a:rPr>
              <a:t>Accountability: </a:t>
            </a:r>
            <a:r>
              <a:rPr sz="1200" b="0" i="0">
                <a:solidFill>
                  <a:srgbClr val="232D38"/>
                </a:solidFill>
                <a:latin typeface="Arial"/>
              </a:rPr>
              <a:t>ensuring accountability and delivery in the context of loose Partnership structures, voluntary membership, and limited hierarchy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▪"/>
            </a:pPr>
            <a:r>
              <a:rPr sz="1200" b="1" i="0">
                <a:solidFill>
                  <a:srgbClr val="232D38"/>
                </a:solidFill>
                <a:latin typeface="Arial"/>
              </a:rPr>
              <a:t>Capabilities: </a:t>
            </a:r>
            <a:r>
              <a:rPr sz="1200" b="0" i="0">
                <a:solidFill>
                  <a:srgbClr val="232D38"/>
                </a:solidFill>
                <a:latin typeface="Arial"/>
              </a:rPr>
              <a:t>gaining the capacity and capabilities needed to continuously improve performance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3" name="meta_pagenum_3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The project will deliver practical insights on improving GHP performance based on piloted improvement ideas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hdr_col_goals"/>
          <p:cNvSpPr/>
          <p:nvPr/>
        </p:nvSpPr>
        <p:spPr>
          <a:xfrm>
            <a:off x="411480" y="1450848"/>
            <a:ext cx="363717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field_col_goals"/>
          <p:cNvSpPr/>
          <p:nvPr/>
        </p:nvSpPr>
        <p:spPr>
          <a:xfrm>
            <a:off x="411480" y="1761744"/>
            <a:ext cx="3637178" cy="429768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hdr_col_goals"/>
          <p:cNvSpPr txBox="1"/>
          <p:nvPr/>
        </p:nvSpPr>
        <p:spPr>
          <a:xfrm>
            <a:off x="539496" y="1450848"/>
            <a:ext cx="338114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Goals</a:t>
            </a:r>
          </a:p>
        </p:txBody>
      </p:sp>
      <p:sp>
        <p:nvSpPr>
          <p:cNvPr id="7" name="body_col_goals"/>
          <p:cNvSpPr txBox="1"/>
          <p:nvPr/>
        </p:nvSpPr>
        <p:spPr>
          <a:xfrm>
            <a:off x="557784" y="1853184"/>
            <a:ext cx="334457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Develop a joint perspective, tested and proven, on how GHPs can improve performance, by</a:t>
            </a:r>
          </a:p>
          <a:p>
            <a:pPr lvl="1" algn="l" marL="381000" indent="-16764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200" b="0" i="0">
                <a:solidFill>
                  <a:srgbClr val="232D38"/>
                </a:solidFill>
                <a:latin typeface="Arial"/>
              </a:rPr>
              <a:t>Exploring how to improve performance in a GHP, not simply adopting existing (e.g., private-sector) approaches</a:t>
            </a:r>
          </a:p>
          <a:p>
            <a:pPr lvl="1" algn="l" marL="381000" indent="-16764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200" b="0" i="0">
                <a:solidFill>
                  <a:srgbClr val="232D38"/>
                </a:solidFill>
                <a:latin typeface="Arial"/>
              </a:rPr>
              <a:t>Testing new ways of working with Stop TB bodies that could lead to higher performance</a:t>
            </a:r>
          </a:p>
          <a:p>
            <a:pPr lvl="1" algn="l" marL="381000" indent="-167640"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sz="1200" b="0" i="0">
                <a:solidFill>
                  <a:srgbClr val="232D38"/>
                </a:solidFill>
                <a:latin typeface="Arial"/>
              </a:rPr>
              <a:t>Developing a joint perspective to share with the global health community</a:t>
            </a:r>
          </a:p>
        </p:txBody>
      </p:sp>
      <p:sp>
        <p:nvSpPr>
          <p:cNvPr id="8" name="background_hdr_col_approach"/>
          <p:cNvSpPr/>
          <p:nvPr/>
        </p:nvSpPr>
        <p:spPr>
          <a:xfrm>
            <a:off x="4277258" y="1450848"/>
            <a:ext cx="363717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field_col_approach"/>
          <p:cNvSpPr/>
          <p:nvPr/>
        </p:nvSpPr>
        <p:spPr>
          <a:xfrm>
            <a:off x="4277258" y="1761744"/>
            <a:ext cx="3637178" cy="429768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a_hdr_col_approach"/>
          <p:cNvSpPr txBox="1"/>
          <p:nvPr/>
        </p:nvSpPr>
        <p:spPr>
          <a:xfrm>
            <a:off x="4405274" y="1450848"/>
            <a:ext cx="338114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Approach</a:t>
            </a:r>
          </a:p>
        </p:txBody>
      </p:sp>
      <p:sp>
        <p:nvSpPr>
          <p:cNvPr id="11" name="body_col_approach"/>
          <p:cNvSpPr txBox="1"/>
          <p:nvPr/>
        </p:nvSpPr>
        <p:spPr>
          <a:xfrm>
            <a:off x="4423562" y="1853184"/>
            <a:ext cx="334457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Build on strengths and improvement opportunities outlined in the 2008 evaluation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Joint working, collaborative, co-creation — not client–consultant work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Duration ~22 weeks: 10 weeks diagnosis and design, 12 weeks delivery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Scope: 5 Partnership bodies — GDF, MDR-TB WG, CFCS, Advocacy, and CM&amp;B teams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External interactions with other GHPs, e.g., RBM, UNAIDS, GAVI, GF</a:t>
            </a:r>
          </a:p>
        </p:txBody>
      </p:sp>
      <p:sp>
        <p:nvSpPr>
          <p:cNvPr id="12" name="background_hdr_col_products"/>
          <p:cNvSpPr/>
          <p:nvPr/>
        </p:nvSpPr>
        <p:spPr>
          <a:xfrm>
            <a:off x="8143036" y="1450848"/>
            <a:ext cx="363717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field_col_products"/>
          <p:cNvSpPr/>
          <p:nvPr/>
        </p:nvSpPr>
        <p:spPr>
          <a:xfrm>
            <a:off x="8143036" y="1761744"/>
            <a:ext cx="3637178" cy="429768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ta_hdr_col_products"/>
          <p:cNvSpPr txBox="1"/>
          <p:nvPr/>
        </p:nvSpPr>
        <p:spPr>
          <a:xfrm>
            <a:off x="8271052" y="1450848"/>
            <a:ext cx="338114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3 main end-products</a:t>
            </a:r>
          </a:p>
        </p:txBody>
      </p:sp>
      <p:sp>
        <p:nvSpPr>
          <p:cNvPr id="15" name="body_col_products"/>
          <p:cNvSpPr txBox="1"/>
          <p:nvPr/>
        </p:nvSpPr>
        <p:spPr>
          <a:xfrm>
            <a:off x="8289340" y="1853184"/>
            <a:ext cx="334457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Successful performance-improvement pilots in selected Partnership bodies, with documentation to support roll-out to other bodies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A co-authored project report, suitable for publication in major journals, detailing the experience and lessons for other GHPs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00" b="0" i="0">
                <a:solidFill>
                  <a:srgbClr val="232D38"/>
                </a:solidFill>
                <a:latin typeface="Arial"/>
              </a:rPr>
              <a:t>A “practitioner's guide” to support McKinsey teams conducting similar work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7" name="meta_pagenum_4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This project is organized in three distinct phases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2529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hdr_col_diagnose"/>
          <p:cNvSpPr/>
          <p:nvPr/>
        </p:nvSpPr>
        <p:spPr>
          <a:xfrm>
            <a:off x="411480" y="1389888"/>
            <a:ext cx="354573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field_col_diagnose"/>
          <p:cNvSpPr/>
          <p:nvPr/>
        </p:nvSpPr>
        <p:spPr>
          <a:xfrm>
            <a:off x="411480" y="1700784"/>
            <a:ext cx="3545738" cy="42062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hdr_col_diagnose"/>
          <p:cNvSpPr txBox="1"/>
          <p:nvPr/>
        </p:nvSpPr>
        <p:spPr>
          <a:xfrm>
            <a:off x="539496" y="1389888"/>
            <a:ext cx="3289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Diagnose (Aug – Sep)</a:t>
            </a:r>
          </a:p>
        </p:txBody>
      </p:sp>
      <p:sp>
        <p:nvSpPr>
          <p:cNvPr id="7" name="body_col_diagnose"/>
          <p:cNvSpPr txBox="1"/>
          <p:nvPr/>
        </p:nvSpPr>
        <p:spPr>
          <a:xfrm>
            <a:off x="557784" y="1792224"/>
            <a:ext cx="325313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Selection of Partnership Bodies to work with — GDF, Advocacy, CM&amp;B, CFCS, MDR-TB WG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Understanding of current performance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Identification of areas of high performance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Selection of one performance issue to improve</a:t>
            </a:r>
          </a:p>
        </p:txBody>
      </p:sp>
      <p:sp>
        <p:nvSpPr>
          <p:cNvPr id="8" name="background_hdr_col_design"/>
          <p:cNvSpPr/>
          <p:nvPr/>
        </p:nvSpPr>
        <p:spPr>
          <a:xfrm>
            <a:off x="4322978" y="1389888"/>
            <a:ext cx="354573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field_col_design"/>
          <p:cNvSpPr/>
          <p:nvPr/>
        </p:nvSpPr>
        <p:spPr>
          <a:xfrm>
            <a:off x="4322978" y="1700784"/>
            <a:ext cx="3545738" cy="42062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a_hdr_col_design"/>
          <p:cNvSpPr txBox="1"/>
          <p:nvPr/>
        </p:nvSpPr>
        <p:spPr>
          <a:xfrm>
            <a:off x="4450994" y="1389888"/>
            <a:ext cx="3289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Design (Sep – Oct)</a:t>
            </a:r>
          </a:p>
        </p:txBody>
      </p:sp>
      <p:sp>
        <p:nvSpPr>
          <p:cNvPr id="11" name="body_col_design"/>
          <p:cNvSpPr txBox="1"/>
          <p:nvPr/>
        </p:nvSpPr>
        <p:spPr>
          <a:xfrm>
            <a:off x="4469282" y="1792224"/>
            <a:ext cx="325313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Intensive work within selected Partnership Bodies to develop improvement ideas on the selected performance issue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Select actions to implement in the next phase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Development of implementation plans for the Delivery phase</a:t>
            </a:r>
          </a:p>
        </p:txBody>
      </p:sp>
      <p:sp>
        <p:nvSpPr>
          <p:cNvPr id="12" name="background_hdr_col_deliver"/>
          <p:cNvSpPr/>
          <p:nvPr/>
        </p:nvSpPr>
        <p:spPr>
          <a:xfrm>
            <a:off x="8234476" y="1389888"/>
            <a:ext cx="354573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field_col_deliver"/>
          <p:cNvSpPr/>
          <p:nvPr/>
        </p:nvSpPr>
        <p:spPr>
          <a:xfrm>
            <a:off x="8234476" y="1700784"/>
            <a:ext cx="3545738" cy="42062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ta_hdr_col_deliver"/>
          <p:cNvSpPr txBox="1"/>
          <p:nvPr/>
        </p:nvSpPr>
        <p:spPr>
          <a:xfrm>
            <a:off x="8362492" y="1389888"/>
            <a:ext cx="3289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Deliver (Nov – Dec)</a:t>
            </a:r>
          </a:p>
        </p:txBody>
      </p:sp>
      <p:sp>
        <p:nvSpPr>
          <p:cNvPr id="15" name="body_col_deliver"/>
          <p:cNvSpPr txBox="1"/>
          <p:nvPr/>
        </p:nvSpPr>
        <p:spPr>
          <a:xfrm>
            <a:off x="8380780" y="1792224"/>
            <a:ext cx="325313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Implementation and refinement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Problem-solving sessions on findings, lessons learned, and implications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Workshop to share achievements across the Partnership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Report and publication of results; present results to the Coordinating Board in March 2010</a:t>
            </a:r>
          </a:p>
        </p:txBody>
      </p:sp>
      <p:sp>
        <p:nvSpPr>
          <p:cNvPr id="16" name="card_today"/>
          <p:cNvSpPr/>
          <p:nvPr/>
        </p:nvSpPr>
        <p:spPr>
          <a:xfrm>
            <a:off x="7914436" y="3127248"/>
            <a:ext cx="274320" cy="310896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17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Note: “Today” sits at the start of the Deliver phase (November 2009).</a:t>
            </a:r>
          </a:p>
        </p:txBody>
      </p:sp>
      <p:sp>
        <p:nvSpPr>
          <p:cNvPr id="18" name="meta_pagenum_5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We think about performance in terms of both processes and enablers — (1)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hain_label"/>
          <p:cNvSpPr txBox="1"/>
          <p:nvPr/>
        </p:nvSpPr>
        <p:spPr>
          <a:xfrm>
            <a:off x="411480" y="1450848"/>
            <a:ext cx="1136873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4D7B"/>
                </a:solidFill>
                <a:latin typeface="Arial"/>
              </a:rPr>
              <a:t>Performance management</a:t>
            </a:r>
          </a:p>
        </p:txBody>
      </p:sp>
      <p:cxnSp>
        <p:nvCxnSpPr>
          <p:cNvPr id="5" name="background_processline"/>
          <p:cNvCxnSpPr/>
          <p:nvPr/>
        </p:nvCxnSpPr>
        <p:spPr>
          <a:xfrm>
            <a:off x="411480" y="1880616"/>
            <a:ext cx="11368735" cy="0"/>
          </a:xfrm>
          <a:prstGeom prst="bentConnector3">
            <a:avLst/>
          </a:prstGeom>
          <a:ln w="2540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artpart_chip_1"/>
          <p:cNvSpPr/>
          <p:nvPr/>
        </p:nvSpPr>
        <p:spPr>
          <a:xfrm>
            <a:off x="1090650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meta_steplabel_1"/>
          <p:cNvSpPr txBox="1"/>
          <p:nvPr/>
        </p:nvSpPr>
        <p:spPr>
          <a:xfrm>
            <a:off x="411480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Set objectives</a:t>
            </a:r>
          </a:p>
        </p:txBody>
      </p:sp>
      <p:sp>
        <p:nvSpPr>
          <p:cNvPr id="8" name="chartpart_chip_2"/>
          <p:cNvSpPr/>
          <p:nvPr/>
        </p:nvSpPr>
        <p:spPr>
          <a:xfrm>
            <a:off x="3015919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meta_steplabel_2"/>
          <p:cNvSpPr txBox="1"/>
          <p:nvPr/>
        </p:nvSpPr>
        <p:spPr>
          <a:xfrm>
            <a:off x="2336749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Set targets</a:t>
            </a:r>
          </a:p>
        </p:txBody>
      </p:sp>
      <p:sp>
        <p:nvSpPr>
          <p:cNvPr id="10" name="chartpart_chip_3"/>
          <p:cNvSpPr/>
          <p:nvPr/>
        </p:nvSpPr>
        <p:spPr>
          <a:xfrm>
            <a:off x="4941188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meta_steplabel_3"/>
          <p:cNvSpPr txBox="1"/>
          <p:nvPr/>
        </p:nvSpPr>
        <p:spPr>
          <a:xfrm>
            <a:off x="4262018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Establish clear metrics</a:t>
            </a:r>
          </a:p>
        </p:txBody>
      </p:sp>
      <p:sp>
        <p:nvSpPr>
          <p:cNvPr id="12" name="chartpart_chip_4"/>
          <p:cNvSpPr/>
          <p:nvPr/>
        </p:nvSpPr>
        <p:spPr>
          <a:xfrm>
            <a:off x="6866457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meta_steplabel_4"/>
          <p:cNvSpPr txBox="1"/>
          <p:nvPr/>
        </p:nvSpPr>
        <p:spPr>
          <a:xfrm>
            <a:off x="6187287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Track &amp; disseminate metrics</a:t>
            </a:r>
          </a:p>
        </p:txBody>
      </p:sp>
      <p:sp>
        <p:nvSpPr>
          <p:cNvPr id="14" name="chartpart_chip_5"/>
          <p:cNvSpPr/>
          <p:nvPr/>
        </p:nvSpPr>
        <p:spPr>
          <a:xfrm>
            <a:off x="8791726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meta_steplabel_5"/>
          <p:cNvSpPr txBox="1"/>
          <p:nvPr/>
        </p:nvSpPr>
        <p:spPr>
          <a:xfrm>
            <a:off x="8112556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Review performance</a:t>
            </a:r>
          </a:p>
        </p:txBody>
      </p:sp>
      <p:sp>
        <p:nvSpPr>
          <p:cNvPr id="16" name="chartpart_chip_6"/>
          <p:cNvSpPr/>
          <p:nvPr/>
        </p:nvSpPr>
        <p:spPr>
          <a:xfrm>
            <a:off x="10716995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meta_steplabel_6"/>
          <p:cNvSpPr txBox="1"/>
          <p:nvPr/>
        </p:nvSpPr>
        <p:spPr>
          <a:xfrm>
            <a:off x="10037825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Celebrate &amp; take action</a:t>
            </a:r>
          </a:p>
        </p:txBody>
      </p:sp>
      <p:sp>
        <p:nvSpPr>
          <p:cNvPr id="18" name="background_hdr_grp_12"/>
          <p:cNvSpPr/>
          <p:nvPr/>
        </p:nvSpPr>
        <p:spPr>
          <a:xfrm>
            <a:off x="411480" y="2767584"/>
            <a:ext cx="360669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ckground_field_grp_12"/>
          <p:cNvSpPr/>
          <p:nvPr/>
        </p:nvSpPr>
        <p:spPr>
          <a:xfrm>
            <a:off x="411480" y="3078480"/>
            <a:ext cx="3606698" cy="22860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eta_hdr_grp_12"/>
          <p:cNvSpPr txBox="1"/>
          <p:nvPr/>
        </p:nvSpPr>
        <p:spPr>
          <a:xfrm>
            <a:off x="539496" y="2767584"/>
            <a:ext cx="33506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1–2  Set objectives &amp; targets</a:t>
            </a:r>
          </a:p>
        </p:txBody>
      </p:sp>
      <p:sp>
        <p:nvSpPr>
          <p:cNvPr id="21" name="body_grp_12"/>
          <p:cNvSpPr txBox="1"/>
          <p:nvPr/>
        </p:nvSpPr>
        <p:spPr>
          <a:xfrm>
            <a:off x="557784" y="3169920"/>
            <a:ext cx="331409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Set time-bound objectives that contribute to fulfilling the mission and vision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Set metrics that directly measure agreed objectives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Set additional metrics that cascade down from the key metric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Set quantitative targets for the metrics; translate into operational plans and budgets</a:t>
            </a:r>
          </a:p>
        </p:txBody>
      </p:sp>
      <p:sp>
        <p:nvSpPr>
          <p:cNvPr id="22" name="background_hdr_grp_34"/>
          <p:cNvSpPr/>
          <p:nvPr/>
        </p:nvSpPr>
        <p:spPr>
          <a:xfrm>
            <a:off x="4292498" y="2767584"/>
            <a:ext cx="360669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ckground_field_grp_34"/>
          <p:cNvSpPr/>
          <p:nvPr/>
        </p:nvSpPr>
        <p:spPr>
          <a:xfrm>
            <a:off x="4292498" y="3078480"/>
            <a:ext cx="3606698" cy="22860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a_hdr_grp_34"/>
          <p:cNvSpPr txBox="1"/>
          <p:nvPr/>
        </p:nvSpPr>
        <p:spPr>
          <a:xfrm>
            <a:off x="4420514" y="2767584"/>
            <a:ext cx="33506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3–4  Establish &amp; track metrics</a:t>
            </a:r>
          </a:p>
        </p:txBody>
      </p:sp>
      <p:sp>
        <p:nvSpPr>
          <p:cNvPr id="25" name="body_grp_34"/>
          <p:cNvSpPr txBox="1"/>
          <p:nvPr/>
        </p:nvSpPr>
        <p:spPr>
          <a:xfrm>
            <a:off x="4438802" y="3169920"/>
            <a:ext cx="331409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Produce progress reports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Disseminate reports to team members and stakeholders at pre-aligned intervals</a:t>
            </a:r>
          </a:p>
        </p:txBody>
      </p:sp>
      <p:sp>
        <p:nvSpPr>
          <p:cNvPr id="26" name="background_hdr_grp_56"/>
          <p:cNvSpPr/>
          <p:nvPr/>
        </p:nvSpPr>
        <p:spPr>
          <a:xfrm>
            <a:off x="8173516" y="2767584"/>
            <a:ext cx="360669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ckground_field_grp_56"/>
          <p:cNvSpPr/>
          <p:nvPr/>
        </p:nvSpPr>
        <p:spPr>
          <a:xfrm>
            <a:off x="8173516" y="3078480"/>
            <a:ext cx="3606698" cy="22860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eta_hdr_grp_56"/>
          <p:cNvSpPr txBox="1"/>
          <p:nvPr/>
        </p:nvSpPr>
        <p:spPr>
          <a:xfrm>
            <a:off x="8301532" y="2767584"/>
            <a:ext cx="33506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5–6  Review &amp; act</a:t>
            </a:r>
          </a:p>
        </p:txBody>
      </p:sp>
      <p:sp>
        <p:nvSpPr>
          <p:cNvPr id="29" name="body_grp_56"/>
          <p:cNvSpPr txBox="1"/>
          <p:nvPr/>
        </p:nvSpPr>
        <p:spPr>
          <a:xfrm>
            <a:off x="8319820" y="3169920"/>
            <a:ext cx="331409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Use reports to discuss progress in structured review meetings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Identify possible performance gaps and decide how to address them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Celebrate successes and take any required corrective actions</a:t>
            </a:r>
          </a:p>
        </p:txBody>
      </p:sp>
      <p:sp>
        <p:nvSpPr>
          <p:cNvPr id="30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31" name="meta_pagenum_6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These terms define the building blocks of performance management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2529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table_terms"/>
          <p:cNvSpPr txBox="1"/>
          <p:nvPr/>
        </p:nvSpPr>
        <p:spPr>
          <a:xfrm>
            <a:off x="411480" y="1389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Definition of performance management terms</a:t>
            </a:r>
          </a:p>
        </p:txBody>
      </p:sp>
      <p:graphicFrame>
        <p:nvGraphicFramePr>
          <p:cNvPr id="5" name="table_terms"/>
          <p:cNvGraphicFramePr>
            <a:graphicFrameLocks noGrp="1"/>
          </p:cNvGraphicFramePr>
          <p:nvPr/>
        </p:nvGraphicFramePr>
        <p:xfrm>
          <a:off x="411480" y="1664208"/>
          <a:ext cx="1136599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120640"/>
                <a:gridCol w="4690872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Definition / 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Narrow, time-bound, quantifiable goal that contributes to delivering the 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Supply low-cost, quality TB drugs at USD 20/treatment course for X patients in 2010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Measurable variable that indicates progress toward an objective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Funds raised; patient treatments supplied; grants approved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The target value of the chosen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15 million patient treatments supplied by 2010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Report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A set of metrics and current values vs. target, with reasons for performance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See dashboard examples in this document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Performance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A sequence of meetings to review performance, find root causes, and agree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Quarterly team review meeting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Mission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Defines the organization's purpose and primary objectives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Supply low-cost, quality drugs to countries that need them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Articulates the aspiration or target for the future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A TB-free world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7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We think about performance in terms of both processes and enablers — (2) Enablers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lead"/>
          <p:cNvSpPr/>
          <p:nvPr/>
        </p:nvSpPr>
        <p:spPr>
          <a:xfrm>
            <a:off x="411480" y="1450848"/>
            <a:ext cx="5547207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39700" bIns="139700">
            <a:no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Committed leadership</a:t>
            </a:r>
          </a:p>
          <a:p>
            <a:pPr algn="l"/>
            <a:r>
              <a:rPr sz="1200" b="0" i="0">
                <a:solidFill>
                  <a:srgbClr val="D6E0F0"/>
                </a:solidFill>
                <a:latin typeface="Arial"/>
              </a:rPr>
              <a:t>Strong leadership involvement and dedication.</a:t>
            </a:r>
          </a:p>
        </p:txBody>
      </p:sp>
      <p:sp>
        <p:nvSpPr>
          <p:cNvPr id="5" name="card_capacity"/>
          <p:cNvSpPr/>
          <p:nvPr/>
        </p:nvSpPr>
        <p:spPr>
          <a:xfrm>
            <a:off x="6233007" y="1450848"/>
            <a:ext cx="5547207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39700" bIns="139700">
            <a:no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Capacity</a:t>
            </a:r>
          </a:p>
          <a:p>
            <a:pPr algn="l"/>
            <a:r>
              <a:rPr sz="1200" b="0" i="0">
                <a:solidFill>
                  <a:srgbClr val="D6E0F0"/>
                </a:solidFill>
                <a:latin typeface="Arial"/>
              </a:rPr>
              <a:t>Ensure sufficient skills, infrastructure, and resources for performance.</a:t>
            </a:r>
          </a:p>
        </p:txBody>
      </p:sp>
      <p:sp>
        <p:nvSpPr>
          <p:cNvPr id="6" name="card_comms"/>
          <p:cNvSpPr/>
          <p:nvPr/>
        </p:nvSpPr>
        <p:spPr>
          <a:xfrm>
            <a:off x="411480" y="3736848"/>
            <a:ext cx="5547207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39700" bIns="139700">
            <a:no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Communications</a:t>
            </a:r>
          </a:p>
          <a:p>
            <a:pPr algn="l"/>
            <a:r>
              <a:rPr sz="1200" b="0" i="0">
                <a:solidFill>
                  <a:srgbClr val="D6E0F0"/>
                </a:solidFill>
                <a:latin typeface="Arial"/>
              </a:rPr>
              <a:t>Communicate both performance and the importance of discussing performance regularly to all stakeholders.</a:t>
            </a:r>
          </a:p>
        </p:txBody>
      </p:sp>
      <p:sp>
        <p:nvSpPr>
          <p:cNvPr id="7" name="card_culture"/>
          <p:cNvSpPr/>
          <p:nvPr/>
        </p:nvSpPr>
        <p:spPr>
          <a:xfrm>
            <a:off x="6233007" y="3736848"/>
            <a:ext cx="5547207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39700" bIns="139700">
            <a:no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Culture</a:t>
            </a:r>
          </a:p>
          <a:p>
            <a:pPr algn="l"/>
            <a:r>
              <a:rPr sz="1200" b="0" i="0">
                <a:solidFill>
                  <a:srgbClr val="D6E0F0"/>
                </a:solidFill>
                <a:latin typeface="Arial"/>
              </a:rPr>
              <a:t>Develop shared cultural norms for performance (e.g., accountability, behaviors).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9" name="meta_pagenum_8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Many GHPs find some performance processes challenging given their complex environment and structure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hain_label"/>
          <p:cNvSpPr txBox="1"/>
          <p:nvPr/>
        </p:nvSpPr>
        <p:spPr>
          <a:xfrm>
            <a:off x="411480" y="1450848"/>
            <a:ext cx="1136873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4D7B"/>
                </a:solidFill>
                <a:latin typeface="Arial"/>
              </a:rPr>
              <a:t>Performance management</a:t>
            </a:r>
          </a:p>
        </p:txBody>
      </p:sp>
      <p:cxnSp>
        <p:nvCxnSpPr>
          <p:cNvPr id="5" name="background_processline"/>
          <p:cNvCxnSpPr/>
          <p:nvPr/>
        </p:nvCxnSpPr>
        <p:spPr>
          <a:xfrm>
            <a:off x="411480" y="1880616"/>
            <a:ext cx="11368735" cy="0"/>
          </a:xfrm>
          <a:prstGeom prst="bentConnector3">
            <a:avLst/>
          </a:prstGeom>
          <a:ln w="2540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artpart_chip_1"/>
          <p:cNvSpPr/>
          <p:nvPr/>
        </p:nvSpPr>
        <p:spPr>
          <a:xfrm>
            <a:off x="1090650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meta_steplabel_1"/>
          <p:cNvSpPr txBox="1"/>
          <p:nvPr/>
        </p:nvSpPr>
        <p:spPr>
          <a:xfrm>
            <a:off x="411480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Set objectives</a:t>
            </a:r>
          </a:p>
        </p:txBody>
      </p:sp>
      <p:sp>
        <p:nvSpPr>
          <p:cNvPr id="8" name="chartpart_chip_2"/>
          <p:cNvSpPr/>
          <p:nvPr/>
        </p:nvSpPr>
        <p:spPr>
          <a:xfrm>
            <a:off x="3015919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meta_steplabel_2"/>
          <p:cNvSpPr txBox="1"/>
          <p:nvPr/>
        </p:nvSpPr>
        <p:spPr>
          <a:xfrm>
            <a:off x="2336749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Set targets</a:t>
            </a:r>
          </a:p>
        </p:txBody>
      </p:sp>
      <p:sp>
        <p:nvSpPr>
          <p:cNvPr id="10" name="chartpart_chip_3"/>
          <p:cNvSpPr/>
          <p:nvPr/>
        </p:nvSpPr>
        <p:spPr>
          <a:xfrm>
            <a:off x="4941188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meta_steplabel_3"/>
          <p:cNvSpPr txBox="1"/>
          <p:nvPr/>
        </p:nvSpPr>
        <p:spPr>
          <a:xfrm>
            <a:off x="4262018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Establish clear metrics</a:t>
            </a:r>
          </a:p>
        </p:txBody>
      </p:sp>
      <p:sp>
        <p:nvSpPr>
          <p:cNvPr id="12" name="chartpart_chip_4"/>
          <p:cNvSpPr/>
          <p:nvPr/>
        </p:nvSpPr>
        <p:spPr>
          <a:xfrm>
            <a:off x="6866457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meta_steplabel_4"/>
          <p:cNvSpPr txBox="1"/>
          <p:nvPr/>
        </p:nvSpPr>
        <p:spPr>
          <a:xfrm>
            <a:off x="6187287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Track &amp; disseminate metrics</a:t>
            </a:r>
          </a:p>
        </p:txBody>
      </p:sp>
      <p:sp>
        <p:nvSpPr>
          <p:cNvPr id="14" name="chartpart_chip_5"/>
          <p:cNvSpPr/>
          <p:nvPr/>
        </p:nvSpPr>
        <p:spPr>
          <a:xfrm>
            <a:off x="8791726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meta_steplabel_5"/>
          <p:cNvSpPr txBox="1"/>
          <p:nvPr/>
        </p:nvSpPr>
        <p:spPr>
          <a:xfrm>
            <a:off x="8112556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Review performance</a:t>
            </a:r>
          </a:p>
        </p:txBody>
      </p:sp>
      <p:sp>
        <p:nvSpPr>
          <p:cNvPr id="16" name="chartpart_chip_6"/>
          <p:cNvSpPr/>
          <p:nvPr/>
        </p:nvSpPr>
        <p:spPr>
          <a:xfrm>
            <a:off x="10716995" y="168859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meta_steplabel_6"/>
          <p:cNvSpPr txBox="1"/>
          <p:nvPr/>
        </p:nvSpPr>
        <p:spPr>
          <a:xfrm>
            <a:off x="10037825" y="2118360"/>
            <a:ext cx="174238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32D38"/>
                </a:solidFill>
                <a:latin typeface="Arial"/>
              </a:rPr>
              <a:t>Celebrate &amp; take action</a:t>
            </a:r>
          </a:p>
        </p:txBody>
      </p:sp>
      <p:sp>
        <p:nvSpPr>
          <p:cNvPr id="18" name="background_hdr_ch_1"/>
          <p:cNvSpPr/>
          <p:nvPr/>
        </p:nvSpPr>
        <p:spPr>
          <a:xfrm>
            <a:off x="411480" y="2767584"/>
            <a:ext cx="360669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ckground_field_ch_1"/>
          <p:cNvSpPr/>
          <p:nvPr/>
        </p:nvSpPr>
        <p:spPr>
          <a:xfrm>
            <a:off x="411480" y="3078480"/>
            <a:ext cx="3606698" cy="23774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eta_hdr_ch_1"/>
          <p:cNvSpPr txBox="1"/>
          <p:nvPr/>
        </p:nvSpPr>
        <p:spPr>
          <a:xfrm>
            <a:off x="539496" y="2767584"/>
            <a:ext cx="33506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Setting objectives &amp; targets</a:t>
            </a:r>
          </a:p>
        </p:txBody>
      </p:sp>
      <p:sp>
        <p:nvSpPr>
          <p:cNvPr id="21" name="body_ch_1"/>
          <p:cNvSpPr txBox="1"/>
          <p:nvPr/>
        </p:nvSpPr>
        <p:spPr>
          <a:xfrm>
            <a:off x="557784" y="3169920"/>
            <a:ext cx="331409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Getting from a vision to specific objectives for the partnership and its bodies, rather than directly to activities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Aligning divergent partner views on which objectives to pursue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Committing to targets is difficult because some targets are not entirely deliverable by the partnership, the voluntary nature of partnerships, and consequences of missing targets (e.g., future funding)</a:t>
            </a:r>
          </a:p>
        </p:txBody>
      </p:sp>
      <p:sp>
        <p:nvSpPr>
          <p:cNvPr id="22" name="background_hdr_ch_2"/>
          <p:cNvSpPr/>
          <p:nvPr/>
        </p:nvSpPr>
        <p:spPr>
          <a:xfrm>
            <a:off x="4292498" y="2767584"/>
            <a:ext cx="360669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ckground_field_ch_2"/>
          <p:cNvSpPr/>
          <p:nvPr/>
        </p:nvSpPr>
        <p:spPr>
          <a:xfrm>
            <a:off x="4292498" y="3078480"/>
            <a:ext cx="3606698" cy="23774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a_hdr_ch_2"/>
          <p:cNvSpPr txBox="1"/>
          <p:nvPr/>
        </p:nvSpPr>
        <p:spPr>
          <a:xfrm>
            <a:off x="4420514" y="2767584"/>
            <a:ext cx="33506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Metrics &amp; data</a:t>
            </a:r>
          </a:p>
        </p:txBody>
      </p:sp>
      <p:sp>
        <p:nvSpPr>
          <p:cNvPr id="25" name="body_ch_2"/>
          <p:cNvSpPr txBox="1"/>
          <p:nvPr/>
        </p:nvSpPr>
        <p:spPr>
          <a:xfrm>
            <a:off x="4438802" y="3169920"/>
            <a:ext cx="331409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Agreeing the right metrics for objectives that are difficult to measure, e.g., awareness about TB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Aligning organization structures with performance drivers and metrics to enable clear accountability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Getting good performance data given in-country data-gathering limitations</a:t>
            </a:r>
          </a:p>
        </p:txBody>
      </p:sp>
      <p:sp>
        <p:nvSpPr>
          <p:cNvPr id="26" name="background_hdr_ch_3"/>
          <p:cNvSpPr/>
          <p:nvPr/>
        </p:nvSpPr>
        <p:spPr>
          <a:xfrm>
            <a:off x="8173516" y="2767584"/>
            <a:ext cx="360669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ckground_field_ch_3"/>
          <p:cNvSpPr/>
          <p:nvPr/>
        </p:nvSpPr>
        <p:spPr>
          <a:xfrm>
            <a:off x="8173516" y="3078480"/>
            <a:ext cx="3606698" cy="23774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eta_hdr_ch_3"/>
          <p:cNvSpPr txBox="1"/>
          <p:nvPr/>
        </p:nvSpPr>
        <p:spPr>
          <a:xfrm>
            <a:off x="8301532" y="2767584"/>
            <a:ext cx="33506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Advocacy specifics</a:t>
            </a:r>
          </a:p>
        </p:txBody>
      </p:sp>
      <p:sp>
        <p:nvSpPr>
          <p:cNvPr id="29" name="body_ch_3"/>
          <p:cNvSpPr txBox="1"/>
          <p:nvPr/>
        </p:nvSpPr>
        <p:spPr>
          <a:xfrm>
            <a:off x="8319820" y="3169920"/>
            <a:ext cx="331409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Setting advocacy objectives that stay current and relevant in changing external circumstances</a:t>
            </a:r>
          </a:p>
          <a:p>
            <a:pPr algn="l" marL="153670" indent="-15367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Finding and making visible tactical advocacy opportunities for partners</a:t>
            </a:r>
          </a:p>
        </p:txBody>
      </p:sp>
      <p:sp>
        <p:nvSpPr>
          <p:cNvPr id="30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31" name="meta_pagenum_9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Many GHPs also struggle with the right enablers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2529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ch_lead"/>
          <p:cNvSpPr/>
          <p:nvPr/>
        </p:nvSpPr>
        <p:spPr>
          <a:xfrm>
            <a:off x="411480" y="1389888"/>
            <a:ext cx="5547207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39700" bIns="139700">
            <a:no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Committed leadership</a:t>
            </a:r>
          </a:p>
          <a:p>
            <a:pPr algn="l"/>
            <a:r>
              <a:rPr sz="1200" b="0" i="0">
                <a:solidFill>
                  <a:srgbClr val="D6E0F0"/>
                </a:solidFill>
                <a:latin typeface="Arial"/>
              </a:rPr>
              <a:t>Ensuring leaders regularly lead and participate in performance reviews, in spite of many other calls on their time.</a:t>
            </a:r>
          </a:p>
        </p:txBody>
      </p:sp>
      <p:sp>
        <p:nvSpPr>
          <p:cNvPr id="5" name="card_ch_cap"/>
          <p:cNvSpPr/>
          <p:nvPr/>
        </p:nvSpPr>
        <p:spPr>
          <a:xfrm>
            <a:off x="6233007" y="1389888"/>
            <a:ext cx="5547207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39700" bIns="139700">
            <a:no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Capacity</a:t>
            </a:r>
          </a:p>
          <a:p>
            <a:pPr algn="l"/>
            <a:r>
              <a:rPr sz="1200" b="0" i="0">
                <a:solidFill>
                  <a:srgbClr val="D6E0F0"/>
                </a:solidFill>
                <a:latin typeface="Arial"/>
              </a:rPr>
              <a:t>Allocating appropriate resources to performance management given limited resources for internal processes.</a:t>
            </a:r>
          </a:p>
        </p:txBody>
      </p:sp>
      <p:sp>
        <p:nvSpPr>
          <p:cNvPr id="6" name="card_ch_comms"/>
          <p:cNvSpPr/>
          <p:nvPr/>
        </p:nvSpPr>
        <p:spPr>
          <a:xfrm>
            <a:off x="411480" y="3675888"/>
            <a:ext cx="5547207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39700" bIns="139700">
            <a:no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Communications</a:t>
            </a:r>
          </a:p>
          <a:p>
            <a:pPr algn="l"/>
            <a:r>
              <a:rPr sz="1200" b="0" i="0">
                <a:solidFill>
                  <a:srgbClr val="D6E0F0"/>
                </a:solidFill>
                <a:latin typeface="Arial"/>
              </a:rPr>
              <a:t>Establishing a shared understanding of accountability across the different backgrounds of partners; keeping partners in a loose working group engaged and motivated.</a:t>
            </a:r>
          </a:p>
        </p:txBody>
      </p:sp>
      <p:sp>
        <p:nvSpPr>
          <p:cNvPr id="7" name="card_ch_cult"/>
          <p:cNvSpPr/>
          <p:nvPr/>
        </p:nvSpPr>
        <p:spPr>
          <a:xfrm>
            <a:off x="6233007" y="3675888"/>
            <a:ext cx="5547207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39700" bIns="139700">
            <a:no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Culture</a:t>
            </a:r>
          </a:p>
          <a:p>
            <a:pPr algn="l"/>
            <a:r>
              <a:rPr sz="1200" b="0" i="0">
                <a:solidFill>
                  <a:srgbClr val="D6E0F0"/>
                </a:solidFill>
                <a:latin typeface="Arial"/>
              </a:rPr>
              <a:t>Moving from a culture of performance measurement (extensive reporting) to performance management (open discussion of outcomes); defining ambitious goals despite a consensus-building culture that tends toward abstract objectives.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9" name="meta_pagenum_10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The Stop TB Partnership displays a number of strengths across performance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hdr_col_strengths"/>
          <p:cNvSpPr/>
          <p:nvPr/>
        </p:nvSpPr>
        <p:spPr>
          <a:xfrm>
            <a:off x="411480" y="1450848"/>
            <a:ext cx="11368735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field_col_strengths"/>
          <p:cNvSpPr/>
          <p:nvPr/>
        </p:nvSpPr>
        <p:spPr>
          <a:xfrm>
            <a:off x="411480" y="1761744"/>
            <a:ext cx="11368735" cy="438912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hdr_col_strengths"/>
          <p:cNvSpPr txBox="1"/>
          <p:nvPr/>
        </p:nvSpPr>
        <p:spPr>
          <a:xfrm>
            <a:off x="539496" y="1450848"/>
            <a:ext cx="1111270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Strengths (process)</a:t>
            </a:r>
          </a:p>
        </p:txBody>
      </p:sp>
      <p:sp>
        <p:nvSpPr>
          <p:cNvPr id="7" name="body_strengths"/>
          <p:cNvSpPr txBox="1"/>
          <p:nvPr/>
        </p:nvSpPr>
        <p:spPr>
          <a:xfrm>
            <a:off x="557784" y="1853184"/>
            <a:ext cx="11076127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Aft>
                <a:spcPts val="900"/>
              </a:spcAft>
              <a:buFont typeface="Arial"/>
              <a:buChar char="▪"/>
            </a:pPr>
            <a:r>
              <a:rPr sz="1200" b="1" i="0">
                <a:solidFill>
                  <a:srgbClr val="232D38"/>
                </a:solidFill>
                <a:latin typeface="Arial"/>
              </a:rPr>
              <a:t>Setting objectives — </a:t>
            </a:r>
            <a:r>
              <a:rPr sz="1200" b="0" i="0">
                <a:solidFill>
                  <a:srgbClr val="232D38"/>
                </a:solidFill>
                <a:latin typeface="Arial"/>
              </a:rPr>
              <a:t>GDF objectives are clearly defined and distinguish the change GDF hopes to bring about in the world (e.g., MDGs — 70% of TB cases diagnosed, 85% cure rate) from the internal goals it sets itself</a:t>
            </a:r>
          </a:p>
          <a:p>
            <a:pPr algn="l" marL="167640" indent="-167640">
              <a:spcAft>
                <a:spcPts val="900"/>
              </a:spcAft>
              <a:buFont typeface="Arial"/>
              <a:buChar char="▪"/>
            </a:pPr>
            <a:r>
              <a:rPr sz="1200" b="1" i="0">
                <a:solidFill>
                  <a:srgbClr val="232D38"/>
                </a:solidFill>
                <a:latin typeface="Arial"/>
              </a:rPr>
              <a:t>Tracking and disseminating metrics — </a:t>
            </a:r>
            <a:r>
              <a:rPr sz="1200" b="0" i="0">
                <a:solidFill>
                  <a:srgbClr val="232D38"/>
                </a:solidFill>
                <a:latin typeface="Arial"/>
              </a:rPr>
              <a:t>despite limited resources, GDF tracks and reports on a wide variety of metrics to meet the different demands of donors</a:t>
            </a:r>
          </a:p>
          <a:p>
            <a:pPr algn="l" marL="167640" indent="-167640">
              <a:spcAft>
                <a:spcPts val="900"/>
              </a:spcAft>
              <a:buFont typeface="Arial"/>
              <a:buChar char="▪"/>
            </a:pPr>
            <a:r>
              <a:rPr sz="1200" b="1" i="0">
                <a:solidFill>
                  <a:srgbClr val="232D38"/>
                </a:solidFill>
                <a:latin typeface="Arial"/>
              </a:rPr>
              <a:t>Establishing clear metrics and setting targets — </a:t>
            </a:r>
            <a:r>
              <a:rPr sz="1200" b="0" i="0">
                <a:solidFill>
                  <a:srgbClr val="232D38"/>
                </a:solidFill>
                <a:latin typeface="Arial"/>
              </a:rPr>
              <a:t>the MDR-TB Working Group defines concrete metrics (e.g., patients with access to MDR-TB treatment) and sets specific targets (e.g., for 2009: 200,000 patients, 4 projects)</a:t>
            </a:r>
          </a:p>
          <a:p>
            <a:pPr algn="l" marL="167640" indent="-167640">
              <a:spcAft>
                <a:spcPts val="900"/>
              </a:spcAft>
              <a:buFont typeface="Arial"/>
              <a:buChar char="▪"/>
            </a:pPr>
            <a:r>
              <a:rPr sz="1200" b="1" i="0">
                <a:solidFill>
                  <a:srgbClr val="232D38"/>
                </a:solidFill>
                <a:latin typeface="Arial"/>
              </a:rPr>
              <a:t>Reviewing performance — </a:t>
            </a:r>
            <a:r>
              <a:rPr sz="1200" b="0" i="0">
                <a:solidFill>
                  <a:srgbClr val="232D38"/>
                </a:solidFill>
                <a:latin typeface="Arial"/>
              </a:rPr>
              <a:t>the Advocacy Team conducts an in-depth review of performance against objectives stated in its funding proposal, taking stock of results and lessons learned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analysis; interviews.</a:t>
            </a:r>
          </a:p>
        </p:txBody>
      </p:sp>
      <p:sp>
        <p:nvSpPr>
          <p:cNvPr id="9" name="meta_pagenum_11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We jointly agreed on the performance issues to address across the five Partnership bodies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table_issues"/>
          <p:cNvSpPr txBox="1"/>
          <p:nvPr/>
        </p:nvSpPr>
        <p:spPr>
          <a:xfrm>
            <a:off x="411480" y="145084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Performance issues addressed across the five Partnership bodies</a:t>
            </a:r>
          </a:p>
        </p:txBody>
      </p:sp>
      <p:graphicFrame>
        <p:nvGraphicFramePr>
          <p:cNvPr id="5" name="table_issues"/>
          <p:cNvGraphicFramePr>
            <a:graphicFrameLocks noGrp="1"/>
          </p:cNvGraphicFramePr>
          <p:nvPr/>
        </p:nvGraphicFramePr>
        <p:xfrm>
          <a:off x="411480" y="1725168"/>
          <a:ext cx="1136599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31920"/>
                <a:gridCol w="5056632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Partnership body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Central GHP performance issue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Specific question addressed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GDF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GDF tracks 250 metrics, but not all relate to GDF, some overlap, and metrics are not organized hierarchically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Advocacy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Setting advocacy objectives that stay current and relevant in changing external circumstances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Setting advocacy objectives within Stop TB that stay current; finding and making visible tactical opportunities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Comms, Marketing &amp; Branding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Determining detailed objectives for each audience group and defining metrics for 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Challenge Facility for Civil Society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Refining the mission based on the first two years' experience and articulating specific objectives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MDR-TB Working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Tying metrics explicitly to WG objectives; clarifying accountabilities and timelines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2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While most of the 250 metrics were relevant and helpful to GDF, data collection and reporting was onerous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quote_1"/>
          <p:cNvSpPr/>
          <p:nvPr/>
        </p:nvSpPr>
        <p:spPr>
          <a:xfrm>
            <a:off x="411480" y="1450848"/>
            <a:ext cx="2670733" cy="16002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All together we report on over 200 KPIs that cover our numerous external reporting requirements</a:t>
            </a:r>
          </a:p>
        </p:txBody>
      </p:sp>
      <p:sp>
        <p:nvSpPr>
          <p:cNvPr id="5" name="card_quote_2"/>
          <p:cNvSpPr/>
          <p:nvPr/>
        </p:nvSpPr>
        <p:spPr>
          <a:xfrm>
            <a:off x="3310813" y="1450848"/>
            <a:ext cx="2670733" cy="16002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Most individual KPIs are relevant and helpful</a:t>
            </a:r>
          </a:p>
        </p:txBody>
      </p:sp>
      <p:sp>
        <p:nvSpPr>
          <p:cNvPr id="6" name="card_quote_3"/>
          <p:cNvSpPr/>
          <p:nvPr/>
        </p:nvSpPr>
        <p:spPr>
          <a:xfrm>
            <a:off x="6210146" y="1450848"/>
            <a:ext cx="2670733" cy="16002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KPIs are specific and measurable</a:t>
            </a:r>
          </a:p>
        </p:txBody>
      </p:sp>
      <p:sp>
        <p:nvSpPr>
          <p:cNvPr id="7" name="card_quote_4"/>
          <p:cNvSpPr/>
          <p:nvPr/>
        </p:nvSpPr>
        <p:spPr>
          <a:xfrm>
            <a:off x="9109479" y="1450848"/>
            <a:ext cx="2670733" cy="16002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It is difficult to define metrics for some areas, so we have KPI gaps</a:t>
            </a:r>
          </a:p>
        </p:txBody>
      </p:sp>
      <p:sp>
        <p:nvSpPr>
          <p:cNvPr id="8" name="card_quote_5"/>
          <p:cNvSpPr/>
          <p:nvPr/>
        </p:nvSpPr>
        <p:spPr>
          <a:xfrm>
            <a:off x="411480" y="3279648"/>
            <a:ext cx="3637178" cy="16002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Some of our KPIs overlap, so it is unclear what we are optimizing for</a:t>
            </a:r>
          </a:p>
        </p:txBody>
      </p:sp>
      <p:sp>
        <p:nvSpPr>
          <p:cNvPr id="9" name="card_quote_6"/>
          <p:cNvSpPr/>
          <p:nvPr/>
        </p:nvSpPr>
        <p:spPr>
          <a:xfrm>
            <a:off x="4277258" y="3279648"/>
            <a:ext cx="3637178" cy="16002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It takes too much time to collect the information and adapt it to our 200+ KPIs</a:t>
            </a:r>
          </a:p>
        </p:txBody>
      </p:sp>
      <p:sp>
        <p:nvSpPr>
          <p:cNvPr id="10" name="card_quote_7"/>
          <p:cNvSpPr/>
          <p:nvPr/>
        </p:nvSpPr>
        <p:spPr>
          <a:xfrm>
            <a:off x="8143036" y="3279648"/>
            <a:ext cx="3637178" cy="16002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Since the hierarchy of KPIs is not clear, it is hard to prioritize</a:t>
            </a:r>
          </a:p>
        </p:txBody>
      </p:sp>
      <p:sp>
        <p:nvSpPr>
          <p:cNvPr id="11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Interviews.</a:t>
            </a:r>
          </a:p>
        </p:txBody>
      </p:sp>
      <p:sp>
        <p:nvSpPr>
          <p:cNvPr id="12" name="meta_pagenum_13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The team followed an eight-step process to create streamlined, structured KPIs, dashboards, and review meetings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step_a"/>
          <p:cNvSpPr/>
          <p:nvPr/>
        </p:nvSpPr>
        <p:spPr>
          <a:xfrm>
            <a:off x="411480" y="1450848"/>
            <a:ext cx="2670733" cy="20345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Collate all GDF metrics reported on into one database: ~250 in total</a:t>
            </a:r>
          </a:p>
        </p:txBody>
      </p:sp>
      <p:sp>
        <p:nvSpPr>
          <p:cNvPr id="5" name="card_step_b"/>
          <p:cNvSpPr/>
          <p:nvPr/>
        </p:nvSpPr>
        <p:spPr>
          <a:xfrm>
            <a:off x="3310813" y="1450848"/>
            <a:ext cx="2670733" cy="20345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b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Agree on GDF objectives and cluster metrics/KPIs to objectives</a:t>
            </a:r>
          </a:p>
        </p:txBody>
      </p:sp>
      <p:sp>
        <p:nvSpPr>
          <p:cNvPr id="6" name="card_step_c"/>
          <p:cNvSpPr/>
          <p:nvPr/>
        </p:nvSpPr>
        <p:spPr>
          <a:xfrm>
            <a:off x="6210146" y="1450848"/>
            <a:ext cx="2670733" cy="20345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c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Develop a detailed KPI tree for each objective</a:t>
            </a:r>
          </a:p>
        </p:txBody>
      </p:sp>
      <p:sp>
        <p:nvSpPr>
          <p:cNvPr id="7" name="card_step_d"/>
          <p:cNvSpPr/>
          <p:nvPr/>
        </p:nvSpPr>
        <p:spPr>
          <a:xfrm>
            <a:off x="9109479" y="1450848"/>
            <a:ext cx="2670733" cy="20345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Streamline detailed trees, excluding activity-related or non-GDF-owned KPIs</a:t>
            </a:r>
          </a:p>
        </p:txBody>
      </p:sp>
      <p:sp>
        <p:nvSpPr>
          <p:cNvPr id="8" name="card_step_e"/>
          <p:cNvSpPr/>
          <p:nvPr/>
        </p:nvSpPr>
        <p:spPr>
          <a:xfrm>
            <a:off x="411480" y="3713988"/>
            <a:ext cx="2670733" cy="20345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Assign owners to, and define review frequency of, each KPI</a:t>
            </a:r>
          </a:p>
        </p:txBody>
      </p:sp>
      <p:sp>
        <p:nvSpPr>
          <p:cNvPr id="9" name="card_step_f"/>
          <p:cNvSpPr/>
          <p:nvPr/>
        </p:nvSpPr>
        <p:spPr>
          <a:xfrm>
            <a:off x="3310813" y="3713988"/>
            <a:ext cx="2670733" cy="20345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f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Develop a clear cascade of KPIs from teams up to the COO annual performance review</a:t>
            </a:r>
          </a:p>
        </p:txBody>
      </p:sp>
      <p:sp>
        <p:nvSpPr>
          <p:cNvPr id="10" name="card_step_g"/>
          <p:cNvSpPr/>
          <p:nvPr/>
        </p:nvSpPr>
        <p:spPr>
          <a:xfrm>
            <a:off x="6210146" y="3713988"/>
            <a:ext cx="2670733" cy="20345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Create dashboards and review calendars for each team</a:t>
            </a:r>
          </a:p>
        </p:txBody>
      </p:sp>
      <p:sp>
        <p:nvSpPr>
          <p:cNvPr id="11" name="card_step_h"/>
          <p:cNvSpPr/>
          <p:nvPr/>
        </p:nvSpPr>
        <p:spPr>
          <a:xfrm>
            <a:off x="9109479" y="3713988"/>
            <a:ext cx="2670733" cy="20345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14300" bIns="114300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h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Hold a workshop on conducting performance dialogues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3" name="meta_pagenum_14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Seven KPIs give a clear overview of GDF's performance against its three main objectives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table_kpitree"/>
          <p:cNvSpPr txBox="1"/>
          <p:nvPr/>
        </p:nvSpPr>
        <p:spPr>
          <a:xfrm>
            <a:off x="411480" y="145084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Objective → KPI mapping for GDF</a:t>
            </a:r>
          </a:p>
        </p:txBody>
      </p:sp>
      <p:graphicFrame>
        <p:nvGraphicFramePr>
          <p:cNvPr id="5" name="table_kpitree"/>
          <p:cNvGraphicFramePr>
            <a:graphicFrameLocks noGrp="1"/>
          </p:cNvGraphicFramePr>
          <p:nvPr/>
        </p:nvGraphicFramePr>
        <p:xfrm>
          <a:off x="411480" y="1725168"/>
          <a:ext cx="1136599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858000"/>
                <a:gridCol w="3867912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1a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Provide uninterrupted supply of 1st- and 2nd-line TB drugs and diagnostics (low-cost, high-quality, timely, demand-driven, to eligible countries)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Number of patient treatments delivered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1b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Average cost per patient treatment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Sustainably strengthen eligible countries' national drug management, procurement capacity, and financial self-sufficiency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Number of countries that move to direct 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3a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Ensure appropriate and efficient staffing and funding to drive the mission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Organizational health and culture index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Staff capacity and capability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3c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Funds raised vs. required for GDF administrative costs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Funds raised vs. required for GDF 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analysis; Annual GDF report 2008.</a:t>
            </a:r>
          </a:p>
        </p:txBody>
      </p:sp>
      <p:sp>
        <p:nvSpPr>
          <p:cNvPr id="7" name="meta_pagenum_15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2743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4D7B"/>
                </a:solidFill>
                <a:latin typeface="Arial"/>
              </a:rPr>
              <a:t>ILLUSTRATIVE — DUMMY NUMBERS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The COO's annual dashboard tracks cost and volume against target across treatment lines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hart_dashboard"/>
          <p:cNvSpPr txBox="1"/>
          <p:nvPr/>
        </p:nvSpPr>
        <p:spPr>
          <a:xfrm>
            <a:off x="411480" y="1450848"/>
            <a:ext cx="7040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Average cost per patient treatment or diagnostic unit (USD), Actual vs. Target</a:t>
            </a:r>
          </a:p>
        </p:txBody>
      </p:sp>
      <p:graphicFrame>
        <p:nvGraphicFramePr>
          <p:cNvPr id="6" name="chart_dashboard"/>
          <p:cNvGraphicFramePr>
            <a:graphicFrameLocks noGrp="1"/>
          </p:cNvGraphicFramePr>
          <p:nvPr/>
        </p:nvGraphicFramePr>
        <p:xfrm>
          <a:off x="411480" y="1816608"/>
          <a:ext cx="70408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overlay_table_funds"/>
          <p:cNvSpPr txBox="1"/>
          <p:nvPr/>
        </p:nvSpPr>
        <p:spPr>
          <a:xfrm>
            <a:off x="7726680" y="1450848"/>
            <a:ext cx="405353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Funds raised vs. required ($M)</a:t>
            </a:r>
          </a:p>
        </p:txBody>
      </p:sp>
      <p:graphicFrame>
        <p:nvGraphicFramePr>
          <p:cNvPr id="8" name="table_funds"/>
          <p:cNvGraphicFramePr>
            <a:graphicFrameLocks noGrp="1"/>
          </p:cNvGraphicFramePr>
          <p:nvPr/>
        </p:nvGraphicFramePr>
        <p:xfrm>
          <a:off x="7726680" y="1816608"/>
          <a:ext cx="35661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Stream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Raised (X)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Required (Y)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GDF 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GDF administration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1.7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</a:tbl>
          </a:graphicData>
        </a:graphic>
      </p:graphicFrame>
      <p:sp>
        <p:nvSpPr>
          <p:cNvPr id="9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analysis. Dummy numbers for illustration.</a:t>
            </a:r>
          </a:p>
        </p:txBody>
      </p:sp>
      <p:sp>
        <p:nvSpPr>
          <p:cNvPr id="10" name="meta_pagenum_16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These next steps will implement and capture benefits at GDF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2529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table_gdfnext"/>
          <p:cNvSpPr txBox="1"/>
          <p:nvPr/>
        </p:nvSpPr>
        <p:spPr>
          <a:xfrm>
            <a:off x="411480" y="13898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Next steps to implement and capture benefits at GDF</a:t>
            </a:r>
          </a:p>
        </p:txBody>
      </p:sp>
      <p:graphicFrame>
        <p:nvGraphicFramePr>
          <p:cNvPr id="5" name="table_gdfnext"/>
          <p:cNvGraphicFramePr>
            <a:graphicFrameLocks noGrp="1"/>
          </p:cNvGraphicFramePr>
          <p:nvPr/>
        </p:nvGraphicFramePr>
        <p:xfrm>
          <a:off x="411480" y="1664208"/>
          <a:ext cx="1136599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439912"/>
              </a:tblGrid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8"/>
                          </a:solidFill>
                          <a:latin typeface="Arial"/>
                        </a:rPr>
                        <a:t>Share KPI trees with donors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8"/>
                          </a:solidFill>
                          <a:latin typeface="Arial"/>
                        </a:rPr>
                        <a:t>Present the GDF KPI tree to donors, compare with metrics they request, and agree on any additional KPIs to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8"/>
                          </a:solidFill>
                          <a:latin typeface="Arial"/>
                        </a:rPr>
                        <a:t>Integrate KPIs into MIS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8"/>
                          </a:solidFill>
                          <a:latin typeface="Arial"/>
                        </a:rPr>
                        <a:t>Establish simple mechanisms within GDF's existing MIS to input and analyze the data required for KPIs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8"/>
                          </a:solidFill>
                          <a:latin typeface="Arial"/>
                        </a:rPr>
                        <a:t>Complete performance-dialogue 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8"/>
                          </a:solidFill>
                          <a:latin typeface="Arial"/>
                        </a:rPr>
                        <a:t>Run a two-hour workshop with GDF team leads on facilitating constructive performance dialogues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8"/>
                          </a:solidFill>
                          <a:latin typeface="Arial"/>
                        </a:rPr>
                        <a:t>Embed KPIs in team performance review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2D38"/>
                          </a:solidFill>
                          <a:latin typeface="Arial"/>
                        </a:rPr>
                        <a:t>Assign reporting responsibilities, schedule review meetings, complete one round of reviews, and refine based on feedback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7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Three steps ensure that emerging opportunities are incorporated into advocacy partners' plans and the Framework Document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hdr_adv1"/>
          <p:cNvSpPr/>
          <p:nvPr/>
        </p:nvSpPr>
        <p:spPr>
          <a:xfrm>
            <a:off x="411480" y="1450848"/>
            <a:ext cx="354573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field_adv1"/>
          <p:cNvSpPr/>
          <p:nvPr/>
        </p:nvSpPr>
        <p:spPr>
          <a:xfrm>
            <a:off x="411480" y="1761744"/>
            <a:ext cx="3545738" cy="42062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hdr_adv1"/>
          <p:cNvSpPr txBox="1"/>
          <p:nvPr/>
        </p:nvSpPr>
        <p:spPr>
          <a:xfrm>
            <a:off x="539496" y="1450848"/>
            <a:ext cx="3289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Step I — “Develop the sunflower”</a:t>
            </a:r>
          </a:p>
        </p:txBody>
      </p:sp>
      <p:sp>
        <p:nvSpPr>
          <p:cNvPr id="7" name="body_adv1"/>
          <p:cNvSpPr txBox="1"/>
          <p:nvPr/>
        </p:nvSpPr>
        <p:spPr>
          <a:xfrm>
            <a:off x="557784" y="1853184"/>
            <a:ext cx="325313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Get more information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Make advocacy every partner's business and increase information sharing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Extend the reach of TB advocacy beyond the Partnership</a:t>
            </a:r>
          </a:p>
        </p:txBody>
      </p:sp>
      <p:sp>
        <p:nvSpPr>
          <p:cNvPr id="8" name="background_arrow_1"/>
          <p:cNvSpPr/>
          <p:nvPr/>
        </p:nvSpPr>
        <p:spPr>
          <a:xfrm>
            <a:off x="4030370" y="1496568"/>
            <a:ext cx="146304" cy="219456"/>
          </a:xfrm>
          <a:prstGeom prst="rightArrow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hdr_adv2"/>
          <p:cNvSpPr/>
          <p:nvPr/>
        </p:nvSpPr>
        <p:spPr>
          <a:xfrm>
            <a:off x="4322978" y="1450848"/>
            <a:ext cx="354573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ckground_field_adv2"/>
          <p:cNvSpPr/>
          <p:nvPr/>
        </p:nvSpPr>
        <p:spPr>
          <a:xfrm>
            <a:off x="4322978" y="1761744"/>
            <a:ext cx="3545738" cy="42062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a_hdr_adv2"/>
          <p:cNvSpPr txBox="1"/>
          <p:nvPr/>
        </p:nvSpPr>
        <p:spPr>
          <a:xfrm>
            <a:off x="4450994" y="1450848"/>
            <a:ext cx="3289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Step II — “Filter the intelligence”</a:t>
            </a:r>
          </a:p>
        </p:txBody>
      </p:sp>
      <p:sp>
        <p:nvSpPr>
          <p:cNvPr id="12" name="body_adv2"/>
          <p:cNvSpPr txBox="1"/>
          <p:nvPr/>
        </p:nvSpPr>
        <p:spPr>
          <a:xfrm>
            <a:off x="4469282" y="1853184"/>
            <a:ext cx="325313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Filter the information received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Set up a process that filters information for validity, impact, global relevance, and feasibility</a:t>
            </a:r>
          </a:p>
        </p:txBody>
      </p:sp>
      <p:sp>
        <p:nvSpPr>
          <p:cNvPr id="13" name="background_arrow_2"/>
          <p:cNvSpPr/>
          <p:nvPr/>
        </p:nvSpPr>
        <p:spPr>
          <a:xfrm>
            <a:off x="7941868" y="1496568"/>
            <a:ext cx="146304" cy="219456"/>
          </a:xfrm>
          <a:prstGeom prst="rightArrow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ckground_hdr_adv3"/>
          <p:cNvSpPr/>
          <p:nvPr/>
        </p:nvSpPr>
        <p:spPr>
          <a:xfrm>
            <a:off x="8234476" y="1450848"/>
            <a:ext cx="354573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ckground_field_adv3"/>
          <p:cNvSpPr/>
          <p:nvPr/>
        </p:nvSpPr>
        <p:spPr>
          <a:xfrm>
            <a:off x="8234476" y="1761744"/>
            <a:ext cx="3545738" cy="420624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eta_hdr_adv3"/>
          <p:cNvSpPr txBox="1"/>
          <p:nvPr/>
        </p:nvSpPr>
        <p:spPr>
          <a:xfrm>
            <a:off x="8362492" y="1450848"/>
            <a:ext cx="3289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Step III — “Keep the framework relevant”</a:t>
            </a:r>
          </a:p>
        </p:txBody>
      </p:sp>
      <p:sp>
        <p:nvSpPr>
          <p:cNvPr id="17" name="body_adv3"/>
          <p:cNvSpPr txBox="1"/>
          <p:nvPr/>
        </p:nvSpPr>
        <p:spPr>
          <a:xfrm>
            <a:off x="8380780" y="1853184"/>
            <a:ext cx="325313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Create or adjust objectives and plans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For tactical opportunities requiring immediate action, create new or adjusted objectives and define what success looks like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For all other opportunities, draft adjustments into the Framework Document and seek advice from the AAC</a:t>
            </a:r>
          </a:p>
        </p:txBody>
      </p:sp>
      <p:sp>
        <p:nvSpPr>
          <p:cNvPr id="18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Workshops.</a:t>
            </a:r>
          </a:p>
        </p:txBody>
      </p:sp>
      <p:sp>
        <p:nvSpPr>
          <p:cNvPr id="19" name="meta_pagenum_18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2743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4D7B"/>
                </a:solidFill>
                <a:latin typeface="Arial"/>
              </a:rPr>
              <a:t>PRELIMINARY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Information from an active, extended network is filtered across four criteria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22529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eta_in_label"/>
          <p:cNvSpPr txBox="1"/>
          <p:nvPr/>
        </p:nvSpPr>
        <p:spPr>
          <a:xfrm>
            <a:off x="411480" y="1389888"/>
            <a:ext cx="267073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4D7B"/>
                </a:solidFill>
                <a:latin typeface="Arial"/>
              </a:rPr>
              <a:t>Unfiltered information in →</a:t>
            </a:r>
          </a:p>
        </p:txBody>
      </p:sp>
      <p:sp>
        <p:nvSpPr>
          <p:cNvPr id="6" name="meta_out_label"/>
          <p:cNvSpPr txBox="1"/>
          <p:nvPr/>
        </p:nvSpPr>
        <p:spPr>
          <a:xfrm>
            <a:off x="9109479" y="1389888"/>
            <a:ext cx="267073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4D7B"/>
                </a:solidFill>
                <a:latin typeface="Arial"/>
              </a:rPr>
              <a:t>→ Filtered intelligence out</a:t>
            </a:r>
          </a:p>
        </p:txBody>
      </p:sp>
      <p:sp>
        <p:nvSpPr>
          <p:cNvPr id="7" name="background_hdr_flt_validity"/>
          <p:cNvSpPr/>
          <p:nvPr/>
        </p:nvSpPr>
        <p:spPr>
          <a:xfrm>
            <a:off x="411480" y="1645920"/>
            <a:ext cx="2670733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_field_flt_validity"/>
          <p:cNvSpPr/>
          <p:nvPr/>
        </p:nvSpPr>
        <p:spPr>
          <a:xfrm>
            <a:off x="411480" y="1956816"/>
            <a:ext cx="2670733" cy="32004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a_hdr_flt_validity"/>
          <p:cNvSpPr txBox="1"/>
          <p:nvPr/>
        </p:nvSpPr>
        <p:spPr>
          <a:xfrm>
            <a:off x="539496" y="1645920"/>
            <a:ext cx="24147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Validity</a:t>
            </a:r>
          </a:p>
        </p:txBody>
      </p:sp>
      <p:sp>
        <p:nvSpPr>
          <p:cNvPr id="10" name="body_flt_validity"/>
          <p:cNvSpPr txBox="1"/>
          <p:nvPr/>
        </p:nvSpPr>
        <p:spPr>
          <a:xfrm>
            <a:off x="557784" y="2048256"/>
            <a:ext cx="237812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The received information is checked for validity with a second source: “Is the information accurate and true?”</a:t>
            </a:r>
          </a:p>
        </p:txBody>
      </p:sp>
      <p:sp>
        <p:nvSpPr>
          <p:cNvPr id="11" name="background_arrow_1"/>
          <p:cNvSpPr/>
          <p:nvPr/>
        </p:nvSpPr>
        <p:spPr>
          <a:xfrm>
            <a:off x="3127933" y="1691640"/>
            <a:ext cx="146304" cy="219456"/>
          </a:xfrm>
          <a:prstGeom prst="rightArrow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ckground_hdr_flt_global"/>
          <p:cNvSpPr/>
          <p:nvPr/>
        </p:nvSpPr>
        <p:spPr>
          <a:xfrm>
            <a:off x="3310813" y="1645920"/>
            <a:ext cx="2670733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field_flt_global"/>
          <p:cNvSpPr/>
          <p:nvPr/>
        </p:nvSpPr>
        <p:spPr>
          <a:xfrm>
            <a:off x="3310813" y="1956816"/>
            <a:ext cx="2670733" cy="32004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ta_hdr_flt_global"/>
          <p:cNvSpPr txBox="1"/>
          <p:nvPr/>
        </p:nvSpPr>
        <p:spPr>
          <a:xfrm>
            <a:off x="3438829" y="1645920"/>
            <a:ext cx="24147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Global</a:t>
            </a:r>
          </a:p>
        </p:txBody>
      </p:sp>
      <p:sp>
        <p:nvSpPr>
          <p:cNvPr id="15" name="body_flt_global"/>
          <p:cNvSpPr txBox="1"/>
          <p:nvPr/>
        </p:nvSpPr>
        <p:spPr>
          <a:xfrm>
            <a:off x="3457117" y="2048256"/>
            <a:ext cx="237812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The information is filtered for global relevance: “Does it have implications beyond local/national boundaries?”</a:t>
            </a:r>
          </a:p>
        </p:txBody>
      </p:sp>
      <p:sp>
        <p:nvSpPr>
          <p:cNvPr id="16" name="background_arrow_2"/>
          <p:cNvSpPr/>
          <p:nvPr/>
        </p:nvSpPr>
        <p:spPr>
          <a:xfrm>
            <a:off x="6027266" y="1691640"/>
            <a:ext cx="146304" cy="219456"/>
          </a:xfrm>
          <a:prstGeom prst="rightArrow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ckground_hdr_flt_impact"/>
          <p:cNvSpPr/>
          <p:nvPr/>
        </p:nvSpPr>
        <p:spPr>
          <a:xfrm>
            <a:off x="6210146" y="1645920"/>
            <a:ext cx="2670733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ckground_field_flt_impact"/>
          <p:cNvSpPr/>
          <p:nvPr/>
        </p:nvSpPr>
        <p:spPr>
          <a:xfrm>
            <a:off x="6210146" y="1956816"/>
            <a:ext cx="2670733" cy="32004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eta_hdr_flt_impact"/>
          <p:cNvSpPr txBox="1"/>
          <p:nvPr/>
        </p:nvSpPr>
        <p:spPr>
          <a:xfrm>
            <a:off x="6338162" y="1645920"/>
            <a:ext cx="24147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Impact</a:t>
            </a:r>
          </a:p>
        </p:txBody>
      </p:sp>
      <p:sp>
        <p:nvSpPr>
          <p:cNvPr id="20" name="body_flt_impact"/>
          <p:cNvSpPr txBox="1"/>
          <p:nvPr/>
        </p:nvSpPr>
        <p:spPr>
          <a:xfrm>
            <a:off x="6356450" y="2048256"/>
            <a:ext cx="237812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Once validated, the information is filtered for work-plan impact: can it affect policy, donors, or public opinion?</a:t>
            </a:r>
          </a:p>
        </p:txBody>
      </p:sp>
      <p:sp>
        <p:nvSpPr>
          <p:cNvPr id="21" name="background_arrow_3"/>
          <p:cNvSpPr/>
          <p:nvPr/>
        </p:nvSpPr>
        <p:spPr>
          <a:xfrm>
            <a:off x="8926599" y="1691640"/>
            <a:ext cx="146304" cy="219456"/>
          </a:xfrm>
          <a:prstGeom prst="rightArrow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ckground_hdr_flt_feasibility"/>
          <p:cNvSpPr/>
          <p:nvPr/>
        </p:nvSpPr>
        <p:spPr>
          <a:xfrm>
            <a:off x="9109479" y="1645920"/>
            <a:ext cx="2670733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ckground_field_flt_feasibility"/>
          <p:cNvSpPr/>
          <p:nvPr/>
        </p:nvSpPr>
        <p:spPr>
          <a:xfrm>
            <a:off x="9109479" y="1956816"/>
            <a:ext cx="2670733" cy="320040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eta_hdr_flt_feasibility"/>
          <p:cNvSpPr txBox="1"/>
          <p:nvPr/>
        </p:nvSpPr>
        <p:spPr>
          <a:xfrm>
            <a:off x="9237495" y="1645920"/>
            <a:ext cx="24147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Feasibility</a:t>
            </a:r>
          </a:p>
        </p:txBody>
      </p:sp>
      <p:sp>
        <p:nvSpPr>
          <p:cNvPr id="25" name="body_flt_feasibility"/>
          <p:cNvSpPr txBox="1"/>
          <p:nvPr/>
        </p:nvSpPr>
        <p:spPr>
          <a:xfrm>
            <a:off x="9255783" y="2048256"/>
            <a:ext cx="237812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32D38"/>
                </a:solidFill>
                <a:latin typeface="Arial"/>
              </a:rPr>
              <a:t>Determine whether the information can feasibly and realistically be translated into sufficiently impactful activities.</a:t>
            </a:r>
          </a:p>
        </p:txBody>
      </p:sp>
      <p:sp>
        <p:nvSpPr>
          <p:cNvPr id="26" name="body_filter_note"/>
          <p:cNvSpPr txBox="1"/>
          <p:nvPr/>
        </p:nvSpPr>
        <p:spPr>
          <a:xfrm>
            <a:off x="411480" y="4983480"/>
            <a:ext cx="1136873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32D38"/>
                </a:solidFill>
                <a:latin typeface="Arial"/>
              </a:rPr>
              <a:t>Apply the filter at the start of advocacy meetings.</a:t>
            </a:r>
          </a:p>
        </p:txBody>
      </p:sp>
      <p:sp>
        <p:nvSpPr>
          <p:cNvPr id="27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Workshops.</a:t>
            </a:r>
          </a:p>
        </p:txBody>
      </p:sp>
      <p:sp>
        <p:nvSpPr>
          <p:cNvPr id="28" name="meta_pagenum_19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High-level objectives relate to three areas — raising awareness, engaging TB networks, and supporting the Secretariat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mission"/>
          <p:cNvSpPr/>
          <p:nvPr/>
        </p:nvSpPr>
        <p:spPr>
          <a:xfrm>
            <a:off x="411480" y="1450848"/>
            <a:ext cx="11368735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ta_mission"/>
          <p:cNvSpPr txBox="1"/>
          <p:nvPr/>
        </p:nvSpPr>
        <p:spPr>
          <a:xfrm>
            <a:off x="594360" y="1450848"/>
            <a:ext cx="110029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Mission:  Inspire the world into action against tuberculosis (TB)</a:t>
            </a:r>
          </a:p>
        </p:txBody>
      </p:sp>
      <p:sp>
        <p:nvSpPr>
          <p:cNvPr id="6" name="background_hdr_cmb1"/>
          <p:cNvSpPr/>
          <p:nvPr/>
        </p:nvSpPr>
        <p:spPr>
          <a:xfrm>
            <a:off x="411480" y="2182368"/>
            <a:ext cx="360669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ckground_field_cmb1"/>
          <p:cNvSpPr/>
          <p:nvPr/>
        </p:nvSpPr>
        <p:spPr>
          <a:xfrm>
            <a:off x="411480" y="2493264"/>
            <a:ext cx="3606698" cy="301752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a_hdr_cmb1"/>
          <p:cNvSpPr txBox="1"/>
          <p:nvPr/>
        </p:nvSpPr>
        <p:spPr>
          <a:xfrm>
            <a:off x="539496" y="2182368"/>
            <a:ext cx="33506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 1 — Raise awareness about TB among:</a:t>
            </a:r>
          </a:p>
        </p:txBody>
      </p:sp>
      <p:sp>
        <p:nvSpPr>
          <p:cNvPr id="9" name="body_cmb1"/>
          <p:cNvSpPr txBox="1"/>
          <p:nvPr/>
        </p:nvSpPr>
        <p:spPr>
          <a:xfrm>
            <a:off x="557784" y="2584704"/>
            <a:ext cx="331409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A — The “fourth estate” (news media)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B — Members of the public in donor countries and selected high-burden countries / BRIC+2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C — Selected institutions</a:t>
            </a:r>
          </a:p>
        </p:txBody>
      </p:sp>
      <p:sp>
        <p:nvSpPr>
          <p:cNvPr id="10" name="background_hdr_cmb2"/>
          <p:cNvSpPr/>
          <p:nvPr/>
        </p:nvSpPr>
        <p:spPr>
          <a:xfrm>
            <a:off x="4292498" y="2182368"/>
            <a:ext cx="360669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ckground_field_cmb2"/>
          <p:cNvSpPr/>
          <p:nvPr/>
        </p:nvSpPr>
        <p:spPr>
          <a:xfrm>
            <a:off x="4292498" y="2493264"/>
            <a:ext cx="3606698" cy="301752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eta_hdr_cmb2"/>
          <p:cNvSpPr txBox="1"/>
          <p:nvPr/>
        </p:nvSpPr>
        <p:spPr>
          <a:xfrm>
            <a:off x="4420514" y="2182368"/>
            <a:ext cx="33506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 2 — Engage TB networks</a:t>
            </a:r>
          </a:p>
        </p:txBody>
      </p:sp>
      <p:sp>
        <p:nvSpPr>
          <p:cNvPr id="13" name="body_cmb2"/>
          <p:cNvSpPr txBox="1"/>
          <p:nvPr/>
        </p:nvSpPr>
        <p:spPr>
          <a:xfrm>
            <a:off x="4438802" y="2584704"/>
            <a:ext cx="331409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Engage, support, and foster a shared sense of purpose among partners and other members of TB networks.</a:t>
            </a:r>
          </a:p>
        </p:txBody>
      </p:sp>
      <p:sp>
        <p:nvSpPr>
          <p:cNvPr id="14" name="background_hdr_cmb3"/>
          <p:cNvSpPr/>
          <p:nvPr/>
        </p:nvSpPr>
        <p:spPr>
          <a:xfrm>
            <a:off x="8173516" y="2182368"/>
            <a:ext cx="3606698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ckground_field_cmb3"/>
          <p:cNvSpPr/>
          <p:nvPr/>
        </p:nvSpPr>
        <p:spPr>
          <a:xfrm>
            <a:off x="8173516" y="2493264"/>
            <a:ext cx="3606698" cy="301752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eta_hdr_cmb3"/>
          <p:cNvSpPr txBox="1"/>
          <p:nvPr/>
        </p:nvSpPr>
        <p:spPr>
          <a:xfrm>
            <a:off x="8301532" y="2182368"/>
            <a:ext cx="335066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 3 — Support the Secretariat</a:t>
            </a:r>
          </a:p>
        </p:txBody>
      </p:sp>
      <p:sp>
        <p:nvSpPr>
          <p:cNvPr id="17" name="body_cmb3"/>
          <p:cNvSpPr txBox="1"/>
          <p:nvPr/>
        </p:nvSpPr>
        <p:spPr>
          <a:xfrm>
            <a:off x="8319820" y="2584704"/>
            <a:ext cx="331409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Provide coordinated support for the core work of the Secretariat.</a:t>
            </a:r>
          </a:p>
        </p:txBody>
      </p:sp>
      <p:sp>
        <p:nvSpPr>
          <p:cNvPr id="18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Team discussion. BRIC+2 = Brazil, Russia, India, China, Indonesia, and South Africa.</a:t>
            </a:r>
          </a:p>
        </p:txBody>
      </p:sp>
      <p:sp>
        <p:nvSpPr>
          <p:cNvPr id="19" name="meta_pagenum_20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For each high-level objective, audience groups, objectives, metrics, and targets are defined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table_cmb"/>
          <p:cNvSpPr txBox="1"/>
          <p:nvPr/>
        </p:nvSpPr>
        <p:spPr>
          <a:xfrm>
            <a:off x="411480" y="145084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Audience groups, objectives, metrics, and targets by objective</a:t>
            </a:r>
          </a:p>
        </p:txBody>
      </p:sp>
      <p:graphicFrame>
        <p:nvGraphicFramePr>
          <p:cNvPr id="5" name="table_cmb"/>
          <p:cNvGraphicFramePr>
            <a:graphicFrameLocks noGrp="1"/>
          </p:cNvGraphicFramePr>
          <p:nvPr/>
        </p:nvGraphicFramePr>
        <p:xfrm>
          <a:off x="411480" y="1725168"/>
          <a:ext cx="1136599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40"/>
                <a:gridCol w="2926080"/>
                <a:gridCol w="2862072"/>
              </a:tblGrid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Audience group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Students &amp; adults, donor countries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Raise awareness of the prevalence and threat of TB via traditional and innovative channels to grow donations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Total people reached through marketing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Online viral campaign: 30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Students &amp; adults, high-burden countries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Develop and roll out a viral marketing / social-media campaign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People reached via social channels (YouTube, Facebook)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Social channels: 5 million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General 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(awareness)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% of population 18–65 acknowledging TB as a top-5 global health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TV PSAs: 5M; Internet PSAs: 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News media (fourth estate)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Meet with editors to encourage TB coverage; pitch high-impact topics (MDR/XDR-TB)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Number of editors engaged in ongoing dialogue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D38"/>
                          </a:solidFill>
                          <a:latin typeface="Arial"/>
                        </a:rPr>
                        <a:t>(target TBD)</a:t>
                      </a:r>
                    </a:p>
                  </a:txBody>
                  <a:tcPr>
                    <a:solidFill>
                      <a:srgbClr val="ECF0F6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Team discussion.</a:t>
            </a:r>
          </a:p>
        </p:txBody>
      </p:sp>
      <p:sp>
        <p:nvSpPr>
          <p:cNvPr id="7" name="meta_pagenum_21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The team clarified the CFCS mission and defined objectives to deliver it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2529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cfcs_mission"/>
          <p:cNvSpPr/>
          <p:nvPr/>
        </p:nvSpPr>
        <p:spPr>
          <a:xfrm>
            <a:off x="411480" y="1389888"/>
            <a:ext cx="3566160" cy="4297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39700" bIns="139700">
            <a:no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Mission</a:t>
            </a:r>
          </a:p>
          <a:p>
            <a:pPr algn="l"/>
            <a:r>
              <a:rPr sz="1200" b="0" i="0">
                <a:solidFill>
                  <a:srgbClr val="D6E0F0"/>
                </a:solidFill>
                <a:latin typeface="Arial"/>
              </a:rPr>
              <a:t>To provide support to community-based organizations engaged in advocacy and social-mobilization activities seeking to raise awareness and empower communities to become part of the solution in the fight against TB.</a:t>
            </a:r>
          </a:p>
        </p:txBody>
      </p:sp>
      <p:sp>
        <p:nvSpPr>
          <p:cNvPr id="5" name="background_hdr_cfcs_obj1"/>
          <p:cNvSpPr/>
          <p:nvPr/>
        </p:nvSpPr>
        <p:spPr>
          <a:xfrm>
            <a:off x="4251960" y="1389888"/>
            <a:ext cx="3626967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ckground_field_cfcs_obj1"/>
          <p:cNvSpPr/>
          <p:nvPr/>
        </p:nvSpPr>
        <p:spPr>
          <a:xfrm>
            <a:off x="4251960" y="1700784"/>
            <a:ext cx="3626967" cy="429768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eta_hdr_cfcs_obj1"/>
          <p:cNvSpPr txBox="1"/>
          <p:nvPr/>
        </p:nvSpPr>
        <p:spPr>
          <a:xfrm>
            <a:off x="4379976" y="1389888"/>
            <a:ext cx="33709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 1 — Assist civil-society organizations</a:t>
            </a:r>
          </a:p>
        </p:txBody>
      </p:sp>
      <p:sp>
        <p:nvSpPr>
          <p:cNvPr id="8" name="body_cfcs_obj1"/>
          <p:cNvSpPr txBox="1"/>
          <p:nvPr/>
        </p:nvSpPr>
        <p:spPr>
          <a:xfrm>
            <a:off x="4398264" y="1792224"/>
            <a:ext cx="333435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Provide small grants for projects that increase awareness and active participation of local communities and build their capabilities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Provide coaching and technical assistance to grant recipients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Strengthen links between grant recipients and local authorities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Bring organizations together to exchange best practices</a:t>
            </a:r>
          </a:p>
        </p:txBody>
      </p:sp>
      <p:sp>
        <p:nvSpPr>
          <p:cNvPr id="9" name="background_hdr_cfcs_obj2"/>
          <p:cNvSpPr/>
          <p:nvPr/>
        </p:nvSpPr>
        <p:spPr>
          <a:xfrm>
            <a:off x="8153247" y="1389888"/>
            <a:ext cx="3626967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ckground_field_cfcs_obj2"/>
          <p:cNvSpPr/>
          <p:nvPr/>
        </p:nvSpPr>
        <p:spPr>
          <a:xfrm>
            <a:off x="8153247" y="1700784"/>
            <a:ext cx="3626967" cy="429768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ta_hdr_cfcs_obj2"/>
          <p:cNvSpPr txBox="1"/>
          <p:nvPr/>
        </p:nvSpPr>
        <p:spPr>
          <a:xfrm>
            <a:off x="8281263" y="1389888"/>
            <a:ext cx="33709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 2 — Efficiently manage CFCS resources</a:t>
            </a:r>
          </a:p>
        </p:txBody>
      </p:sp>
      <p:sp>
        <p:nvSpPr>
          <p:cNvPr id="12" name="body_cfcs_obj2"/>
          <p:cNvSpPr txBox="1"/>
          <p:nvPr/>
        </p:nvSpPr>
        <p:spPr>
          <a:xfrm>
            <a:off x="8299551" y="1792224"/>
            <a:ext cx="333435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Identify and stimulate high-quality, competitive applications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Develop selection criteria that ensure involvement of local health services and strengthen local autonomy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Hold grantees accountable to project milestones</a:t>
            </a:r>
          </a:p>
          <a:p>
            <a:pPr algn="l" marL="167640" indent="-167640"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200" b="0" i="0">
                <a:solidFill>
                  <a:srgbClr val="232D38"/>
                </a:solidFill>
                <a:latin typeface="Arial"/>
              </a:rPr>
              <a:t>Use simple evaluation processes that assess impact and integrate lessons learned</a:t>
            </a:r>
          </a:p>
        </p:txBody>
      </p:sp>
      <p:sp>
        <p:nvSpPr>
          <p:cNvPr id="13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4" name="meta_pagenum_22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D38"/>
                </a:solidFill>
                <a:latin typeface="Georgia"/>
              </a:rPr>
              <a:t>A team “barometer” survey assesses working-group engagement across four dimensions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4D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hdr_bar1"/>
          <p:cNvSpPr/>
          <p:nvPr/>
        </p:nvSpPr>
        <p:spPr>
          <a:xfrm>
            <a:off x="411480" y="1450848"/>
            <a:ext cx="2670733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field_bar1"/>
          <p:cNvSpPr/>
          <p:nvPr/>
        </p:nvSpPr>
        <p:spPr>
          <a:xfrm>
            <a:off x="411480" y="1761744"/>
            <a:ext cx="2670733" cy="402336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hdr_bar1"/>
          <p:cNvSpPr txBox="1"/>
          <p:nvPr/>
        </p:nvSpPr>
        <p:spPr>
          <a:xfrm>
            <a:off x="539496" y="1450848"/>
            <a:ext cx="24147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Objectives and direction</a:t>
            </a:r>
          </a:p>
        </p:txBody>
      </p:sp>
      <p:sp>
        <p:nvSpPr>
          <p:cNvPr id="7" name="body_bar1"/>
          <p:cNvSpPr txBox="1"/>
          <p:nvPr/>
        </p:nvSpPr>
        <p:spPr>
          <a:xfrm>
            <a:off x="557784" y="1853184"/>
            <a:ext cx="237812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The objectives of the WG are clear and members are fully aligned on them</a:t>
            </a:r>
          </a:p>
          <a:p>
            <a:pPr algn="l" marL="153670" indent="-15367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The WG's leaders provide clear strategic direction</a:t>
            </a:r>
          </a:p>
        </p:txBody>
      </p:sp>
      <p:sp>
        <p:nvSpPr>
          <p:cNvPr id="8" name="background_hdr_bar2"/>
          <p:cNvSpPr/>
          <p:nvPr/>
        </p:nvSpPr>
        <p:spPr>
          <a:xfrm>
            <a:off x="3310813" y="1450848"/>
            <a:ext cx="2670733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field_bar2"/>
          <p:cNvSpPr/>
          <p:nvPr/>
        </p:nvSpPr>
        <p:spPr>
          <a:xfrm>
            <a:off x="3310813" y="1761744"/>
            <a:ext cx="2670733" cy="402336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a_hdr_bar2"/>
          <p:cNvSpPr txBox="1"/>
          <p:nvPr/>
        </p:nvSpPr>
        <p:spPr>
          <a:xfrm>
            <a:off x="3438829" y="1450848"/>
            <a:ext cx="24147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Delivery against objectives</a:t>
            </a:r>
          </a:p>
        </p:txBody>
      </p:sp>
      <p:sp>
        <p:nvSpPr>
          <p:cNvPr id="11" name="body_bar2"/>
          <p:cNvSpPr txBox="1"/>
          <p:nvPr/>
        </p:nvSpPr>
        <p:spPr>
          <a:xfrm>
            <a:off x="3457117" y="1853184"/>
            <a:ext cx="237812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I believe the WG is making good progress toward achieving its objectives</a:t>
            </a:r>
          </a:p>
          <a:p>
            <a:pPr algn="l" marL="153670" indent="-15367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The WG is having a meaningful impact in the fight against MDR-TB</a:t>
            </a:r>
          </a:p>
        </p:txBody>
      </p:sp>
      <p:sp>
        <p:nvSpPr>
          <p:cNvPr id="12" name="background_hdr_bar3"/>
          <p:cNvSpPr/>
          <p:nvPr/>
        </p:nvSpPr>
        <p:spPr>
          <a:xfrm>
            <a:off x="6210146" y="1450848"/>
            <a:ext cx="2670733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field_bar3"/>
          <p:cNvSpPr/>
          <p:nvPr/>
        </p:nvSpPr>
        <p:spPr>
          <a:xfrm>
            <a:off x="6210146" y="1761744"/>
            <a:ext cx="2670733" cy="402336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ta_hdr_bar3"/>
          <p:cNvSpPr txBox="1"/>
          <p:nvPr/>
        </p:nvSpPr>
        <p:spPr>
          <a:xfrm>
            <a:off x="6338162" y="1450848"/>
            <a:ext cx="24147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Individual contributions</a:t>
            </a:r>
          </a:p>
        </p:txBody>
      </p:sp>
      <p:sp>
        <p:nvSpPr>
          <p:cNvPr id="15" name="body_bar3"/>
          <p:cNvSpPr txBox="1"/>
          <p:nvPr/>
        </p:nvSpPr>
        <p:spPr>
          <a:xfrm>
            <a:off x="6356450" y="1853184"/>
            <a:ext cx="237812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My subgroup meaningfully contributes to the overall objectives of the WG</a:t>
            </a:r>
          </a:p>
          <a:p>
            <a:pPr algn="l" marL="153670" indent="-15367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After meetings, accountabilities and deadlines for specific actions are clear</a:t>
            </a:r>
          </a:p>
        </p:txBody>
      </p:sp>
      <p:sp>
        <p:nvSpPr>
          <p:cNvPr id="16" name="background_hdr_bar4"/>
          <p:cNvSpPr/>
          <p:nvPr/>
        </p:nvSpPr>
        <p:spPr>
          <a:xfrm>
            <a:off x="9109479" y="1450848"/>
            <a:ext cx="2670733" cy="310896"/>
          </a:xfrm>
          <a:prstGeom prst="rect">
            <a:avLst/>
          </a:prstGeom>
          <a:solidFill>
            <a:srgbClr val="D6E0F0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ckground_field_bar4"/>
          <p:cNvSpPr/>
          <p:nvPr/>
        </p:nvSpPr>
        <p:spPr>
          <a:xfrm>
            <a:off x="9109479" y="1761744"/>
            <a:ext cx="2670733" cy="4023360"/>
          </a:xfrm>
          <a:prstGeom prst="rect">
            <a:avLst/>
          </a:prstGeom>
          <a:solidFill>
            <a:srgbClr val="F2F4F8"/>
          </a:solidFill>
          <a:ln w="9525">
            <a:solidFill>
              <a:srgbClr val="2E4D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ta_hdr_bar4"/>
          <p:cNvSpPr txBox="1"/>
          <p:nvPr/>
        </p:nvSpPr>
        <p:spPr>
          <a:xfrm>
            <a:off x="9237495" y="1450848"/>
            <a:ext cx="24147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Mindsets and behaviors</a:t>
            </a:r>
          </a:p>
        </p:txBody>
      </p:sp>
      <p:sp>
        <p:nvSpPr>
          <p:cNvPr id="19" name="body_bar4"/>
          <p:cNvSpPr txBox="1"/>
          <p:nvPr/>
        </p:nvSpPr>
        <p:spPr>
          <a:xfrm>
            <a:off x="9255783" y="1853184"/>
            <a:ext cx="237812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53670" indent="-15367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The culture within the WG is collaborative and constructive</a:t>
            </a:r>
          </a:p>
          <a:p>
            <a:pPr algn="l" marL="153670" indent="-153670">
              <a:spcBef>
                <a:spcPts val="0"/>
              </a:spcBef>
              <a:spcAft>
                <a:spcPts val="700"/>
              </a:spcAft>
              <a:buFont typeface="Arial"/>
              <a:buChar char="▪"/>
            </a:pPr>
            <a:r>
              <a:rPr sz="1100" b="0" i="0">
                <a:solidFill>
                  <a:srgbClr val="232D38"/>
                </a:solidFill>
                <a:latin typeface="Arial"/>
              </a:rPr>
              <a:t>Members are encouraged to voice their opinions, even if controversial</a:t>
            </a:r>
          </a:p>
        </p:txBody>
      </p:sp>
      <p:sp>
        <p:nvSpPr>
          <p:cNvPr id="20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Note: Scale 1 = strongly disagree to 5 = strongly agree.</a:t>
            </a:r>
          </a:p>
        </p:txBody>
      </p:sp>
      <p:sp>
        <p:nvSpPr>
          <p:cNvPr id="21" name="meta_pagenum_23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7606B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The next ~10 weeks will focus on implementing the solutions developed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25296"/>
            <a:ext cx="1463040" cy="0"/>
          </a:xfrm>
          <a:prstGeom prst="bentConnector3">
            <a:avLst/>
          </a:prstGeom>
          <a:ln w="3175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phase_diagnose"/>
          <p:cNvSpPr/>
          <p:nvPr/>
        </p:nvSpPr>
        <p:spPr>
          <a:xfrm>
            <a:off x="411480" y="1389888"/>
            <a:ext cx="2194560" cy="45720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Diagnose</a:t>
            </a:r>
          </a:p>
        </p:txBody>
      </p:sp>
      <p:sp>
        <p:nvSpPr>
          <p:cNvPr id="5" name="card_phase_design"/>
          <p:cNvSpPr/>
          <p:nvPr/>
        </p:nvSpPr>
        <p:spPr>
          <a:xfrm>
            <a:off x="2880360" y="1389888"/>
            <a:ext cx="2194560" cy="45720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6" name="card_phase_deliver"/>
          <p:cNvSpPr/>
          <p:nvPr/>
        </p:nvSpPr>
        <p:spPr>
          <a:xfrm>
            <a:off x="5349240" y="1389888"/>
            <a:ext cx="2194560" cy="457200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Arial"/>
              </a:rPr>
              <a:t>Deliver</a:t>
            </a:r>
          </a:p>
        </p:txBody>
      </p:sp>
      <p:sp>
        <p:nvSpPr>
          <p:cNvPr id="7" name="meta_today"/>
          <p:cNvSpPr txBox="1"/>
          <p:nvPr/>
        </p:nvSpPr>
        <p:spPr>
          <a:xfrm>
            <a:off x="6172200" y="11338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6E0F0"/>
                </a:solidFill>
                <a:latin typeface="Arial"/>
              </a:rPr>
              <a:t>Today</a:t>
            </a:r>
          </a:p>
        </p:txBody>
      </p:sp>
      <p:sp>
        <p:nvSpPr>
          <p:cNvPr id="8" name="background_field_next"/>
          <p:cNvSpPr/>
          <p:nvPr/>
        </p:nvSpPr>
        <p:spPr>
          <a:xfrm>
            <a:off x="411480" y="2075688"/>
            <a:ext cx="11368735" cy="292608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_next_actions"/>
          <p:cNvSpPr txBox="1"/>
          <p:nvPr/>
        </p:nvSpPr>
        <p:spPr>
          <a:xfrm>
            <a:off x="594360" y="2185416"/>
            <a:ext cx="1100297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FFFFFF"/>
                </a:solidFill>
                <a:latin typeface="Arial"/>
              </a:rPr>
              <a:t>Implementation within project teams begins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FFFFFF"/>
                </a:solidFill>
                <a:latin typeface="Arial"/>
              </a:rPr>
              <a:t>Problem-solving sessions on findings, lessons learned, and implications are conducted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FFFFFF"/>
                </a:solidFill>
                <a:latin typeface="Arial"/>
              </a:rPr>
              <a:t>Workshops to share achievements with other Partnership bodies are conducted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FFFFFF"/>
                </a:solidFill>
                <a:latin typeface="Arial"/>
              </a:rPr>
              <a:t>The report is produced and findings are published</a:t>
            </a:r>
          </a:p>
          <a:p>
            <a:pPr algn="l" marL="181610" indent="-181610">
              <a:spcBef>
                <a:spcPts val="0"/>
              </a:spcBef>
              <a:spcAft>
                <a:spcPts val="800"/>
              </a:spcAft>
              <a:buFont typeface="Arial"/>
              <a:buChar char="▪"/>
            </a:pPr>
            <a:r>
              <a:rPr sz="1300" b="0" i="0">
                <a:solidFill>
                  <a:srgbClr val="FFFFFF"/>
                </a:solidFill>
                <a:latin typeface="Arial"/>
              </a:rPr>
              <a:t>Progress is presented to the Coordinating Board in March 2010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30936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8D4E6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1" name="meta_pagenum_24"/>
          <p:cNvSpPr txBox="1"/>
          <p:nvPr/>
        </p:nvSpPr>
        <p:spPr>
          <a:xfrm>
            <a:off x="11475720" y="630936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8D4E6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