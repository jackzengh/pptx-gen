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1st line</c:v>
                </c:pt>
                <c:pt idx="1">
                  <c:v>Prophylaxis</c:v>
                </c:pt>
                <c:pt idx="2">
                  <c:v>2nd line</c:v>
                </c:pt>
                <c:pt idx="3">
                  <c:v>Diagnostics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</c:v>
                </c:pt>
                <c:pt idx="1">
                  <c:v>4.1</c:v>
                </c:pt>
                <c:pt idx="2">
                  <c:v>2.1</c:v>
                </c:pt>
                <c:pt idx="3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2E4D7B"/>
            </a:solidFill>
          </c:spPr>
          <c:cat>
            <c:strRef>
              <c:f>Sheet1!$A$2:$A$5</c:f>
              <c:strCache>
                <c:ptCount val="4"/>
                <c:pt idx="0">
                  <c:v>1st line</c:v>
                </c:pt>
                <c:pt idx="1">
                  <c:v>Prophylaxis</c:v>
                </c:pt>
                <c:pt idx="2">
                  <c:v>2nd line</c:v>
                </c:pt>
                <c:pt idx="3">
                  <c:v>Diagnostics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3.5</c:v>
                </c:pt>
                <c:pt idx="2">
                  <c:v>1.9</c:v>
                </c:pt>
                <c:pt idx="3">
                  <c:v>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37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37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A6370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3" name="background_rightpanel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4" name="body_cover_title"/>
          <p:cNvSpPr txBox="1"/>
          <p:nvPr/>
        </p:nvSpPr>
        <p:spPr>
          <a:xfrm>
            <a:off x="548640" y="1051560"/>
            <a:ext cx="3200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Helping Global Health Partnerships to increase their impact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6E0F0"/>
                </a:solidFill>
                <a:latin typeface="Georgia"/>
              </a:rPr>
              <a:t>Stop TB Partnership – McKinsey collaboration</a:t>
            </a:r>
          </a:p>
        </p:txBody>
      </p:sp>
      <p:sp>
        <p:nvSpPr>
          <p:cNvPr id="5" name="body_cover_footer"/>
          <p:cNvSpPr txBox="1"/>
          <p:nvPr/>
        </p:nvSpPr>
        <p:spPr>
          <a:xfrm>
            <a:off x="548640" y="6126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6E0F0"/>
                </a:solidFill>
                <a:latin typeface="Arial"/>
              </a:rPr>
              <a:t>McKinsey &amp; Company</a:t>
            </a:r>
          </a:p>
        </p:txBody>
      </p:sp>
      <p:sp>
        <p:nvSpPr>
          <p:cNvPr id="6" name="body_cover_eyebrow"/>
          <p:cNvSpPr txBox="1"/>
          <p:nvPr/>
        </p:nvSpPr>
        <p:spPr>
          <a:xfrm>
            <a:off x="4572000" y="13716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4D7B"/>
                </a:solidFill>
                <a:latin typeface="Arial"/>
              </a:rPr>
              <a:t>PRE-READING · COORDINATING BOARD</a:t>
            </a:r>
          </a:p>
        </p:txBody>
      </p:sp>
      <p:sp>
        <p:nvSpPr>
          <p:cNvPr id="7" name="body_cover_date"/>
          <p:cNvSpPr txBox="1"/>
          <p:nvPr/>
        </p:nvSpPr>
        <p:spPr>
          <a:xfrm>
            <a:off x="4572000" y="173736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F3864"/>
                </a:solidFill>
                <a:latin typeface="Georgia"/>
              </a:rPr>
              <a:t>Thursday, November 5, 2009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Pre-reading for the Coordinating Board presentation on Global Health Partnership performance.</a:t>
            </a:r>
          </a:p>
        </p:txBody>
      </p:sp>
      <p:sp>
        <p:nvSpPr>
          <p:cNvPr id="8" name="background_cover_accent"/>
          <p:cNvSpPr/>
          <p:nvPr/>
        </p:nvSpPr>
        <p:spPr>
          <a:xfrm>
            <a:off x="4526280" y="1298448"/>
            <a:ext cx="109728" cy="457200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9" name="background_confidential"/>
          <p:cNvSpPr/>
          <p:nvPr/>
        </p:nvSpPr>
        <p:spPr>
          <a:xfrm>
            <a:off x="4572000" y="4206240"/>
            <a:ext cx="6949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0" name="body_cover_conf"/>
          <p:cNvSpPr txBox="1"/>
          <p:nvPr/>
        </p:nvSpPr>
        <p:spPr>
          <a:xfrm>
            <a:off x="4754880" y="4370832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CONFIDENTIAL AND PROPRIETARY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370"/>
                </a:solidFill>
                <a:latin typeface="Arial"/>
              </a:rPr>
              <a:t>Any use of this material without specific permission of McKinsey &amp; Company is strictly prohibited.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Contents: seven sections guide the Stop TB performance-management work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chip_1"/>
          <p:cNvSpPr/>
          <p:nvPr/>
        </p:nvSpPr>
        <p:spPr>
          <a:xfrm>
            <a:off x="411480" y="1344168"/>
            <a:ext cx="457200" cy="4114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body_item_1"/>
          <p:cNvSpPr txBox="1"/>
          <p:nvPr/>
        </p:nvSpPr>
        <p:spPr>
          <a:xfrm>
            <a:off x="411480" y="1344168"/>
            <a:ext cx="11368735" cy="411480"/>
          </a:xfrm>
          <a:prstGeom prst="rect">
            <a:avLst/>
          </a:prstGeom>
          <a:noFill/>
        </p:spPr>
        <p:txBody>
          <a:bodyPr wrap="square" lIns="63500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Project overview</a:t>
            </a:r>
          </a:p>
        </p:txBody>
      </p:sp>
      <p:sp>
        <p:nvSpPr>
          <p:cNvPr id="6" name="background_chip_2"/>
          <p:cNvSpPr/>
          <p:nvPr/>
        </p:nvSpPr>
        <p:spPr>
          <a:xfrm>
            <a:off x="411480" y="2042160"/>
            <a:ext cx="457200" cy="4114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body_item_2"/>
          <p:cNvSpPr txBox="1"/>
          <p:nvPr/>
        </p:nvSpPr>
        <p:spPr>
          <a:xfrm>
            <a:off x="411480" y="2042160"/>
            <a:ext cx="11368735" cy="411480"/>
          </a:xfrm>
          <a:prstGeom prst="rect">
            <a:avLst/>
          </a:prstGeom>
          <a:noFill/>
        </p:spPr>
        <p:txBody>
          <a:bodyPr wrap="square" lIns="63500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Global Drug Facility</a:t>
            </a:r>
          </a:p>
        </p:txBody>
      </p:sp>
      <p:sp>
        <p:nvSpPr>
          <p:cNvPr id="8" name="background_chip_3"/>
          <p:cNvSpPr/>
          <p:nvPr/>
        </p:nvSpPr>
        <p:spPr>
          <a:xfrm>
            <a:off x="411480" y="2740152"/>
            <a:ext cx="457200" cy="4114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body_item_3"/>
          <p:cNvSpPr txBox="1"/>
          <p:nvPr/>
        </p:nvSpPr>
        <p:spPr>
          <a:xfrm>
            <a:off x="411480" y="2740152"/>
            <a:ext cx="11368735" cy="411480"/>
          </a:xfrm>
          <a:prstGeom prst="rect">
            <a:avLst/>
          </a:prstGeom>
          <a:noFill/>
        </p:spPr>
        <p:txBody>
          <a:bodyPr wrap="square" lIns="63500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Advocacy</a:t>
            </a:r>
          </a:p>
        </p:txBody>
      </p:sp>
      <p:sp>
        <p:nvSpPr>
          <p:cNvPr id="10" name="background_chip_4"/>
          <p:cNvSpPr/>
          <p:nvPr/>
        </p:nvSpPr>
        <p:spPr>
          <a:xfrm>
            <a:off x="411480" y="3438144"/>
            <a:ext cx="457200" cy="4114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body_item_4"/>
          <p:cNvSpPr txBox="1"/>
          <p:nvPr/>
        </p:nvSpPr>
        <p:spPr>
          <a:xfrm>
            <a:off x="411480" y="3438144"/>
            <a:ext cx="11368735" cy="411480"/>
          </a:xfrm>
          <a:prstGeom prst="rect">
            <a:avLst/>
          </a:prstGeom>
          <a:noFill/>
        </p:spPr>
        <p:txBody>
          <a:bodyPr wrap="square" lIns="63500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Communication, Marketing and Branding</a:t>
            </a:r>
          </a:p>
        </p:txBody>
      </p:sp>
      <p:sp>
        <p:nvSpPr>
          <p:cNvPr id="12" name="background_chip_5"/>
          <p:cNvSpPr/>
          <p:nvPr/>
        </p:nvSpPr>
        <p:spPr>
          <a:xfrm>
            <a:off x="411480" y="4136136"/>
            <a:ext cx="457200" cy="4114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body_item_5"/>
          <p:cNvSpPr txBox="1"/>
          <p:nvPr/>
        </p:nvSpPr>
        <p:spPr>
          <a:xfrm>
            <a:off x="411480" y="4136136"/>
            <a:ext cx="11368735" cy="411480"/>
          </a:xfrm>
          <a:prstGeom prst="rect">
            <a:avLst/>
          </a:prstGeom>
          <a:noFill/>
        </p:spPr>
        <p:txBody>
          <a:bodyPr wrap="square" lIns="63500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Challenge Facility for Civil Society</a:t>
            </a:r>
          </a:p>
        </p:txBody>
      </p:sp>
      <p:sp>
        <p:nvSpPr>
          <p:cNvPr id="14" name="background_chip_6"/>
          <p:cNvSpPr/>
          <p:nvPr/>
        </p:nvSpPr>
        <p:spPr>
          <a:xfrm>
            <a:off x="411480" y="4834128"/>
            <a:ext cx="457200" cy="4114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body_item_6"/>
          <p:cNvSpPr txBox="1"/>
          <p:nvPr/>
        </p:nvSpPr>
        <p:spPr>
          <a:xfrm>
            <a:off x="411480" y="4834128"/>
            <a:ext cx="11368735" cy="411480"/>
          </a:xfrm>
          <a:prstGeom prst="rect">
            <a:avLst/>
          </a:prstGeom>
          <a:noFill/>
        </p:spPr>
        <p:txBody>
          <a:bodyPr wrap="square" lIns="63500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MDR-TB Working Group</a:t>
            </a:r>
          </a:p>
        </p:txBody>
      </p:sp>
      <p:sp>
        <p:nvSpPr>
          <p:cNvPr id="16" name="background_chip_7"/>
          <p:cNvSpPr/>
          <p:nvPr/>
        </p:nvSpPr>
        <p:spPr>
          <a:xfrm>
            <a:off x="411480" y="5532120"/>
            <a:ext cx="457200" cy="4114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body_item_7"/>
          <p:cNvSpPr txBox="1"/>
          <p:nvPr/>
        </p:nvSpPr>
        <p:spPr>
          <a:xfrm>
            <a:off x="411480" y="5532120"/>
            <a:ext cx="11368735" cy="411480"/>
          </a:xfrm>
          <a:prstGeom prst="rect">
            <a:avLst/>
          </a:prstGeom>
          <a:noFill/>
        </p:spPr>
        <p:txBody>
          <a:bodyPr wrap="square" lIns="63500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Next steps</a:t>
            </a:r>
          </a:p>
        </p:txBody>
      </p:sp>
      <p:sp>
        <p:nvSpPr>
          <p:cNvPr id="18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Stop TB Partnership – McKinsey collaboration, November 2009.</a:t>
            </a:r>
          </a:p>
        </p:txBody>
      </p:sp>
      <p:sp>
        <p:nvSpPr>
          <p:cNvPr id="19" name="meta_pagenum_2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The performance of Global Health Partnerships is increasingly important and scrutinized, yet achieving high performance is proving challenging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field_bg_col1"/>
          <p:cNvSpPr/>
          <p:nvPr/>
        </p:nvSpPr>
        <p:spPr>
          <a:xfrm>
            <a:off x="411480" y="1405128"/>
            <a:ext cx="5570067" cy="453847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5" name="background_hdr_bg_col1"/>
          <p:cNvSpPr/>
          <p:nvPr/>
        </p:nvSpPr>
        <p:spPr>
          <a:xfrm>
            <a:off x="411480" y="1405128"/>
            <a:ext cx="5570067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Increasing role of GHP performance</a:t>
            </a:r>
          </a:p>
        </p:txBody>
      </p:sp>
      <p:sp>
        <p:nvSpPr>
          <p:cNvPr id="6" name="body_bg_col1"/>
          <p:cNvSpPr txBox="1"/>
          <p:nvPr/>
        </p:nvSpPr>
        <p:spPr>
          <a:xfrm>
            <a:off x="521208" y="1862328"/>
            <a:ext cx="5350611" cy="4081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GHPs play a major role in global health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Performance of GHPs can have huge impact on the health of the world's population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The focus on performance is increasing, driven by</a:t>
            </a:r>
          </a:p>
          <a:p>
            <a:pPr lvl="1" algn="l" marL="412750" indent="-181610"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300" b="0" i="0">
                <a:solidFill>
                  <a:srgbClr val="1A2332"/>
                </a:solidFill>
                <a:latin typeface="Arial"/>
              </a:rPr>
              <a:t>Increasing donor focus on impact, effectiveness, and efficiency</a:t>
            </a:r>
          </a:p>
          <a:p>
            <a:pPr lvl="1" algn="l" marL="412750" indent="-181610"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300" b="0" i="0">
                <a:solidFill>
                  <a:srgbClr val="1A2332"/>
                </a:solidFill>
                <a:latin typeface="Arial"/>
              </a:rPr>
              <a:t>Increasing number of Partnerships in global health</a:t>
            </a:r>
          </a:p>
          <a:p>
            <a:pPr lvl="1" algn="l" marL="412750" indent="-181610"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300" b="0" i="0">
                <a:solidFill>
                  <a:srgbClr val="1A2332"/>
                </a:solidFill>
                <a:latin typeface="Arial"/>
              </a:rPr>
              <a:t>Likelihood of lower funding growth or less funding, given the financial crisis</a:t>
            </a:r>
          </a:p>
        </p:txBody>
      </p:sp>
      <p:sp>
        <p:nvSpPr>
          <p:cNvPr id="7" name="background_field_bg_col2"/>
          <p:cNvSpPr/>
          <p:nvPr/>
        </p:nvSpPr>
        <p:spPr>
          <a:xfrm>
            <a:off x="6210147" y="1405128"/>
            <a:ext cx="5570067" cy="453847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8" name="background_hdr_bg_col2"/>
          <p:cNvSpPr/>
          <p:nvPr/>
        </p:nvSpPr>
        <p:spPr>
          <a:xfrm>
            <a:off x="6210147" y="1405128"/>
            <a:ext cx="5570067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Challenging factors</a:t>
            </a:r>
          </a:p>
        </p:txBody>
      </p:sp>
      <p:sp>
        <p:nvSpPr>
          <p:cNvPr id="9" name="body_bg_col2"/>
          <p:cNvSpPr txBox="1"/>
          <p:nvPr/>
        </p:nvSpPr>
        <p:spPr>
          <a:xfrm>
            <a:off x="6319875" y="1862328"/>
            <a:ext cx="5350611" cy="4081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Complex environment and nature of GHP organizations create challenges, e.g.</a:t>
            </a:r>
          </a:p>
          <a:p>
            <a:pPr lvl="1" algn="l" marL="412750" indent="-181610">
              <a:spcAft>
                <a:spcPts val="700"/>
              </a:spcAft>
              <a:buFont typeface="Arial"/>
              <a:buChar char="–"/>
            </a:pPr>
            <a:r>
              <a:rPr sz="1300" b="1" i="0">
                <a:solidFill>
                  <a:srgbClr val="1A2332"/>
                </a:solidFill>
                <a:latin typeface="Arial"/>
              </a:rPr>
              <a:t>Objective-setting: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distinguishing between the change a GHP hopes to bring about in the world vs. the goals it sets itself that will help bring about the change</a:t>
            </a:r>
          </a:p>
          <a:p>
            <a:pPr lvl="1" algn="l" marL="412750" indent="-181610">
              <a:spcAft>
                <a:spcPts val="700"/>
              </a:spcAft>
              <a:buFont typeface="Arial"/>
              <a:buChar char="–"/>
            </a:pPr>
            <a:r>
              <a:rPr sz="1300" b="1" i="0">
                <a:solidFill>
                  <a:srgbClr val="1A2332"/>
                </a:solidFill>
                <a:latin typeface="Arial"/>
              </a:rPr>
              <a:t>Accountability: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ensuring accountability and delivery in the context of loose Partnership structures, voluntary membership, and limited hierarchy</a:t>
            </a:r>
          </a:p>
          <a:p>
            <a:pPr lvl="1" algn="l" marL="412750" indent="-181610">
              <a:spcAft>
                <a:spcPts val="0"/>
              </a:spcAft>
              <a:buFont typeface="Arial"/>
              <a:buChar char="–"/>
            </a:pPr>
            <a:r>
              <a:rPr sz="1300" b="1" i="0">
                <a:solidFill>
                  <a:srgbClr val="1A2332"/>
                </a:solidFill>
                <a:latin typeface="Arial"/>
              </a:rPr>
              <a:t>Capabilities: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gaining the capacity and capabilities needed to continuously improve performance</a:t>
            </a:r>
          </a:p>
        </p:txBody>
      </p:sp>
      <p:sp>
        <p:nvSpPr>
          <p:cNvPr id="10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1" name="meta_pagenum_3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The project will deliver practical insights on improving GHP performance based on piloted improvement ideas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field_goal_col1"/>
          <p:cNvSpPr/>
          <p:nvPr/>
        </p:nvSpPr>
        <p:spPr>
          <a:xfrm>
            <a:off x="411480" y="1405128"/>
            <a:ext cx="3637178" cy="453847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5" name="background_hdr_goal_col1"/>
          <p:cNvSpPr/>
          <p:nvPr/>
        </p:nvSpPr>
        <p:spPr>
          <a:xfrm>
            <a:off x="411480" y="1405128"/>
            <a:ext cx="3637178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Goals</a:t>
            </a:r>
          </a:p>
        </p:txBody>
      </p:sp>
      <p:sp>
        <p:nvSpPr>
          <p:cNvPr id="6" name="body_goal_col1"/>
          <p:cNvSpPr txBox="1"/>
          <p:nvPr/>
        </p:nvSpPr>
        <p:spPr>
          <a:xfrm>
            <a:off x="521208" y="1862328"/>
            <a:ext cx="3417722" cy="4081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Develop a joint perspective, tested and proven, on how GHPs can improve performance, by</a:t>
            </a:r>
          </a:p>
          <a:p>
            <a:pPr lvl="1" algn="l" marL="381000" indent="-16764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Exploring how to improve performance in a GHP, not simply adopting existing (e.g., private-sector) approaches</a:t>
            </a:r>
          </a:p>
          <a:p>
            <a:pPr lvl="1" algn="l" marL="381000" indent="-16764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Testing new ways of working with Stop TB bodies that could lead to higher performance</a:t>
            </a:r>
          </a:p>
          <a:p>
            <a:pPr lvl="1" algn="l" marL="381000" indent="-16764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Developing a joint perspective to share with the global health community</a:t>
            </a:r>
          </a:p>
        </p:txBody>
      </p:sp>
      <p:sp>
        <p:nvSpPr>
          <p:cNvPr id="7" name="background_field_goal_col2"/>
          <p:cNvSpPr/>
          <p:nvPr/>
        </p:nvSpPr>
        <p:spPr>
          <a:xfrm>
            <a:off x="4277258" y="1405128"/>
            <a:ext cx="3637178" cy="453847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8" name="background_hdr_goal_col2"/>
          <p:cNvSpPr/>
          <p:nvPr/>
        </p:nvSpPr>
        <p:spPr>
          <a:xfrm>
            <a:off x="4277258" y="1405128"/>
            <a:ext cx="3637178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Approach</a:t>
            </a:r>
          </a:p>
        </p:txBody>
      </p:sp>
      <p:sp>
        <p:nvSpPr>
          <p:cNvPr id="9" name="body_goal_col2"/>
          <p:cNvSpPr txBox="1"/>
          <p:nvPr/>
        </p:nvSpPr>
        <p:spPr>
          <a:xfrm>
            <a:off x="4386986" y="1862328"/>
            <a:ext cx="3417722" cy="4081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Build on strengths and improvement opportunities outlined in the 2008 evaluation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Joint working, collaborative, co-creation — not client–consultant work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Duration ~22 weeks: 10 weeks diagnosis and design, 12 weeks delivery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Scope: 5 Partnership bodies — GDF, MDR-TB WG, CFCS, Advocacy, and CM&amp;B teams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External interactions with other GHPs, e.g., RBM, UNAIDS, GAVI, GF</a:t>
            </a:r>
          </a:p>
        </p:txBody>
      </p:sp>
      <p:sp>
        <p:nvSpPr>
          <p:cNvPr id="10" name="background_field_goal_col3"/>
          <p:cNvSpPr/>
          <p:nvPr/>
        </p:nvSpPr>
        <p:spPr>
          <a:xfrm>
            <a:off x="8143036" y="1405128"/>
            <a:ext cx="3637178" cy="453847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1" name="background_hdr_goal_col3"/>
          <p:cNvSpPr/>
          <p:nvPr/>
        </p:nvSpPr>
        <p:spPr>
          <a:xfrm>
            <a:off x="8143036" y="1405128"/>
            <a:ext cx="3637178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3 main end-products</a:t>
            </a:r>
          </a:p>
        </p:txBody>
      </p:sp>
      <p:sp>
        <p:nvSpPr>
          <p:cNvPr id="12" name="body_goal_col3"/>
          <p:cNvSpPr txBox="1"/>
          <p:nvPr/>
        </p:nvSpPr>
        <p:spPr>
          <a:xfrm>
            <a:off x="8252764" y="1862328"/>
            <a:ext cx="3417722" cy="4081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Successful performance-improvement pilots in selected Partnership bodies, with documentation to support roll-out to other bodies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A co-authored project report, suitable for publication in major journals, detailing the experience and lessons for other GHPs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A practitioner's guide to support McKinsey teams conducting similar work</a:t>
            </a:r>
          </a:p>
        </p:txBody>
      </p:sp>
      <p:sp>
        <p:nvSpPr>
          <p:cNvPr id="13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4" name="meta_pagenum_4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This project is organized in three distinct phases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field_phase_col1"/>
          <p:cNvSpPr/>
          <p:nvPr/>
        </p:nvSpPr>
        <p:spPr>
          <a:xfrm>
            <a:off x="411480" y="1344168"/>
            <a:ext cx="3637178" cy="459943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5" name="background_hdr_phase_col1"/>
          <p:cNvSpPr/>
          <p:nvPr/>
        </p:nvSpPr>
        <p:spPr>
          <a:xfrm>
            <a:off x="411480" y="1344168"/>
            <a:ext cx="3637178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Diagnose  ·  Aug–Sep</a:t>
            </a:r>
          </a:p>
        </p:txBody>
      </p:sp>
      <p:sp>
        <p:nvSpPr>
          <p:cNvPr id="6" name="body_phase_col1"/>
          <p:cNvSpPr txBox="1"/>
          <p:nvPr/>
        </p:nvSpPr>
        <p:spPr>
          <a:xfrm>
            <a:off x="521208" y="1801368"/>
            <a:ext cx="3417722" cy="4142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Selection of Partnership Bodies — GDF, Advocacy, CM&amp;B, CFCS, MDR-TB WG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Understanding of current performance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Identification of areas of high performance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Selection of one performance issue to improve</a:t>
            </a:r>
          </a:p>
        </p:txBody>
      </p:sp>
      <p:sp>
        <p:nvSpPr>
          <p:cNvPr id="7" name="background_field_phase_col2"/>
          <p:cNvSpPr/>
          <p:nvPr/>
        </p:nvSpPr>
        <p:spPr>
          <a:xfrm>
            <a:off x="4277258" y="1344168"/>
            <a:ext cx="3637178" cy="459943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8" name="background_hdr_phase_col2"/>
          <p:cNvSpPr/>
          <p:nvPr/>
        </p:nvSpPr>
        <p:spPr>
          <a:xfrm>
            <a:off x="4277258" y="1344168"/>
            <a:ext cx="3637178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Design  ·  Sep–Oct</a:t>
            </a:r>
          </a:p>
        </p:txBody>
      </p:sp>
      <p:sp>
        <p:nvSpPr>
          <p:cNvPr id="9" name="body_phase_col2"/>
          <p:cNvSpPr txBox="1"/>
          <p:nvPr/>
        </p:nvSpPr>
        <p:spPr>
          <a:xfrm>
            <a:off x="4386986" y="1801368"/>
            <a:ext cx="3417722" cy="4142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Intensive work within selected Bodies to develop improvement ideas on the selected issue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Select actions to implement in the next phase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Development of implementation plans for the Delivery phase</a:t>
            </a:r>
          </a:p>
        </p:txBody>
      </p:sp>
      <p:sp>
        <p:nvSpPr>
          <p:cNvPr id="10" name="background_field_phase_col3"/>
          <p:cNvSpPr/>
          <p:nvPr/>
        </p:nvSpPr>
        <p:spPr>
          <a:xfrm>
            <a:off x="8143036" y="1344168"/>
            <a:ext cx="3637178" cy="459943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1" name="background_hdr_phase_col3"/>
          <p:cNvSpPr/>
          <p:nvPr/>
        </p:nvSpPr>
        <p:spPr>
          <a:xfrm>
            <a:off x="8143036" y="1344168"/>
            <a:ext cx="3637178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Deliver  ·  Nov–Dec</a:t>
            </a:r>
          </a:p>
        </p:txBody>
      </p:sp>
      <p:sp>
        <p:nvSpPr>
          <p:cNvPr id="12" name="body_phase_col3"/>
          <p:cNvSpPr txBox="1"/>
          <p:nvPr/>
        </p:nvSpPr>
        <p:spPr>
          <a:xfrm>
            <a:off x="8252764" y="1801368"/>
            <a:ext cx="3417722" cy="4142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Implementation and refinement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Problem-solving sessions on findings, lessons learned, and implications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Workshop to share achievements across the Partnership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Report and publication; present results to the Board in March 2010</a:t>
            </a:r>
          </a:p>
        </p:txBody>
      </p:sp>
      <p:sp>
        <p:nvSpPr>
          <p:cNvPr id="13" name="meta_today_rule"/>
          <p:cNvSpPr/>
          <p:nvPr/>
        </p:nvSpPr>
        <p:spPr>
          <a:xfrm>
            <a:off x="8143036" y="1234440"/>
            <a:ext cx="36576" cy="4599432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4" name="meta_today_label"/>
          <p:cNvSpPr txBox="1"/>
          <p:nvPr/>
        </p:nvSpPr>
        <p:spPr>
          <a:xfrm>
            <a:off x="7685836" y="96012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4D7B"/>
                </a:solidFill>
                <a:latin typeface="Arial"/>
              </a:rPr>
              <a:t>Today</a:t>
            </a:r>
          </a:p>
        </p:txBody>
      </p:sp>
      <p:sp>
        <p:nvSpPr>
          <p:cNvPr id="15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McKinsey analysis. Today sits at the start of the Deliver phase (November 2009).</a:t>
            </a:r>
          </a:p>
        </p:txBody>
      </p:sp>
      <p:sp>
        <p:nvSpPr>
          <p:cNvPr id="16" name="meta_pagenum_5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We think about performance in terms of both processes and enablers — (1) Processes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pc_label"/>
          <p:cNvSpPr txBox="1"/>
          <p:nvPr/>
        </p:nvSpPr>
        <p:spPr>
          <a:xfrm>
            <a:off x="411480" y="140512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4D7B"/>
                </a:solidFill>
                <a:latin typeface="Arial"/>
              </a:rPr>
              <a:t>Performance management</a:t>
            </a:r>
          </a:p>
        </p:txBody>
      </p:sp>
      <p:sp>
        <p:nvSpPr>
          <p:cNvPr id="5" name="chartpart_fp_chip0"/>
          <p:cNvSpPr/>
          <p:nvPr/>
        </p:nvSpPr>
        <p:spPr>
          <a:xfrm>
            <a:off x="411480" y="1679448"/>
            <a:ext cx="1803349" cy="1078992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Set objectives</a:t>
            </a:r>
          </a:p>
        </p:txBody>
      </p:sp>
      <p:sp>
        <p:nvSpPr>
          <p:cNvPr id="6" name="chartpart_fp_arrow0"/>
          <p:cNvSpPr/>
          <p:nvPr/>
        </p:nvSpPr>
        <p:spPr>
          <a:xfrm rot="5400000">
            <a:off x="2214829" y="2136648"/>
            <a:ext cx="109728" cy="164592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7" name="chartpart_fp_chip1"/>
          <p:cNvSpPr/>
          <p:nvPr/>
        </p:nvSpPr>
        <p:spPr>
          <a:xfrm>
            <a:off x="2324557" y="1679448"/>
            <a:ext cx="1803349" cy="1078992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Set targets</a:t>
            </a:r>
          </a:p>
        </p:txBody>
      </p:sp>
      <p:sp>
        <p:nvSpPr>
          <p:cNvPr id="8" name="chartpart_fp_arrow1"/>
          <p:cNvSpPr/>
          <p:nvPr/>
        </p:nvSpPr>
        <p:spPr>
          <a:xfrm rot="5400000">
            <a:off x="4127906" y="2136648"/>
            <a:ext cx="109728" cy="164592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9" name="chartpart_fp_chip2"/>
          <p:cNvSpPr/>
          <p:nvPr/>
        </p:nvSpPr>
        <p:spPr>
          <a:xfrm>
            <a:off x="4237634" y="1679448"/>
            <a:ext cx="1803349" cy="1078992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Establish clear metrics</a:t>
            </a:r>
          </a:p>
        </p:txBody>
      </p:sp>
      <p:sp>
        <p:nvSpPr>
          <p:cNvPr id="10" name="chartpart_fp_arrow2"/>
          <p:cNvSpPr/>
          <p:nvPr/>
        </p:nvSpPr>
        <p:spPr>
          <a:xfrm rot="5400000">
            <a:off x="6040983" y="2136648"/>
            <a:ext cx="109728" cy="164592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1" name="chartpart_fp_chip3"/>
          <p:cNvSpPr/>
          <p:nvPr/>
        </p:nvSpPr>
        <p:spPr>
          <a:xfrm>
            <a:off x="6150711" y="1679448"/>
            <a:ext cx="1803349" cy="1078992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Track &amp; disseminate metrics</a:t>
            </a:r>
          </a:p>
        </p:txBody>
      </p:sp>
      <p:sp>
        <p:nvSpPr>
          <p:cNvPr id="12" name="chartpart_fp_arrow3"/>
          <p:cNvSpPr/>
          <p:nvPr/>
        </p:nvSpPr>
        <p:spPr>
          <a:xfrm rot="5400000">
            <a:off x="7954060" y="2136648"/>
            <a:ext cx="109728" cy="164592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3" name="chartpart_fp_chip4"/>
          <p:cNvSpPr/>
          <p:nvPr/>
        </p:nvSpPr>
        <p:spPr>
          <a:xfrm>
            <a:off x="8063788" y="1679448"/>
            <a:ext cx="1803349" cy="1078992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Review performance</a:t>
            </a:r>
          </a:p>
        </p:txBody>
      </p:sp>
      <p:sp>
        <p:nvSpPr>
          <p:cNvPr id="14" name="chartpart_fp_arrow4"/>
          <p:cNvSpPr/>
          <p:nvPr/>
        </p:nvSpPr>
        <p:spPr>
          <a:xfrm rot="5400000">
            <a:off x="9867137" y="2136648"/>
            <a:ext cx="109728" cy="164592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5" name="chartpart_fp_chip5"/>
          <p:cNvSpPr/>
          <p:nvPr/>
        </p:nvSpPr>
        <p:spPr>
          <a:xfrm>
            <a:off x="9976866" y="1679448"/>
            <a:ext cx="1803349" cy="1078992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Celebrate &amp; take action</a:t>
            </a:r>
          </a:p>
        </p:txBody>
      </p:sp>
      <p:sp>
        <p:nvSpPr>
          <p:cNvPr id="16" name="background_field_fp_grp1"/>
          <p:cNvSpPr/>
          <p:nvPr/>
        </p:nvSpPr>
        <p:spPr>
          <a:xfrm>
            <a:off x="411480" y="3032760"/>
            <a:ext cx="3637178" cy="2910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7" name="background_hdr_fp_grp1"/>
          <p:cNvSpPr/>
          <p:nvPr/>
        </p:nvSpPr>
        <p:spPr>
          <a:xfrm>
            <a:off x="411480" y="3032760"/>
            <a:ext cx="3637178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Steps 1–2 · Set objectives &amp; targets</a:t>
            </a:r>
          </a:p>
        </p:txBody>
      </p:sp>
      <p:sp>
        <p:nvSpPr>
          <p:cNvPr id="18" name="body_fp_grp1"/>
          <p:cNvSpPr txBox="1"/>
          <p:nvPr/>
        </p:nvSpPr>
        <p:spPr>
          <a:xfrm>
            <a:off x="521208" y="3489960"/>
            <a:ext cx="3417722" cy="2453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Set time-bound objectives that contribute to fulfilling the mission and vision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Set metrics that directly measure agreed objectives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Set additional metrics that cascade down from the key metric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Set quantitative targets; translate into operational plans and budgets</a:t>
            </a:r>
          </a:p>
        </p:txBody>
      </p:sp>
      <p:sp>
        <p:nvSpPr>
          <p:cNvPr id="19" name="background_field_fp_grp2"/>
          <p:cNvSpPr/>
          <p:nvPr/>
        </p:nvSpPr>
        <p:spPr>
          <a:xfrm>
            <a:off x="4277258" y="3032760"/>
            <a:ext cx="3637178" cy="2910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20" name="background_hdr_fp_grp2"/>
          <p:cNvSpPr/>
          <p:nvPr/>
        </p:nvSpPr>
        <p:spPr>
          <a:xfrm>
            <a:off x="4277258" y="3032760"/>
            <a:ext cx="3637178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Steps 3–4 · Establish &amp; track metrics</a:t>
            </a:r>
          </a:p>
        </p:txBody>
      </p:sp>
      <p:sp>
        <p:nvSpPr>
          <p:cNvPr id="21" name="body_fp_grp2"/>
          <p:cNvSpPr txBox="1"/>
          <p:nvPr/>
        </p:nvSpPr>
        <p:spPr>
          <a:xfrm>
            <a:off x="4386986" y="3489960"/>
            <a:ext cx="3417722" cy="2453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Produce progress reports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Disseminate reports to team members and stakeholders at pre-aligned intervals</a:t>
            </a:r>
          </a:p>
        </p:txBody>
      </p:sp>
      <p:sp>
        <p:nvSpPr>
          <p:cNvPr id="22" name="background_field_fp_grp3"/>
          <p:cNvSpPr/>
          <p:nvPr/>
        </p:nvSpPr>
        <p:spPr>
          <a:xfrm>
            <a:off x="8143036" y="3032760"/>
            <a:ext cx="3637178" cy="2910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23" name="background_hdr_fp_grp3"/>
          <p:cNvSpPr/>
          <p:nvPr/>
        </p:nvSpPr>
        <p:spPr>
          <a:xfrm>
            <a:off x="8143036" y="3032760"/>
            <a:ext cx="3637178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Steps 5–6 · Review &amp; act</a:t>
            </a:r>
          </a:p>
        </p:txBody>
      </p:sp>
      <p:sp>
        <p:nvSpPr>
          <p:cNvPr id="24" name="body_fp_grp3"/>
          <p:cNvSpPr txBox="1"/>
          <p:nvPr/>
        </p:nvSpPr>
        <p:spPr>
          <a:xfrm>
            <a:off x="8252764" y="3489960"/>
            <a:ext cx="3417722" cy="2453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Use reports to discuss progress in structured review meetings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Identify performance gaps and decide how to address them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Celebrate successes and take any required corrective actions</a:t>
            </a:r>
          </a:p>
        </p:txBody>
      </p:sp>
      <p:sp>
        <p:nvSpPr>
          <p:cNvPr id="25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McKinsey analysis.</a:t>
            </a:r>
          </a:p>
        </p:txBody>
      </p:sp>
      <p:sp>
        <p:nvSpPr>
          <p:cNvPr id="26" name="meta_pagenum_6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A shared vocabulary defines the core performance-management terms used across the project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terms"/>
          <p:cNvSpPr txBox="1"/>
          <p:nvPr/>
        </p:nvSpPr>
        <p:spPr>
          <a:xfrm>
            <a:off x="411480" y="14051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Definition of performance-management terms</a:t>
            </a:r>
          </a:p>
        </p:txBody>
      </p:sp>
      <p:graphicFrame>
        <p:nvGraphicFramePr>
          <p:cNvPr id="5" name="table_terms"/>
          <p:cNvGraphicFramePr>
            <a:graphicFrameLocks noGrp="1"/>
          </p:cNvGraphicFramePr>
          <p:nvPr/>
        </p:nvGraphicFramePr>
        <p:xfrm>
          <a:off x="411480" y="1642872"/>
          <a:ext cx="11365992" cy="4300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120640"/>
                <a:gridCol w="4507992"/>
              </a:tblGrid>
              <a:tr h="53759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Definition / description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375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Narrow, time-bound, quantifiable goal that contributes to delivering the 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Supply low-cost, quality TB drugs at USD 20/treatment for X patients in 2010</a:t>
                      </a:r>
                    </a:p>
                  </a:txBody>
                  <a:tcPr/>
                </a:tc>
              </a:tr>
              <a:tr h="5375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Measurable variable that indicates progress toward an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Funds raised; patient treatments supplied; grants approved</a:t>
                      </a:r>
                    </a:p>
                  </a:txBody>
                  <a:tcPr/>
                </a:tc>
              </a:tr>
              <a:tr h="5375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The target value of the chosen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15 million patient treatments supplied by 2010</a:t>
                      </a:r>
                    </a:p>
                  </a:txBody>
                  <a:tcPr/>
                </a:tc>
              </a:tr>
              <a:tr h="5375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 set of metrics and current values vs. target, with reasons for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See dashboard examples in this document</a:t>
                      </a:r>
                    </a:p>
                  </a:txBody>
                  <a:tcPr/>
                </a:tc>
              </a:tr>
              <a:tr h="5375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Performance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 sequence of meetings to review performance, find root causes, and agree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Quarterly team review meeting</a:t>
                      </a:r>
                    </a:p>
                  </a:txBody>
                  <a:tcPr/>
                </a:tc>
              </a:tr>
              <a:tr h="5375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Defines the organization's purpose and primary 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Supply low-cost, quality drugs to countries that need them</a:t>
                      </a:r>
                    </a:p>
                  </a:txBody>
                  <a:tcPr/>
                </a:tc>
              </a:tr>
              <a:tr h="5375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Articulates the aspiration or target for the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 TB-free world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7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We think about performance in terms of both processes and enablers — (2) Enablers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field_enab_1"/>
          <p:cNvSpPr/>
          <p:nvPr/>
        </p:nvSpPr>
        <p:spPr>
          <a:xfrm>
            <a:off x="411480" y="1344168"/>
            <a:ext cx="5570067" cy="218541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5" name="background_hdr_enab_1"/>
          <p:cNvSpPr/>
          <p:nvPr/>
        </p:nvSpPr>
        <p:spPr>
          <a:xfrm>
            <a:off x="411480" y="1344168"/>
            <a:ext cx="5570067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Committed leadership</a:t>
            </a:r>
          </a:p>
        </p:txBody>
      </p:sp>
      <p:sp>
        <p:nvSpPr>
          <p:cNvPr id="6" name="body_enab_1"/>
          <p:cNvSpPr txBox="1"/>
          <p:nvPr/>
        </p:nvSpPr>
        <p:spPr>
          <a:xfrm>
            <a:off x="557784" y="1801368"/>
            <a:ext cx="5277459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Strong leadership involvement and dedication.</a:t>
            </a:r>
          </a:p>
        </p:txBody>
      </p:sp>
      <p:sp>
        <p:nvSpPr>
          <p:cNvPr id="7" name="background_field_enab_2"/>
          <p:cNvSpPr/>
          <p:nvPr/>
        </p:nvSpPr>
        <p:spPr>
          <a:xfrm>
            <a:off x="6210147" y="1344168"/>
            <a:ext cx="5570067" cy="218541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8" name="background_hdr_enab_2"/>
          <p:cNvSpPr/>
          <p:nvPr/>
        </p:nvSpPr>
        <p:spPr>
          <a:xfrm>
            <a:off x="6210147" y="1344168"/>
            <a:ext cx="5570067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Capacity</a:t>
            </a:r>
          </a:p>
        </p:txBody>
      </p:sp>
      <p:sp>
        <p:nvSpPr>
          <p:cNvPr id="9" name="body_enab_2"/>
          <p:cNvSpPr txBox="1"/>
          <p:nvPr/>
        </p:nvSpPr>
        <p:spPr>
          <a:xfrm>
            <a:off x="6356451" y="1801368"/>
            <a:ext cx="5277459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Ensure sufficient skills, infrastructure, and resources for performance.</a:t>
            </a:r>
          </a:p>
        </p:txBody>
      </p:sp>
      <p:sp>
        <p:nvSpPr>
          <p:cNvPr id="10" name="background_field_enab_3"/>
          <p:cNvSpPr/>
          <p:nvPr/>
        </p:nvSpPr>
        <p:spPr>
          <a:xfrm>
            <a:off x="411480" y="3758184"/>
            <a:ext cx="5570067" cy="218541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1" name="background_hdr_enab_3"/>
          <p:cNvSpPr/>
          <p:nvPr/>
        </p:nvSpPr>
        <p:spPr>
          <a:xfrm>
            <a:off x="411480" y="3758184"/>
            <a:ext cx="5570067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Communications</a:t>
            </a:r>
          </a:p>
        </p:txBody>
      </p:sp>
      <p:sp>
        <p:nvSpPr>
          <p:cNvPr id="12" name="body_enab_3"/>
          <p:cNvSpPr txBox="1"/>
          <p:nvPr/>
        </p:nvSpPr>
        <p:spPr>
          <a:xfrm>
            <a:off x="557784" y="4215384"/>
            <a:ext cx="5277459" cy="1636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Communicate performance and the importance of discussing it regularly to all stakeholders.</a:t>
            </a:r>
          </a:p>
        </p:txBody>
      </p:sp>
      <p:sp>
        <p:nvSpPr>
          <p:cNvPr id="13" name="background_field_enab_4"/>
          <p:cNvSpPr/>
          <p:nvPr/>
        </p:nvSpPr>
        <p:spPr>
          <a:xfrm>
            <a:off x="6210147" y="3758184"/>
            <a:ext cx="5570067" cy="218541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4" name="background_hdr_enab_4"/>
          <p:cNvSpPr/>
          <p:nvPr/>
        </p:nvSpPr>
        <p:spPr>
          <a:xfrm>
            <a:off x="6210147" y="3758184"/>
            <a:ext cx="5570067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Culture</a:t>
            </a:r>
          </a:p>
        </p:txBody>
      </p:sp>
      <p:sp>
        <p:nvSpPr>
          <p:cNvPr id="15" name="body_enab_4"/>
          <p:cNvSpPr txBox="1"/>
          <p:nvPr/>
        </p:nvSpPr>
        <p:spPr>
          <a:xfrm>
            <a:off x="6356451" y="4215384"/>
            <a:ext cx="5277459" cy="1636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Develop shared cultural norms for performance (e.g., accountability, behaviors).</a:t>
            </a:r>
          </a:p>
        </p:txBody>
      </p:sp>
      <p:sp>
        <p:nvSpPr>
          <p:cNvPr id="16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7" name="meta_pagenum_8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Many GHPs find some performance processes challenging given their complex environment and structure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pc_label2"/>
          <p:cNvSpPr txBox="1"/>
          <p:nvPr/>
        </p:nvSpPr>
        <p:spPr>
          <a:xfrm>
            <a:off x="411480" y="140512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4D7B"/>
                </a:solidFill>
                <a:latin typeface="Arial"/>
              </a:rPr>
              <a:t>Performance management</a:t>
            </a:r>
          </a:p>
        </p:txBody>
      </p:sp>
      <p:sp>
        <p:nvSpPr>
          <p:cNvPr id="5" name="chartpart_cp_chip0"/>
          <p:cNvSpPr/>
          <p:nvPr/>
        </p:nvSpPr>
        <p:spPr>
          <a:xfrm>
            <a:off x="411480" y="1679448"/>
            <a:ext cx="1803349" cy="1078992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Set objectives</a:t>
            </a:r>
          </a:p>
        </p:txBody>
      </p:sp>
      <p:sp>
        <p:nvSpPr>
          <p:cNvPr id="6" name="chartpart_cp_arrow0"/>
          <p:cNvSpPr/>
          <p:nvPr/>
        </p:nvSpPr>
        <p:spPr>
          <a:xfrm rot="5400000">
            <a:off x="2214829" y="2136648"/>
            <a:ext cx="109728" cy="164592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7" name="chartpart_cp_chip1"/>
          <p:cNvSpPr/>
          <p:nvPr/>
        </p:nvSpPr>
        <p:spPr>
          <a:xfrm>
            <a:off x="2324557" y="1679448"/>
            <a:ext cx="1803349" cy="1078992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Set targets</a:t>
            </a:r>
          </a:p>
        </p:txBody>
      </p:sp>
      <p:sp>
        <p:nvSpPr>
          <p:cNvPr id="8" name="chartpart_cp_arrow1"/>
          <p:cNvSpPr/>
          <p:nvPr/>
        </p:nvSpPr>
        <p:spPr>
          <a:xfrm rot="5400000">
            <a:off x="4127906" y="2136648"/>
            <a:ext cx="109728" cy="164592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9" name="chartpart_cp_chip2"/>
          <p:cNvSpPr/>
          <p:nvPr/>
        </p:nvSpPr>
        <p:spPr>
          <a:xfrm>
            <a:off x="4237634" y="1679448"/>
            <a:ext cx="1803349" cy="1078992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Clear metrics</a:t>
            </a:r>
          </a:p>
        </p:txBody>
      </p:sp>
      <p:sp>
        <p:nvSpPr>
          <p:cNvPr id="10" name="chartpart_cp_arrow2"/>
          <p:cNvSpPr/>
          <p:nvPr/>
        </p:nvSpPr>
        <p:spPr>
          <a:xfrm rot="5400000">
            <a:off x="6040983" y="2136648"/>
            <a:ext cx="109728" cy="164592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1" name="chartpart_cp_chip3"/>
          <p:cNvSpPr/>
          <p:nvPr/>
        </p:nvSpPr>
        <p:spPr>
          <a:xfrm>
            <a:off x="6150711" y="1679448"/>
            <a:ext cx="1803349" cy="1078992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Track &amp; disseminate</a:t>
            </a:r>
          </a:p>
        </p:txBody>
      </p:sp>
      <p:sp>
        <p:nvSpPr>
          <p:cNvPr id="12" name="chartpart_cp_arrow3"/>
          <p:cNvSpPr/>
          <p:nvPr/>
        </p:nvSpPr>
        <p:spPr>
          <a:xfrm rot="5400000">
            <a:off x="7954060" y="2136648"/>
            <a:ext cx="109728" cy="164592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3" name="chartpart_cp_chip4"/>
          <p:cNvSpPr/>
          <p:nvPr/>
        </p:nvSpPr>
        <p:spPr>
          <a:xfrm>
            <a:off x="8063788" y="1679448"/>
            <a:ext cx="1803349" cy="1078992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14" name="chartpart_cp_arrow4"/>
          <p:cNvSpPr/>
          <p:nvPr/>
        </p:nvSpPr>
        <p:spPr>
          <a:xfrm rot="5400000">
            <a:off x="9867137" y="2136648"/>
            <a:ext cx="109728" cy="164592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5" name="chartpart_cp_chip5"/>
          <p:cNvSpPr/>
          <p:nvPr/>
        </p:nvSpPr>
        <p:spPr>
          <a:xfrm>
            <a:off x="9976866" y="1679448"/>
            <a:ext cx="1803349" cy="1078992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Celebrate &amp; act</a:t>
            </a:r>
          </a:p>
        </p:txBody>
      </p:sp>
      <p:sp>
        <p:nvSpPr>
          <p:cNvPr id="16" name="background_field_cp_box1"/>
          <p:cNvSpPr/>
          <p:nvPr/>
        </p:nvSpPr>
        <p:spPr>
          <a:xfrm>
            <a:off x="411480" y="3032760"/>
            <a:ext cx="3637178" cy="2910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7" name="background_hdr_cp_box1"/>
          <p:cNvSpPr/>
          <p:nvPr/>
        </p:nvSpPr>
        <p:spPr>
          <a:xfrm>
            <a:off x="411480" y="3032760"/>
            <a:ext cx="3637178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Box 1 · Setting objectives &amp; targets</a:t>
            </a:r>
          </a:p>
        </p:txBody>
      </p:sp>
      <p:sp>
        <p:nvSpPr>
          <p:cNvPr id="18" name="body_cp_box1"/>
          <p:cNvSpPr txBox="1"/>
          <p:nvPr/>
        </p:nvSpPr>
        <p:spPr>
          <a:xfrm>
            <a:off x="521208" y="3489960"/>
            <a:ext cx="3417722" cy="2453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Getting from a vision to specific objectives, rather than directly to activities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Aligning divergent partner views on which objectives to pursue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Committing to targets is hard: some targets are not entirely deliverable by the partnership; voluntary nature; consequences of missing targets</a:t>
            </a:r>
          </a:p>
        </p:txBody>
      </p:sp>
      <p:sp>
        <p:nvSpPr>
          <p:cNvPr id="19" name="background_field_cp_box2"/>
          <p:cNvSpPr/>
          <p:nvPr/>
        </p:nvSpPr>
        <p:spPr>
          <a:xfrm>
            <a:off x="4277258" y="3032760"/>
            <a:ext cx="3637178" cy="2910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20" name="background_hdr_cp_box2"/>
          <p:cNvSpPr/>
          <p:nvPr/>
        </p:nvSpPr>
        <p:spPr>
          <a:xfrm>
            <a:off x="4277258" y="3032760"/>
            <a:ext cx="3637178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Box 2 · Metrics &amp; data</a:t>
            </a:r>
          </a:p>
        </p:txBody>
      </p:sp>
      <p:sp>
        <p:nvSpPr>
          <p:cNvPr id="21" name="body_cp_box2"/>
          <p:cNvSpPr txBox="1"/>
          <p:nvPr/>
        </p:nvSpPr>
        <p:spPr>
          <a:xfrm>
            <a:off x="4386986" y="3489960"/>
            <a:ext cx="3417722" cy="2453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Agreeing the right metrics for objectives that are difficult to measure, e.g., awareness about TB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Aligning organization structures with performance drivers and metrics for clear accountability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Getting good performance data given in-country data-gathering limitations</a:t>
            </a:r>
          </a:p>
        </p:txBody>
      </p:sp>
      <p:sp>
        <p:nvSpPr>
          <p:cNvPr id="22" name="background_field_cp_box3"/>
          <p:cNvSpPr/>
          <p:nvPr/>
        </p:nvSpPr>
        <p:spPr>
          <a:xfrm>
            <a:off x="8143036" y="3032760"/>
            <a:ext cx="3637178" cy="2910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23" name="background_hdr_cp_box3"/>
          <p:cNvSpPr/>
          <p:nvPr/>
        </p:nvSpPr>
        <p:spPr>
          <a:xfrm>
            <a:off x="8143036" y="3032760"/>
            <a:ext cx="3637178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Box 3 · Advocacy specifics</a:t>
            </a:r>
          </a:p>
        </p:txBody>
      </p:sp>
      <p:sp>
        <p:nvSpPr>
          <p:cNvPr id="24" name="body_cp_box3"/>
          <p:cNvSpPr txBox="1"/>
          <p:nvPr/>
        </p:nvSpPr>
        <p:spPr>
          <a:xfrm>
            <a:off x="8252764" y="3489960"/>
            <a:ext cx="3417722" cy="2453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Setting advocacy objectives that stay current and relevant in changing external circumstances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Finding and making visible tactical advocacy opportunities for partners</a:t>
            </a:r>
          </a:p>
        </p:txBody>
      </p:sp>
      <p:sp>
        <p:nvSpPr>
          <p:cNvPr id="25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Interviews with Stop TB Partnership, GAVI, and UNAIDS.</a:t>
            </a:r>
          </a:p>
        </p:txBody>
      </p:sp>
      <p:sp>
        <p:nvSpPr>
          <p:cNvPr id="26" name="meta_pagenum_9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Many GHPs also struggle with the right enablers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field_ce_1"/>
          <p:cNvSpPr/>
          <p:nvPr/>
        </p:nvSpPr>
        <p:spPr>
          <a:xfrm>
            <a:off x="411480" y="1344168"/>
            <a:ext cx="5570067" cy="218541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5" name="background_hdr_ce_1"/>
          <p:cNvSpPr/>
          <p:nvPr/>
        </p:nvSpPr>
        <p:spPr>
          <a:xfrm>
            <a:off x="411480" y="1344168"/>
            <a:ext cx="5570067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Committed leadership</a:t>
            </a:r>
          </a:p>
        </p:txBody>
      </p:sp>
      <p:sp>
        <p:nvSpPr>
          <p:cNvPr id="6" name="body_ce_1"/>
          <p:cNvSpPr txBox="1"/>
          <p:nvPr/>
        </p:nvSpPr>
        <p:spPr>
          <a:xfrm>
            <a:off x="557784" y="1801368"/>
            <a:ext cx="5277459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Ensuring leaders regularly lead and participate in performance reviews, despite many other calls on their time.</a:t>
            </a:r>
          </a:p>
        </p:txBody>
      </p:sp>
      <p:sp>
        <p:nvSpPr>
          <p:cNvPr id="7" name="background_field_ce_2"/>
          <p:cNvSpPr/>
          <p:nvPr/>
        </p:nvSpPr>
        <p:spPr>
          <a:xfrm>
            <a:off x="6210147" y="1344168"/>
            <a:ext cx="5570067" cy="218541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8" name="background_hdr_ce_2"/>
          <p:cNvSpPr/>
          <p:nvPr/>
        </p:nvSpPr>
        <p:spPr>
          <a:xfrm>
            <a:off x="6210147" y="1344168"/>
            <a:ext cx="5570067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Capacity</a:t>
            </a:r>
          </a:p>
        </p:txBody>
      </p:sp>
      <p:sp>
        <p:nvSpPr>
          <p:cNvPr id="9" name="body_ce_2"/>
          <p:cNvSpPr txBox="1"/>
          <p:nvPr/>
        </p:nvSpPr>
        <p:spPr>
          <a:xfrm>
            <a:off x="6356451" y="1801368"/>
            <a:ext cx="5277459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Allocating appropriate resources to performance management given limited resources for internal processes.</a:t>
            </a:r>
          </a:p>
        </p:txBody>
      </p:sp>
      <p:sp>
        <p:nvSpPr>
          <p:cNvPr id="10" name="background_field_ce_3"/>
          <p:cNvSpPr/>
          <p:nvPr/>
        </p:nvSpPr>
        <p:spPr>
          <a:xfrm>
            <a:off x="411480" y="3758184"/>
            <a:ext cx="5570067" cy="218541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1" name="background_hdr_ce_3"/>
          <p:cNvSpPr/>
          <p:nvPr/>
        </p:nvSpPr>
        <p:spPr>
          <a:xfrm>
            <a:off x="411480" y="3758184"/>
            <a:ext cx="5570067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Communications</a:t>
            </a:r>
          </a:p>
        </p:txBody>
      </p:sp>
      <p:sp>
        <p:nvSpPr>
          <p:cNvPr id="12" name="body_ce_3"/>
          <p:cNvSpPr txBox="1"/>
          <p:nvPr/>
        </p:nvSpPr>
        <p:spPr>
          <a:xfrm>
            <a:off x="557784" y="4215384"/>
            <a:ext cx="5277459" cy="1636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Establishing shared understanding of accountability across partners' different backgrounds; keeping a loose working group engaged and motivated.</a:t>
            </a:r>
          </a:p>
        </p:txBody>
      </p:sp>
      <p:sp>
        <p:nvSpPr>
          <p:cNvPr id="13" name="background_field_ce_4"/>
          <p:cNvSpPr/>
          <p:nvPr/>
        </p:nvSpPr>
        <p:spPr>
          <a:xfrm>
            <a:off x="6210147" y="3758184"/>
            <a:ext cx="5570067" cy="218541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4" name="background_hdr_ce_4"/>
          <p:cNvSpPr/>
          <p:nvPr/>
        </p:nvSpPr>
        <p:spPr>
          <a:xfrm>
            <a:off x="6210147" y="3758184"/>
            <a:ext cx="5570067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Culture</a:t>
            </a:r>
          </a:p>
        </p:txBody>
      </p:sp>
      <p:sp>
        <p:nvSpPr>
          <p:cNvPr id="15" name="body_ce_4"/>
          <p:cNvSpPr txBox="1"/>
          <p:nvPr/>
        </p:nvSpPr>
        <p:spPr>
          <a:xfrm>
            <a:off x="6356451" y="4215384"/>
            <a:ext cx="5277459" cy="1636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Moving from performance measurement (extensive reporting) to performance management (open discussion); defining ambitious goals despite a consensus-building culture.</a:t>
            </a:r>
          </a:p>
        </p:txBody>
      </p:sp>
      <p:sp>
        <p:nvSpPr>
          <p:cNvPr id="16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Interviews with Stop TB Partnership, GAVI, and UNAIDS.</a:t>
            </a:r>
          </a:p>
        </p:txBody>
      </p:sp>
      <p:sp>
        <p:nvSpPr>
          <p:cNvPr id="17" name="meta_pagenum_10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The Stop TB Partnership displays a number of strengths across performance processes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field_strengths"/>
          <p:cNvSpPr/>
          <p:nvPr/>
        </p:nvSpPr>
        <p:spPr>
          <a:xfrm>
            <a:off x="411480" y="1405128"/>
            <a:ext cx="11368735" cy="453847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5" name="background_hdr_strengths"/>
          <p:cNvSpPr/>
          <p:nvPr/>
        </p:nvSpPr>
        <p:spPr>
          <a:xfrm>
            <a:off x="411480" y="1405128"/>
            <a:ext cx="11368735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Strengths across performance processes</a:t>
            </a:r>
          </a:p>
        </p:txBody>
      </p:sp>
      <p:sp>
        <p:nvSpPr>
          <p:cNvPr id="6" name="body_strengths"/>
          <p:cNvSpPr txBox="1"/>
          <p:nvPr/>
        </p:nvSpPr>
        <p:spPr>
          <a:xfrm>
            <a:off x="548640" y="1862328"/>
            <a:ext cx="11094415" cy="4081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Aft>
                <a:spcPts val="1200"/>
              </a:spcAft>
              <a:buFont typeface="Arial"/>
              <a:buChar char="▪"/>
            </a:pPr>
            <a:r>
              <a:rPr sz="1300" b="1" i="0">
                <a:solidFill>
                  <a:srgbClr val="1A2332"/>
                </a:solidFill>
                <a:latin typeface="Arial"/>
              </a:rPr>
              <a:t>Setting objectives —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GDF objectives are clearly defined and distinguish the change GDF hopes to bring about (e.g., MDGs — 70% of TB cases diagnosed, 85% cure rate) from the internal goals it sets itself</a:t>
            </a:r>
          </a:p>
          <a:p>
            <a:pPr algn="l" marL="181610" indent="-181610">
              <a:spcAft>
                <a:spcPts val="1200"/>
              </a:spcAft>
              <a:buFont typeface="Arial"/>
              <a:buChar char="▪"/>
            </a:pPr>
            <a:r>
              <a:rPr sz="1300" b="1" i="0">
                <a:solidFill>
                  <a:srgbClr val="1A2332"/>
                </a:solidFill>
                <a:latin typeface="Arial"/>
              </a:rPr>
              <a:t>Tracking &amp; disseminating metrics —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despite limited resources, GDF tracks and reports on a wide variety of metrics to meet the different demands of donors</a:t>
            </a:r>
          </a:p>
          <a:p>
            <a:pPr algn="l" marL="181610" indent="-181610">
              <a:spcAft>
                <a:spcPts val="1200"/>
              </a:spcAft>
              <a:buFont typeface="Arial"/>
              <a:buChar char="▪"/>
            </a:pPr>
            <a:r>
              <a:rPr sz="1300" b="1" i="0">
                <a:solidFill>
                  <a:srgbClr val="1A2332"/>
                </a:solidFill>
                <a:latin typeface="Arial"/>
              </a:rPr>
              <a:t>Establishing metrics &amp; setting targets —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the MDR-TB Working Group defines concrete metrics (e.g., patients with access to MDR-TB treatment) and sets specific targets (e.g., for 2009: 200,000 patients, 4 projects)</a:t>
            </a:r>
          </a:p>
          <a:p>
            <a:pPr algn="l" marL="181610" indent="-181610">
              <a:spcAft>
                <a:spcPts val="1200"/>
              </a:spcAft>
              <a:buFont typeface="Arial"/>
              <a:buChar char="▪"/>
            </a:pPr>
            <a:r>
              <a:rPr sz="1300" b="1" i="0">
                <a:solidFill>
                  <a:srgbClr val="1A2332"/>
                </a:solidFill>
                <a:latin typeface="Arial"/>
              </a:rPr>
              <a:t>Reviewing performance —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the Advocacy Team conducts an in-depth review against objectives in its funding proposal, taking stock of results and lessons learned</a:t>
            </a:r>
          </a:p>
        </p:txBody>
      </p:sp>
      <p:sp>
        <p:nvSpPr>
          <p:cNvPr id="7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McKinsey analysis; interviews.</a:t>
            </a:r>
          </a:p>
        </p:txBody>
      </p:sp>
      <p:sp>
        <p:nvSpPr>
          <p:cNvPr id="8" name="meta_pagenum_11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Brief overview of the performance issues we jointly agreed to address across the five Partnership bodies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issues"/>
          <p:cNvSpPr txBox="1"/>
          <p:nvPr/>
        </p:nvSpPr>
        <p:spPr>
          <a:xfrm>
            <a:off x="411480" y="14051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Performance issue addressed per Partnership body</a:t>
            </a:r>
          </a:p>
        </p:txBody>
      </p:sp>
      <p:graphicFrame>
        <p:nvGraphicFramePr>
          <p:cNvPr id="5" name="table_issues"/>
          <p:cNvGraphicFramePr>
            <a:graphicFrameLocks noGrp="1"/>
          </p:cNvGraphicFramePr>
          <p:nvPr/>
        </p:nvGraphicFramePr>
        <p:xfrm>
          <a:off x="411480" y="1642872"/>
          <a:ext cx="11365992" cy="4300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206240"/>
                <a:gridCol w="4690872"/>
              </a:tblGrid>
              <a:tr h="7167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Partnership body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Central GHP performance issue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Specific question addressed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7167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GDF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Agreeing the right metrics for objectives that are difficult to 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GDF tracks 250 metrics, but not all relate to GDF, some overlap, and metrics are not organized hierarchically</a:t>
                      </a:r>
                    </a:p>
                  </a:txBody>
                  <a:tcPr/>
                </a:tc>
              </a:tr>
              <a:tr h="7167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Setting advocacy objectives that stay current and relevant in changing external circumstances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Setting advocacy objectives that stay current; finding and making visible tactical opportunities</a:t>
                      </a:r>
                    </a:p>
                  </a:txBody>
                  <a:tcPr/>
                </a:tc>
              </a:tr>
              <a:tr h="7167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Comms, Marketing &amp; Branding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Getting from a vision to specific objectives rather than directly to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Determining detailed objectives for each audience group and defining metrics for each</a:t>
                      </a:r>
                    </a:p>
                  </a:txBody>
                  <a:tcPr/>
                </a:tc>
              </a:tr>
              <a:tr h="7167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Challenge Facility for Civil Society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Getting from a vision to specific objectives rather than directly to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Refining the mission based on the first two years' experience and articulating specific objectives</a:t>
                      </a:r>
                    </a:p>
                  </a:txBody>
                  <a:tcPr/>
                </a:tc>
              </a:tr>
              <a:tr h="7167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MDR-TB Working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Agreeing the right metrics for objectives that are difficult to 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Tying metrics explicitly to WG objectives; clarifying accountabilities and timelines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12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While most of the 250 metrics were relevant and helpful to GDF, data collection and reporting was onerous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qcard_1"/>
          <p:cNvSpPr/>
          <p:nvPr/>
        </p:nvSpPr>
        <p:spPr>
          <a:xfrm>
            <a:off x="411480" y="1405128"/>
            <a:ext cx="2705023" cy="2154936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5" name="body_qcard_1"/>
          <p:cNvSpPr txBox="1"/>
          <p:nvPr/>
        </p:nvSpPr>
        <p:spPr>
          <a:xfrm>
            <a:off x="576072" y="1514856"/>
            <a:ext cx="2412415" cy="1972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A2332"/>
                </a:solidFill>
                <a:latin typeface="Arial"/>
              </a:rPr>
              <a:t>All together we report on over 200 KPIs that cover our numerous external reporting requirements</a:t>
            </a:r>
          </a:p>
        </p:txBody>
      </p:sp>
      <p:sp>
        <p:nvSpPr>
          <p:cNvPr id="6" name="background_qcard_2"/>
          <p:cNvSpPr/>
          <p:nvPr/>
        </p:nvSpPr>
        <p:spPr>
          <a:xfrm>
            <a:off x="3299383" y="1405128"/>
            <a:ext cx="2705023" cy="2154936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7" name="body_qcard_2"/>
          <p:cNvSpPr txBox="1"/>
          <p:nvPr/>
        </p:nvSpPr>
        <p:spPr>
          <a:xfrm>
            <a:off x="3463975" y="1514856"/>
            <a:ext cx="2412415" cy="1972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A2332"/>
                </a:solidFill>
                <a:latin typeface="Arial"/>
              </a:rPr>
              <a:t>Most individual KPIs are relevant and helpful</a:t>
            </a:r>
          </a:p>
        </p:txBody>
      </p:sp>
      <p:sp>
        <p:nvSpPr>
          <p:cNvPr id="8" name="background_qcard_3"/>
          <p:cNvSpPr/>
          <p:nvPr/>
        </p:nvSpPr>
        <p:spPr>
          <a:xfrm>
            <a:off x="6187287" y="1405128"/>
            <a:ext cx="2705023" cy="2154936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9" name="body_qcard_3"/>
          <p:cNvSpPr txBox="1"/>
          <p:nvPr/>
        </p:nvSpPr>
        <p:spPr>
          <a:xfrm>
            <a:off x="6351879" y="1514856"/>
            <a:ext cx="2412415" cy="1972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A2332"/>
                </a:solidFill>
                <a:latin typeface="Arial"/>
              </a:rPr>
              <a:t>KPIs are specific and measurable</a:t>
            </a:r>
          </a:p>
        </p:txBody>
      </p:sp>
      <p:sp>
        <p:nvSpPr>
          <p:cNvPr id="10" name="background_qcard_4"/>
          <p:cNvSpPr/>
          <p:nvPr/>
        </p:nvSpPr>
        <p:spPr>
          <a:xfrm>
            <a:off x="9075191" y="1405128"/>
            <a:ext cx="2705023" cy="2154936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1" name="body_qcard_4"/>
          <p:cNvSpPr txBox="1"/>
          <p:nvPr/>
        </p:nvSpPr>
        <p:spPr>
          <a:xfrm>
            <a:off x="9239783" y="1514856"/>
            <a:ext cx="2412415" cy="1972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A2332"/>
                </a:solidFill>
                <a:latin typeface="Arial"/>
              </a:rPr>
              <a:t>It is difficult to define metrics for some areas, so we have KPI gaps</a:t>
            </a:r>
          </a:p>
        </p:txBody>
      </p:sp>
      <p:sp>
        <p:nvSpPr>
          <p:cNvPr id="12" name="background_qcard_5"/>
          <p:cNvSpPr/>
          <p:nvPr/>
        </p:nvSpPr>
        <p:spPr>
          <a:xfrm>
            <a:off x="411480" y="3788663"/>
            <a:ext cx="2705023" cy="2154936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3" name="body_qcard_5"/>
          <p:cNvSpPr txBox="1"/>
          <p:nvPr/>
        </p:nvSpPr>
        <p:spPr>
          <a:xfrm>
            <a:off x="576072" y="3898391"/>
            <a:ext cx="2412415" cy="1972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A2332"/>
                </a:solidFill>
                <a:latin typeface="Arial"/>
              </a:rPr>
              <a:t>Some of our KPIs overlap, so it is unclear what we are optimizing for</a:t>
            </a:r>
          </a:p>
        </p:txBody>
      </p:sp>
      <p:sp>
        <p:nvSpPr>
          <p:cNvPr id="14" name="background_qcard_6"/>
          <p:cNvSpPr/>
          <p:nvPr/>
        </p:nvSpPr>
        <p:spPr>
          <a:xfrm>
            <a:off x="3299383" y="3788663"/>
            <a:ext cx="2705023" cy="2154936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5" name="body_qcard_6"/>
          <p:cNvSpPr txBox="1"/>
          <p:nvPr/>
        </p:nvSpPr>
        <p:spPr>
          <a:xfrm>
            <a:off x="3463975" y="3898391"/>
            <a:ext cx="2412415" cy="1972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A2332"/>
                </a:solidFill>
                <a:latin typeface="Arial"/>
              </a:rPr>
              <a:t>It takes too much time to collect the information and adapt it to our 200+ KPIs</a:t>
            </a:r>
          </a:p>
        </p:txBody>
      </p:sp>
      <p:sp>
        <p:nvSpPr>
          <p:cNvPr id="16" name="background_qcard_7"/>
          <p:cNvSpPr/>
          <p:nvPr/>
        </p:nvSpPr>
        <p:spPr>
          <a:xfrm>
            <a:off x="6187287" y="3788663"/>
            <a:ext cx="2705023" cy="2154936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7" name="body_qcard_7"/>
          <p:cNvSpPr txBox="1"/>
          <p:nvPr/>
        </p:nvSpPr>
        <p:spPr>
          <a:xfrm>
            <a:off x="6351879" y="3898391"/>
            <a:ext cx="2412415" cy="1972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A2332"/>
                </a:solidFill>
                <a:latin typeface="Arial"/>
              </a:rPr>
              <a:t>Since the hierarchy of KPIs is not clear, it is hard to prioritize</a:t>
            </a:r>
          </a:p>
        </p:txBody>
      </p:sp>
      <p:sp>
        <p:nvSpPr>
          <p:cNvPr id="18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Interviews.</a:t>
            </a:r>
          </a:p>
        </p:txBody>
      </p:sp>
      <p:sp>
        <p:nvSpPr>
          <p:cNvPr id="19" name="meta_pagenum_13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The team followed an eight-step process to create streamlined, structured KPIs, dashboards, and review meetings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stepcard_1"/>
          <p:cNvSpPr/>
          <p:nvPr/>
        </p:nvSpPr>
        <p:spPr>
          <a:xfrm>
            <a:off x="411480" y="1405128"/>
            <a:ext cx="2705023" cy="2154936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5" name="background_stepchip_1"/>
          <p:cNvSpPr/>
          <p:nvPr/>
        </p:nvSpPr>
        <p:spPr>
          <a:xfrm>
            <a:off x="521208" y="1514856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6" name="body_step_1"/>
          <p:cNvSpPr txBox="1"/>
          <p:nvPr/>
        </p:nvSpPr>
        <p:spPr>
          <a:xfrm>
            <a:off x="1033272" y="1533144"/>
            <a:ext cx="1973503" cy="1972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Collate all GDF metrics reported on into one database: ~250 in total</a:t>
            </a:r>
          </a:p>
        </p:txBody>
      </p:sp>
      <p:sp>
        <p:nvSpPr>
          <p:cNvPr id="7" name="background_stepcard_2"/>
          <p:cNvSpPr/>
          <p:nvPr/>
        </p:nvSpPr>
        <p:spPr>
          <a:xfrm>
            <a:off x="3299383" y="1405128"/>
            <a:ext cx="2705023" cy="2154936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8" name="background_stepchip_2"/>
          <p:cNvSpPr/>
          <p:nvPr/>
        </p:nvSpPr>
        <p:spPr>
          <a:xfrm>
            <a:off x="3409111" y="1514856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9" name="body_step_2"/>
          <p:cNvSpPr txBox="1"/>
          <p:nvPr/>
        </p:nvSpPr>
        <p:spPr>
          <a:xfrm>
            <a:off x="3921175" y="1533144"/>
            <a:ext cx="1973503" cy="1972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Agree on GDF objectives and cluster metrics/KPIs to objectives</a:t>
            </a:r>
          </a:p>
        </p:txBody>
      </p:sp>
      <p:sp>
        <p:nvSpPr>
          <p:cNvPr id="10" name="background_stepcard_3"/>
          <p:cNvSpPr/>
          <p:nvPr/>
        </p:nvSpPr>
        <p:spPr>
          <a:xfrm>
            <a:off x="6187287" y="1405128"/>
            <a:ext cx="2705023" cy="2154936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1" name="background_stepchip_3"/>
          <p:cNvSpPr/>
          <p:nvPr/>
        </p:nvSpPr>
        <p:spPr>
          <a:xfrm>
            <a:off x="6297015" y="1514856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2" name="body_step_3"/>
          <p:cNvSpPr txBox="1"/>
          <p:nvPr/>
        </p:nvSpPr>
        <p:spPr>
          <a:xfrm>
            <a:off x="6809079" y="1533144"/>
            <a:ext cx="1973503" cy="1972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Develop a detailed KPI tree for each objective</a:t>
            </a:r>
          </a:p>
        </p:txBody>
      </p:sp>
      <p:sp>
        <p:nvSpPr>
          <p:cNvPr id="13" name="background_stepcard_4"/>
          <p:cNvSpPr/>
          <p:nvPr/>
        </p:nvSpPr>
        <p:spPr>
          <a:xfrm>
            <a:off x="9075191" y="1405128"/>
            <a:ext cx="2705023" cy="2154936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4" name="background_stepchip_4"/>
          <p:cNvSpPr/>
          <p:nvPr/>
        </p:nvSpPr>
        <p:spPr>
          <a:xfrm>
            <a:off x="9184919" y="1514856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5" name="body_step_4"/>
          <p:cNvSpPr txBox="1"/>
          <p:nvPr/>
        </p:nvSpPr>
        <p:spPr>
          <a:xfrm>
            <a:off x="9696983" y="1533144"/>
            <a:ext cx="1973503" cy="1972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Streamline detailed trees, excluding activity-related or non-GDF-owned KPIs</a:t>
            </a:r>
          </a:p>
        </p:txBody>
      </p:sp>
      <p:sp>
        <p:nvSpPr>
          <p:cNvPr id="16" name="background_stepcard_5"/>
          <p:cNvSpPr/>
          <p:nvPr/>
        </p:nvSpPr>
        <p:spPr>
          <a:xfrm>
            <a:off x="411480" y="3788663"/>
            <a:ext cx="2705023" cy="2154936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7" name="background_stepchip_5"/>
          <p:cNvSpPr/>
          <p:nvPr/>
        </p:nvSpPr>
        <p:spPr>
          <a:xfrm>
            <a:off x="521208" y="3898391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8" name="body_step_5"/>
          <p:cNvSpPr txBox="1"/>
          <p:nvPr/>
        </p:nvSpPr>
        <p:spPr>
          <a:xfrm>
            <a:off x="1033272" y="3916679"/>
            <a:ext cx="1973503" cy="1972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Assign owners to, and define review frequency of, each KPI</a:t>
            </a:r>
          </a:p>
        </p:txBody>
      </p:sp>
      <p:sp>
        <p:nvSpPr>
          <p:cNvPr id="19" name="background_stepcard_6"/>
          <p:cNvSpPr/>
          <p:nvPr/>
        </p:nvSpPr>
        <p:spPr>
          <a:xfrm>
            <a:off x="3299383" y="3788663"/>
            <a:ext cx="2705023" cy="2154936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20" name="background_stepchip_6"/>
          <p:cNvSpPr/>
          <p:nvPr/>
        </p:nvSpPr>
        <p:spPr>
          <a:xfrm>
            <a:off x="3409111" y="3898391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21" name="body_step_6"/>
          <p:cNvSpPr txBox="1"/>
          <p:nvPr/>
        </p:nvSpPr>
        <p:spPr>
          <a:xfrm>
            <a:off x="3921175" y="3916679"/>
            <a:ext cx="1973503" cy="1972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Develop a clear cascade of KPIs from teams up to the COO annual review</a:t>
            </a:r>
          </a:p>
        </p:txBody>
      </p:sp>
      <p:sp>
        <p:nvSpPr>
          <p:cNvPr id="22" name="background_stepcard_7"/>
          <p:cNvSpPr/>
          <p:nvPr/>
        </p:nvSpPr>
        <p:spPr>
          <a:xfrm>
            <a:off x="6187287" y="3788663"/>
            <a:ext cx="2705023" cy="2154936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23" name="background_stepchip_7"/>
          <p:cNvSpPr/>
          <p:nvPr/>
        </p:nvSpPr>
        <p:spPr>
          <a:xfrm>
            <a:off x="6297015" y="3898391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24" name="body_step_7"/>
          <p:cNvSpPr txBox="1"/>
          <p:nvPr/>
        </p:nvSpPr>
        <p:spPr>
          <a:xfrm>
            <a:off x="6809079" y="3916679"/>
            <a:ext cx="1973503" cy="1972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Create dashboards and review calendars for each team</a:t>
            </a:r>
          </a:p>
        </p:txBody>
      </p:sp>
      <p:sp>
        <p:nvSpPr>
          <p:cNvPr id="25" name="background_stepcard_8"/>
          <p:cNvSpPr/>
          <p:nvPr/>
        </p:nvSpPr>
        <p:spPr>
          <a:xfrm>
            <a:off x="9075191" y="3788663"/>
            <a:ext cx="2705023" cy="2154936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26" name="background_stepchip_8"/>
          <p:cNvSpPr/>
          <p:nvPr/>
        </p:nvSpPr>
        <p:spPr>
          <a:xfrm>
            <a:off x="9184919" y="3898391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h</a:t>
            </a:r>
          </a:p>
        </p:txBody>
      </p:sp>
      <p:sp>
        <p:nvSpPr>
          <p:cNvPr id="27" name="body_step_8"/>
          <p:cNvSpPr txBox="1"/>
          <p:nvPr/>
        </p:nvSpPr>
        <p:spPr>
          <a:xfrm>
            <a:off x="9696983" y="3916679"/>
            <a:ext cx="1973503" cy="1972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Hold a workshop on conducting performance dialogues</a:t>
            </a:r>
          </a:p>
        </p:txBody>
      </p:sp>
      <p:sp>
        <p:nvSpPr>
          <p:cNvPr id="28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McKinsey analysis.</a:t>
            </a:r>
          </a:p>
        </p:txBody>
      </p:sp>
      <p:sp>
        <p:nvSpPr>
          <p:cNvPr id="29" name="meta_pagenum_14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Seven KPIs give a clear overview of GDF's performance against its three main objectives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kpitree"/>
          <p:cNvSpPr txBox="1"/>
          <p:nvPr/>
        </p:nvSpPr>
        <p:spPr>
          <a:xfrm>
            <a:off x="411480" y="14051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Objective → KPI mapping for GDF</a:t>
            </a:r>
          </a:p>
        </p:txBody>
      </p:sp>
      <p:graphicFrame>
        <p:nvGraphicFramePr>
          <p:cNvPr id="5" name="table_kpitree"/>
          <p:cNvGraphicFramePr>
            <a:graphicFrameLocks noGrp="1"/>
          </p:cNvGraphicFramePr>
          <p:nvPr/>
        </p:nvGraphicFramePr>
        <p:xfrm>
          <a:off x="411480" y="1642872"/>
          <a:ext cx="11365992" cy="4300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6126480"/>
                <a:gridCol w="4736592"/>
              </a:tblGrid>
              <a:tr h="53759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375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Provide uninterrupted supply of 1st- and 2nd-line TB drugs and diagnostics (low-cost, high-quality, timely, demand-driven, to eligible countries)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Number of patient treatments delivered</a:t>
                      </a:r>
                    </a:p>
                  </a:txBody>
                  <a:tcPr/>
                </a:tc>
              </a:tr>
              <a:tr h="5375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Average cost per patient treatment</a:t>
                      </a:r>
                    </a:p>
                  </a:txBody>
                  <a:tcPr/>
                </a:tc>
              </a:tr>
              <a:tr h="5375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Sustainably strengthen eligible countries' national drug management, procurement capacity, and financial self-sufficiency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Number of countries that move to direct procurement</a:t>
                      </a:r>
                    </a:p>
                  </a:txBody>
                  <a:tcPr/>
                </a:tc>
              </a:tr>
              <a:tr h="5375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Ensure appropriate and efficient staffing and funding to drive the 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Organizational health and culture index</a:t>
                      </a:r>
                    </a:p>
                  </a:txBody>
                  <a:tcPr/>
                </a:tc>
              </a:tr>
              <a:tr h="5375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Staff capacity and capability index</a:t>
                      </a:r>
                    </a:p>
                  </a:txBody>
                  <a:tcPr/>
                </a:tc>
              </a:tr>
              <a:tr h="5375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3c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Funds raised vs. required for GDF administrative costs</a:t>
                      </a:r>
                    </a:p>
                  </a:txBody>
                  <a:tcPr/>
                </a:tc>
              </a:tr>
              <a:tr h="5375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Funds raised vs. required for GDF activities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McKinsey analysis; Annual GDF report 2008.</a:t>
            </a:r>
          </a:p>
        </p:txBody>
      </p:sp>
      <p:sp>
        <p:nvSpPr>
          <p:cNvPr id="7" name="meta_pagenum_15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eyebrow"/>
          <p:cNvSpPr txBox="1"/>
          <p:nvPr/>
        </p:nvSpPr>
        <p:spPr>
          <a:xfrm>
            <a:off x="411480" y="310896"/>
            <a:ext cx="1136873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4D7B"/>
                </a:solidFill>
                <a:latin typeface="Arial"/>
              </a:rPr>
              <a:t>ILLUSTRATIVE — DUMMY NUMBERS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12064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The COO's annual dashboard tracks cost and volume against target across treatment lines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341120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_dashboard"/>
          <p:cNvSpPr txBox="1"/>
          <p:nvPr/>
        </p:nvSpPr>
        <p:spPr>
          <a:xfrm>
            <a:off x="411480" y="1505712"/>
            <a:ext cx="428213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Average cost per patient treatment or diagnostic unit (USD), Actual vs. Target</a:t>
            </a:r>
          </a:p>
        </p:txBody>
      </p:sp>
      <p:graphicFrame>
        <p:nvGraphicFramePr>
          <p:cNvPr id="6" name="chart_dashboard"/>
          <p:cNvGraphicFramePr>
            <a:graphicFrameLocks noGrp="1"/>
          </p:cNvGraphicFramePr>
          <p:nvPr/>
        </p:nvGraphicFramePr>
        <p:xfrm>
          <a:off x="411480" y="1743456"/>
          <a:ext cx="6858000" cy="420014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aption_table_side"/>
          <p:cNvSpPr txBox="1"/>
          <p:nvPr/>
        </p:nvSpPr>
        <p:spPr>
          <a:xfrm>
            <a:off x="7498079" y="1505712"/>
            <a:ext cx="428213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Funds raised vs. required ($M)</a:t>
            </a:r>
          </a:p>
        </p:txBody>
      </p:sp>
      <p:graphicFrame>
        <p:nvGraphicFramePr>
          <p:cNvPr id="8" name="table_side"/>
          <p:cNvGraphicFramePr>
            <a:graphicFrameLocks noGrp="1"/>
          </p:cNvGraphicFramePr>
          <p:nvPr/>
        </p:nvGraphicFramePr>
        <p:xfrm>
          <a:off x="7498079" y="1743456"/>
          <a:ext cx="4023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51560"/>
                <a:gridCol w="105156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Stream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Raised (X)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Required (Y)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GDF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11.0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GDF 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1.7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body_dashboard_note"/>
          <p:cNvSpPr txBox="1"/>
          <p:nvPr/>
        </p:nvSpPr>
        <p:spPr>
          <a:xfrm>
            <a:off x="7498079" y="3297936"/>
            <a:ext cx="40233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Actual costs run close to or above target across all four treatment lines — the dashboard makes the gap visible at a glance.</a:t>
            </a:r>
          </a:p>
        </p:txBody>
      </p:sp>
      <p:sp>
        <p:nvSpPr>
          <p:cNvPr id="10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McKinsey analysis. Dummy numbers for illustration.</a:t>
            </a:r>
          </a:p>
        </p:txBody>
      </p:sp>
      <p:sp>
        <p:nvSpPr>
          <p:cNvPr id="11" name="meta_pagenum_16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Next steps to implement and capture benefits at GDF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nextsteps"/>
          <p:cNvSpPr txBox="1"/>
          <p:nvPr/>
        </p:nvSpPr>
        <p:spPr>
          <a:xfrm>
            <a:off x="411480" y="134416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Four actions to embed the new KPI framework at GDF</a:t>
            </a:r>
          </a:p>
        </p:txBody>
      </p:sp>
      <p:graphicFrame>
        <p:nvGraphicFramePr>
          <p:cNvPr id="5" name="table_nextsteps"/>
          <p:cNvGraphicFramePr>
            <a:graphicFrameLocks noGrp="1"/>
          </p:cNvGraphicFramePr>
          <p:nvPr/>
        </p:nvGraphicFramePr>
        <p:xfrm>
          <a:off x="411480" y="1581912"/>
          <a:ext cx="11365992" cy="4361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165592"/>
              </a:tblGrid>
              <a:tr h="87233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87233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Share KPI trees with 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Present the GDF KPI tree to donors, compare with metrics they request, and agree on any additional KPIs to report</a:t>
                      </a:r>
                    </a:p>
                  </a:txBody>
                  <a:tcPr/>
                </a:tc>
              </a:tr>
              <a:tr h="87233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Integrate KPIs into MIS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Establish simple mechanisms within GDF's existing MIS to input and analyze the data required for KPIs</a:t>
                      </a:r>
                    </a:p>
                  </a:txBody>
                  <a:tcPr/>
                </a:tc>
              </a:tr>
              <a:tr h="87233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Complete performance-dialogue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Run a two-hour workshop with GDF team leads on facilitating constructive performance dialogues</a:t>
                      </a:r>
                    </a:p>
                  </a:txBody>
                  <a:tcPr/>
                </a:tc>
              </a:tr>
              <a:tr h="87233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Embed KPIs in team performance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Assign reporting responsibilities, schedule review meetings, complete one round of reviews, and refine based on feedback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17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Three steps ensure that emerging opportunities are incorporated into advocacy partners' plans and the Framework Document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field_adv_col1"/>
          <p:cNvSpPr/>
          <p:nvPr/>
        </p:nvSpPr>
        <p:spPr>
          <a:xfrm>
            <a:off x="411480" y="1405128"/>
            <a:ext cx="3637178" cy="453847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5" name="background_hdr_adv_col1"/>
          <p:cNvSpPr/>
          <p:nvPr/>
        </p:nvSpPr>
        <p:spPr>
          <a:xfrm>
            <a:off x="411480" y="1405128"/>
            <a:ext cx="3637178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Step I · “Develop the sunflower”</a:t>
            </a:r>
          </a:p>
        </p:txBody>
      </p:sp>
      <p:sp>
        <p:nvSpPr>
          <p:cNvPr id="6" name="body_adv_col1"/>
          <p:cNvSpPr txBox="1"/>
          <p:nvPr/>
        </p:nvSpPr>
        <p:spPr>
          <a:xfrm>
            <a:off x="521208" y="1862328"/>
            <a:ext cx="3417722" cy="4081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Get more information</a:t>
            </a:r>
          </a:p>
          <a:p>
            <a:pPr lvl="1" algn="l" marL="381000" indent="-16764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Make advocacy every partner's business and increase information sharing</a:t>
            </a:r>
          </a:p>
          <a:p>
            <a:pPr lvl="1" algn="l" marL="381000" indent="-16764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Extend the reach of TB advocacy beyond the Partnership</a:t>
            </a:r>
          </a:p>
        </p:txBody>
      </p:sp>
      <p:sp>
        <p:nvSpPr>
          <p:cNvPr id="7" name="background_field_adv_col2"/>
          <p:cNvSpPr/>
          <p:nvPr/>
        </p:nvSpPr>
        <p:spPr>
          <a:xfrm>
            <a:off x="4277258" y="1405128"/>
            <a:ext cx="3637178" cy="453847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8" name="background_hdr_adv_col2"/>
          <p:cNvSpPr/>
          <p:nvPr/>
        </p:nvSpPr>
        <p:spPr>
          <a:xfrm>
            <a:off x="4277258" y="1405128"/>
            <a:ext cx="3637178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Step II · “Filter the intelligence”</a:t>
            </a:r>
          </a:p>
        </p:txBody>
      </p:sp>
      <p:sp>
        <p:nvSpPr>
          <p:cNvPr id="9" name="body_adv_col2"/>
          <p:cNvSpPr txBox="1"/>
          <p:nvPr/>
        </p:nvSpPr>
        <p:spPr>
          <a:xfrm>
            <a:off x="4386986" y="1862328"/>
            <a:ext cx="3417722" cy="4081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Filter the information received</a:t>
            </a:r>
          </a:p>
          <a:p>
            <a:pPr lvl="1" algn="l" marL="381000" indent="-16764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Set up a process that filters information for validity, impact, global relevance, and feasibility</a:t>
            </a:r>
          </a:p>
        </p:txBody>
      </p:sp>
      <p:sp>
        <p:nvSpPr>
          <p:cNvPr id="10" name="background_field_adv_col3"/>
          <p:cNvSpPr/>
          <p:nvPr/>
        </p:nvSpPr>
        <p:spPr>
          <a:xfrm>
            <a:off x="8143036" y="1405128"/>
            <a:ext cx="3637178" cy="453847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1" name="background_hdr_adv_col3"/>
          <p:cNvSpPr/>
          <p:nvPr/>
        </p:nvSpPr>
        <p:spPr>
          <a:xfrm>
            <a:off x="8143036" y="1405128"/>
            <a:ext cx="3637178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Step III · “Keep the framework relevant”</a:t>
            </a:r>
          </a:p>
        </p:txBody>
      </p:sp>
      <p:sp>
        <p:nvSpPr>
          <p:cNvPr id="12" name="body_adv_col3"/>
          <p:cNvSpPr txBox="1"/>
          <p:nvPr/>
        </p:nvSpPr>
        <p:spPr>
          <a:xfrm>
            <a:off x="8252764" y="1862328"/>
            <a:ext cx="3417722" cy="4081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Create or adjust objectives and plans</a:t>
            </a:r>
          </a:p>
          <a:p>
            <a:pPr lvl="1" algn="l" marL="381000" indent="-16764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For tactical opportunities requiring immediate action, create new or adjusted objectives and define what success looks like</a:t>
            </a:r>
          </a:p>
          <a:p>
            <a:pPr lvl="1" algn="l" marL="381000" indent="-16764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For all other opportunities, draft adjustments into the Framework Document and seek advice from the AAC</a:t>
            </a:r>
          </a:p>
        </p:txBody>
      </p:sp>
      <p:sp>
        <p:nvSpPr>
          <p:cNvPr id="13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Workshops.</a:t>
            </a:r>
          </a:p>
        </p:txBody>
      </p:sp>
      <p:sp>
        <p:nvSpPr>
          <p:cNvPr id="14" name="meta_pagenum_18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eyebrow"/>
          <p:cNvSpPr txBox="1"/>
          <p:nvPr/>
        </p:nvSpPr>
        <p:spPr>
          <a:xfrm>
            <a:off x="411480" y="310896"/>
            <a:ext cx="1136873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4D7B"/>
                </a:solidFill>
                <a:latin typeface="Arial"/>
              </a:rPr>
              <a:t>PRELIMINARY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12064"/>
            <a:ext cx="113687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Information from an active, extended network is filtered across four criteria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280160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ackground_field_filt_1"/>
          <p:cNvSpPr/>
          <p:nvPr/>
        </p:nvSpPr>
        <p:spPr>
          <a:xfrm>
            <a:off x="411480" y="1444752"/>
            <a:ext cx="2705023" cy="399592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6" name="background_hdr_filt_1"/>
          <p:cNvSpPr/>
          <p:nvPr/>
        </p:nvSpPr>
        <p:spPr>
          <a:xfrm>
            <a:off x="411480" y="1444752"/>
            <a:ext cx="2705023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Validity</a:t>
            </a:r>
          </a:p>
        </p:txBody>
      </p:sp>
      <p:sp>
        <p:nvSpPr>
          <p:cNvPr id="7" name="body_filt_1"/>
          <p:cNvSpPr txBox="1"/>
          <p:nvPr/>
        </p:nvSpPr>
        <p:spPr>
          <a:xfrm>
            <a:off x="539496" y="1901952"/>
            <a:ext cx="2467279" cy="3465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The received information is checked for validity with a second source: “Is the information accurate and true?”</a:t>
            </a:r>
          </a:p>
        </p:txBody>
      </p:sp>
      <p:sp>
        <p:nvSpPr>
          <p:cNvPr id="8" name="chartpart_filt_arrow0"/>
          <p:cNvSpPr/>
          <p:nvPr/>
        </p:nvSpPr>
        <p:spPr>
          <a:xfrm rot="5400000">
            <a:off x="3116503" y="3332988"/>
            <a:ext cx="182880" cy="219456"/>
          </a:xfrm>
          <a:prstGeom prst="rtTriangle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9" name="background_field_filt_2"/>
          <p:cNvSpPr/>
          <p:nvPr/>
        </p:nvSpPr>
        <p:spPr>
          <a:xfrm>
            <a:off x="3299383" y="1444752"/>
            <a:ext cx="2705023" cy="399592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0" name="background_hdr_filt_2"/>
          <p:cNvSpPr/>
          <p:nvPr/>
        </p:nvSpPr>
        <p:spPr>
          <a:xfrm>
            <a:off x="3299383" y="1444752"/>
            <a:ext cx="2705023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Global</a:t>
            </a:r>
          </a:p>
        </p:txBody>
      </p:sp>
      <p:sp>
        <p:nvSpPr>
          <p:cNvPr id="11" name="body_filt_2"/>
          <p:cNvSpPr txBox="1"/>
          <p:nvPr/>
        </p:nvSpPr>
        <p:spPr>
          <a:xfrm>
            <a:off x="3427399" y="1901952"/>
            <a:ext cx="2467279" cy="3465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The information is filtered for global relevance: “Does it have implications beyond local/national boundaries?”</a:t>
            </a:r>
          </a:p>
        </p:txBody>
      </p:sp>
      <p:sp>
        <p:nvSpPr>
          <p:cNvPr id="12" name="chartpart_filt_arrow1"/>
          <p:cNvSpPr/>
          <p:nvPr/>
        </p:nvSpPr>
        <p:spPr>
          <a:xfrm rot="5400000">
            <a:off x="6004407" y="3332988"/>
            <a:ext cx="182880" cy="219456"/>
          </a:xfrm>
          <a:prstGeom prst="rtTriangle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3" name="background_field_filt_3"/>
          <p:cNvSpPr/>
          <p:nvPr/>
        </p:nvSpPr>
        <p:spPr>
          <a:xfrm>
            <a:off x="6187287" y="1444752"/>
            <a:ext cx="2705023" cy="399592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4" name="background_hdr_filt_3"/>
          <p:cNvSpPr/>
          <p:nvPr/>
        </p:nvSpPr>
        <p:spPr>
          <a:xfrm>
            <a:off x="6187287" y="1444752"/>
            <a:ext cx="2705023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15" name="body_filt_3"/>
          <p:cNvSpPr txBox="1"/>
          <p:nvPr/>
        </p:nvSpPr>
        <p:spPr>
          <a:xfrm>
            <a:off x="6315303" y="1901952"/>
            <a:ext cx="2467279" cy="3465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Once validated, the information is filtered for work-plan impact: can it affect policy, donors, or public opinion?</a:t>
            </a:r>
          </a:p>
        </p:txBody>
      </p:sp>
      <p:sp>
        <p:nvSpPr>
          <p:cNvPr id="16" name="chartpart_filt_arrow2"/>
          <p:cNvSpPr/>
          <p:nvPr/>
        </p:nvSpPr>
        <p:spPr>
          <a:xfrm rot="5400000">
            <a:off x="8892311" y="3332988"/>
            <a:ext cx="182880" cy="219456"/>
          </a:xfrm>
          <a:prstGeom prst="rtTriangle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7" name="background_field_filt_4"/>
          <p:cNvSpPr/>
          <p:nvPr/>
        </p:nvSpPr>
        <p:spPr>
          <a:xfrm>
            <a:off x="9075191" y="1444752"/>
            <a:ext cx="2705023" cy="399592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8" name="background_hdr_filt_4"/>
          <p:cNvSpPr/>
          <p:nvPr/>
        </p:nvSpPr>
        <p:spPr>
          <a:xfrm>
            <a:off x="9075191" y="1444752"/>
            <a:ext cx="2705023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Feasibility</a:t>
            </a:r>
          </a:p>
        </p:txBody>
      </p:sp>
      <p:sp>
        <p:nvSpPr>
          <p:cNvPr id="19" name="body_filt_4"/>
          <p:cNvSpPr txBox="1"/>
          <p:nvPr/>
        </p:nvSpPr>
        <p:spPr>
          <a:xfrm>
            <a:off x="9203207" y="1901952"/>
            <a:ext cx="2467279" cy="3465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Determine whether the information can feasibly and realistically be translated into sufficiently impactful activities.</a:t>
            </a:r>
          </a:p>
        </p:txBody>
      </p:sp>
      <p:sp>
        <p:nvSpPr>
          <p:cNvPr id="20" name="meta_filt_in"/>
          <p:cNvSpPr txBox="1"/>
          <p:nvPr/>
        </p:nvSpPr>
        <p:spPr>
          <a:xfrm>
            <a:off x="411480" y="55504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A6370"/>
                </a:solidFill>
                <a:latin typeface="Arial"/>
              </a:rPr>
              <a:t>Unfiltered information in →</a:t>
            </a:r>
          </a:p>
        </p:txBody>
      </p:sp>
      <p:sp>
        <p:nvSpPr>
          <p:cNvPr id="21" name="meta_filt_out"/>
          <p:cNvSpPr txBox="1"/>
          <p:nvPr/>
        </p:nvSpPr>
        <p:spPr>
          <a:xfrm>
            <a:off x="9037015" y="55504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A6370"/>
                </a:solidFill>
                <a:latin typeface="Arial"/>
              </a:rPr>
              <a:t>→ Filtered intelligence out</a:t>
            </a:r>
          </a:p>
        </p:txBody>
      </p:sp>
      <p:sp>
        <p:nvSpPr>
          <p:cNvPr id="22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Workshops. Apply the filter at the start of advocacy meetings.</a:t>
            </a:r>
          </a:p>
        </p:txBody>
      </p:sp>
      <p:sp>
        <p:nvSpPr>
          <p:cNvPr id="23" name="meta_pagenum_19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High-level objectives relate to three areas — raising awareness, engaging TB networks, and supporting the Secretariat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mission_banner"/>
          <p:cNvSpPr/>
          <p:nvPr/>
        </p:nvSpPr>
        <p:spPr>
          <a:xfrm>
            <a:off x="411480" y="1405128"/>
            <a:ext cx="11368735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5" name="body_mission"/>
          <p:cNvSpPr txBox="1"/>
          <p:nvPr/>
        </p:nvSpPr>
        <p:spPr>
          <a:xfrm>
            <a:off x="640080" y="1405128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Mission: Inspire the world into action against tuberculosis (TB)</a:t>
            </a:r>
          </a:p>
        </p:txBody>
      </p:sp>
      <p:sp>
        <p:nvSpPr>
          <p:cNvPr id="6" name="background_field_cmb_col1"/>
          <p:cNvSpPr/>
          <p:nvPr/>
        </p:nvSpPr>
        <p:spPr>
          <a:xfrm>
            <a:off x="411480" y="2200656"/>
            <a:ext cx="3637178" cy="374294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7" name="background_hdr_cmb_col1"/>
          <p:cNvSpPr/>
          <p:nvPr/>
        </p:nvSpPr>
        <p:spPr>
          <a:xfrm>
            <a:off x="411480" y="2200656"/>
            <a:ext cx="3637178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1 · Raise awareness about TB among</a:t>
            </a:r>
          </a:p>
        </p:txBody>
      </p:sp>
      <p:sp>
        <p:nvSpPr>
          <p:cNvPr id="8" name="body_cmb_col1"/>
          <p:cNvSpPr txBox="1"/>
          <p:nvPr/>
        </p:nvSpPr>
        <p:spPr>
          <a:xfrm>
            <a:off x="521208" y="2657856"/>
            <a:ext cx="3417722" cy="3285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lvl="1" algn="l" marL="381000" indent="-167640"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A — The “fourth estate” (news media)</a:t>
            </a:r>
          </a:p>
          <a:p>
            <a:pPr lvl="1" algn="l" marL="381000" indent="-167640"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B — Members of the public in donor countries and selected high-burden countries / BRIC+2</a:t>
            </a:r>
          </a:p>
          <a:p>
            <a:pPr lvl="1" algn="l" marL="381000" indent="-167640"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C — Selected institutions</a:t>
            </a:r>
          </a:p>
        </p:txBody>
      </p:sp>
      <p:sp>
        <p:nvSpPr>
          <p:cNvPr id="9" name="background_field_cmb_col2"/>
          <p:cNvSpPr/>
          <p:nvPr/>
        </p:nvSpPr>
        <p:spPr>
          <a:xfrm>
            <a:off x="4277258" y="2200656"/>
            <a:ext cx="3637178" cy="374294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0" name="background_hdr_cmb_col2"/>
          <p:cNvSpPr/>
          <p:nvPr/>
        </p:nvSpPr>
        <p:spPr>
          <a:xfrm>
            <a:off x="4277258" y="2200656"/>
            <a:ext cx="3637178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2 · Engage TB networks</a:t>
            </a:r>
          </a:p>
        </p:txBody>
      </p:sp>
      <p:sp>
        <p:nvSpPr>
          <p:cNvPr id="11" name="body_cmb_col2"/>
          <p:cNvSpPr txBox="1"/>
          <p:nvPr/>
        </p:nvSpPr>
        <p:spPr>
          <a:xfrm>
            <a:off x="4386986" y="2657856"/>
            <a:ext cx="3417722" cy="3285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Engage, support, and foster a shared sense of purpose among partners and other members of TB networks.</a:t>
            </a:r>
          </a:p>
        </p:txBody>
      </p:sp>
      <p:sp>
        <p:nvSpPr>
          <p:cNvPr id="12" name="background_field_cmb_col3"/>
          <p:cNvSpPr/>
          <p:nvPr/>
        </p:nvSpPr>
        <p:spPr>
          <a:xfrm>
            <a:off x="8143036" y="2200656"/>
            <a:ext cx="3637178" cy="374294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3" name="background_hdr_cmb_col3"/>
          <p:cNvSpPr/>
          <p:nvPr/>
        </p:nvSpPr>
        <p:spPr>
          <a:xfrm>
            <a:off x="8143036" y="2200656"/>
            <a:ext cx="3637178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3 · Support the Secretariat</a:t>
            </a:r>
          </a:p>
        </p:txBody>
      </p:sp>
      <p:sp>
        <p:nvSpPr>
          <p:cNvPr id="14" name="body_cmb_col3"/>
          <p:cNvSpPr txBox="1"/>
          <p:nvPr/>
        </p:nvSpPr>
        <p:spPr>
          <a:xfrm>
            <a:off x="8252764" y="2657856"/>
            <a:ext cx="3417722" cy="3285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Provide coordinated support for the core work of the Secretariat.</a:t>
            </a:r>
          </a:p>
        </p:txBody>
      </p:sp>
      <p:sp>
        <p:nvSpPr>
          <p:cNvPr id="15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Team discussion. BRIC+2 = Brazil, Russia, India, China, Indonesia, South Africa.</a:t>
            </a:r>
          </a:p>
        </p:txBody>
      </p:sp>
      <p:sp>
        <p:nvSpPr>
          <p:cNvPr id="16" name="meta_pagenum_20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For each high-level objective, audience groups, objectives, metrics, and targets have been defined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targets"/>
          <p:cNvSpPr txBox="1"/>
          <p:nvPr/>
        </p:nvSpPr>
        <p:spPr>
          <a:xfrm>
            <a:off x="411480" y="14051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Audience group → objective → metric → target</a:t>
            </a:r>
          </a:p>
        </p:txBody>
      </p:sp>
      <p:graphicFrame>
        <p:nvGraphicFramePr>
          <p:cNvPr id="5" name="table_targets"/>
          <p:cNvGraphicFramePr>
            <a:graphicFrameLocks noGrp="1"/>
          </p:cNvGraphicFramePr>
          <p:nvPr/>
        </p:nvGraphicFramePr>
        <p:xfrm>
          <a:off x="411480" y="1642872"/>
          <a:ext cx="11365992" cy="4300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657600"/>
                <a:gridCol w="2743200"/>
                <a:gridCol w="2496312"/>
              </a:tblGrid>
              <a:tr h="86014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Audience group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8601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Students &amp; adults, donor 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Raise awareness of the prevalence and threat of TB via traditional and innovative channels to grow donations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Total people reached through marketing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Online viral campaign: 30 million</a:t>
                      </a:r>
                    </a:p>
                  </a:txBody>
                  <a:tcPr/>
                </a:tc>
              </a:tr>
              <a:tr h="8601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Students &amp; adults, high-burden 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Develop and roll out a viral marketing / social-media 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People reached via social channels (YouTube, Facebook)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Social channels: 5 million</a:t>
                      </a:r>
                    </a:p>
                  </a:txBody>
                  <a:tcPr/>
                </a:tc>
              </a:tr>
              <a:tr h="8601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General 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(awareness)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% of population 18–65 acknowledging TB as a top-5 global health 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TV PSAs: 5M; Internet PSAs: 10M</a:t>
                      </a:r>
                    </a:p>
                  </a:txBody>
                  <a:tcPr/>
                </a:tc>
              </a:tr>
              <a:tr h="8601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News media (fourth estate)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Meet with editors to encourage TB coverage; pitch high-impact topics (MDR/XDR-TB)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Number of editors engaged in ongoing dialogue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(target TBD)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Team discussion.</a:t>
            </a:r>
          </a:p>
        </p:txBody>
      </p:sp>
      <p:sp>
        <p:nvSpPr>
          <p:cNvPr id="7" name="meta_pagenum_21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The team clarified the CFCS mission and defined objectives to deliver it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cfcs_mission"/>
          <p:cNvSpPr/>
          <p:nvPr/>
        </p:nvSpPr>
        <p:spPr>
          <a:xfrm>
            <a:off x="411480" y="1344168"/>
            <a:ext cx="3566160" cy="4599432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5" name="body_cfcs_mission"/>
          <p:cNvSpPr txBox="1"/>
          <p:nvPr/>
        </p:nvSpPr>
        <p:spPr>
          <a:xfrm>
            <a:off x="640080" y="1572768"/>
            <a:ext cx="3108960" cy="4142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D6E0F0"/>
                </a:solidFill>
                <a:latin typeface="Arial"/>
              </a:rPr>
              <a:t>MISSION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To provide support to community-based organizations engaged in advocacy and social-mobilization activities seeking to raise awareness and empower communities to become part of the solution in the fight against TB.</a:t>
            </a:r>
          </a:p>
        </p:txBody>
      </p:sp>
      <p:sp>
        <p:nvSpPr>
          <p:cNvPr id="6" name="background_field_cfcs_o1"/>
          <p:cNvSpPr/>
          <p:nvPr/>
        </p:nvSpPr>
        <p:spPr>
          <a:xfrm>
            <a:off x="4206240" y="1344168"/>
            <a:ext cx="7573975" cy="218541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7" name="background_hdr_cfcs_o1"/>
          <p:cNvSpPr/>
          <p:nvPr/>
        </p:nvSpPr>
        <p:spPr>
          <a:xfrm>
            <a:off x="4206240" y="1344168"/>
            <a:ext cx="7573975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Objective 1 · Assist civil-society organizations</a:t>
            </a:r>
          </a:p>
        </p:txBody>
      </p:sp>
      <p:sp>
        <p:nvSpPr>
          <p:cNvPr id="8" name="body_cfcs_o1"/>
          <p:cNvSpPr txBox="1"/>
          <p:nvPr/>
        </p:nvSpPr>
        <p:spPr>
          <a:xfrm>
            <a:off x="4315968" y="1801368"/>
            <a:ext cx="7354519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Provide small grants for projects that increase awareness and active participation of local communities and build their capabilities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Provide coaching and technical assistance to grant recipients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Strengthen links between grant recipients and local authorities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Bring organizations together to exchange best practices</a:t>
            </a:r>
          </a:p>
        </p:txBody>
      </p:sp>
      <p:sp>
        <p:nvSpPr>
          <p:cNvPr id="9" name="background_field_cfcs_o2"/>
          <p:cNvSpPr/>
          <p:nvPr/>
        </p:nvSpPr>
        <p:spPr>
          <a:xfrm>
            <a:off x="4206240" y="3758184"/>
            <a:ext cx="7573975" cy="218541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0" name="background_hdr_cfcs_o2"/>
          <p:cNvSpPr/>
          <p:nvPr/>
        </p:nvSpPr>
        <p:spPr>
          <a:xfrm>
            <a:off x="4206240" y="3758184"/>
            <a:ext cx="7573975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Objective 2 · Efficiently manage CFCS resources</a:t>
            </a:r>
          </a:p>
        </p:txBody>
      </p:sp>
      <p:sp>
        <p:nvSpPr>
          <p:cNvPr id="11" name="body_cfcs_o2"/>
          <p:cNvSpPr txBox="1"/>
          <p:nvPr/>
        </p:nvSpPr>
        <p:spPr>
          <a:xfrm>
            <a:off x="4315968" y="4215384"/>
            <a:ext cx="7354519" cy="1728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Identify and stimulate high-quality, competitive applications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Develop selection criteria that ensure involvement of local health services and strengthen local autonomy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Hold grantees accountable to project milestones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Use simple evaluation processes that assess impact and integrate lessons learned</a:t>
            </a:r>
          </a:p>
        </p:txBody>
      </p:sp>
      <p:sp>
        <p:nvSpPr>
          <p:cNvPr id="12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3" name="meta_pagenum_22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A team barometer survey assesses working-group engagement across four dimensions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field_mdr_1"/>
          <p:cNvSpPr/>
          <p:nvPr/>
        </p:nvSpPr>
        <p:spPr>
          <a:xfrm>
            <a:off x="411480" y="1405128"/>
            <a:ext cx="5570067" cy="215493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5" name="background_hdr_mdr_1"/>
          <p:cNvSpPr/>
          <p:nvPr/>
        </p:nvSpPr>
        <p:spPr>
          <a:xfrm>
            <a:off x="411480" y="1405128"/>
            <a:ext cx="5570067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Objectives &amp; direction</a:t>
            </a:r>
          </a:p>
        </p:txBody>
      </p:sp>
      <p:sp>
        <p:nvSpPr>
          <p:cNvPr id="6" name="body_mdr_1"/>
          <p:cNvSpPr txBox="1"/>
          <p:nvPr/>
        </p:nvSpPr>
        <p:spPr>
          <a:xfrm>
            <a:off x="557784" y="1862328"/>
            <a:ext cx="5295747" cy="1624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The objectives of the WG are clear and members are fully aligned on them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The WG's leaders provide clear strategic direction</a:t>
            </a:r>
          </a:p>
        </p:txBody>
      </p:sp>
      <p:sp>
        <p:nvSpPr>
          <p:cNvPr id="7" name="meta_mdr_scale_1"/>
          <p:cNvSpPr txBox="1"/>
          <p:nvPr/>
        </p:nvSpPr>
        <p:spPr>
          <a:xfrm>
            <a:off x="557784" y="3249168"/>
            <a:ext cx="529574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A6370"/>
                </a:solidFill>
                <a:latin typeface="Arial"/>
              </a:rPr>
              <a:t>Rated 1 (strongly disagree) – 5 (strongly agree)</a:t>
            </a:r>
          </a:p>
        </p:txBody>
      </p:sp>
      <p:sp>
        <p:nvSpPr>
          <p:cNvPr id="8" name="background_field_mdr_2"/>
          <p:cNvSpPr/>
          <p:nvPr/>
        </p:nvSpPr>
        <p:spPr>
          <a:xfrm>
            <a:off x="6210147" y="1405128"/>
            <a:ext cx="5570067" cy="215493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9" name="background_hdr_mdr_2"/>
          <p:cNvSpPr/>
          <p:nvPr/>
        </p:nvSpPr>
        <p:spPr>
          <a:xfrm>
            <a:off x="6210147" y="1405128"/>
            <a:ext cx="5570067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Delivery against objectives</a:t>
            </a:r>
          </a:p>
        </p:txBody>
      </p:sp>
      <p:sp>
        <p:nvSpPr>
          <p:cNvPr id="10" name="body_mdr_2"/>
          <p:cNvSpPr txBox="1"/>
          <p:nvPr/>
        </p:nvSpPr>
        <p:spPr>
          <a:xfrm>
            <a:off x="6356451" y="1862328"/>
            <a:ext cx="5295747" cy="1624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I believe the WG is making good progress toward achieving its objectives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The WG is having a meaningful impact in the fight against MDR-TB</a:t>
            </a:r>
          </a:p>
        </p:txBody>
      </p:sp>
      <p:sp>
        <p:nvSpPr>
          <p:cNvPr id="11" name="meta_mdr_scale_2"/>
          <p:cNvSpPr txBox="1"/>
          <p:nvPr/>
        </p:nvSpPr>
        <p:spPr>
          <a:xfrm>
            <a:off x="6356451" y="3249168"/>
            <a:ext cx="529574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A6370"/>
                </a:solidFill>
                <a:latin typeface="Arial"/>
              </a:rPr>
              <a:t>Rated 1 (strongly disagree) – 5 (strongly agree)</a:t>
            </a:r>
          </a:p>
        </p:txBody>
      </p:sp>
      <p:sp>
        <p:nvSpPr>
          <p:cNvPr id="12" name="background_field_mdr_3"/>
          <p:cNvSpPr/>
          <p:nvPr/>
        </p:nvSpPr>
        <p:spPr>
          <a:xfrm>
            <a:off x="411480" y="3788663"/>
            <a:ext cx="5570067" cy="215493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3" name="background_hdr_mdr_3"/>
          <p:cNvSpPr/>
          <p:nvPr/>
        </p:nvSpPr>
        <p:spPr>
          <a:xfrm>
            <a:off x="411480" y="3788663"/>
            <a:ext cx="5570067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Individual contributions</a:t>
            </a:r>
          </a:p>
        </p:txBody>
      </p:sp>
      <p:sp>
        <p:nvSpPr>
          <p:cNvPr id="14" name="body_mdr_3"/>
          <p:cNvSpPr txBox="1"/>
          <p:nvPr/>
        </p:nvSpPr>
        <p:spPr>
          <a:xfrm>
            <a:off x="557784" y="4245863"/>
            <a:ext cx="5295747" cy="1624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My subgroup meaningfully contributes to the overall objectives of the WG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After meetings, accountabilities and deadlines for specific actions are clear</a:t>
            </a:r>
          </a:p>
        </p:txBody>
      </p:sp>
      <p:sp>
        <p:nvSpPr>
          <p:cNvPr id="15" name="meta_mdr_scale_3"/>
          <p:cNvSpPr txBox="1"/>
          <p:nvPr/>
        </p:nvSpPr>
        <p:spPr>
          <a:xfrm>
            <a:off x="557784" y="5632703"/>
            <a:ext cx="529574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A6370"/>
                </a:solidFill>
                <a:latin typeface="Arial"/>
              </a:rPr>
              <a:t>Rated 1 (strongly disagree) – 5 (strongly agree)</a:t>
            </a:r>
          </a:p>
        </p:txBody>
      </p:sp>
      <p:sp>
        <p:nvSpPr>
          <p:cNvPr id="16" name="background_field_mdr_4"/>
          <p:cNvSpPr/>
          <p:nvPr/>
        </p:nvSpPr>
        <p:spPr>
          <a:xfrm>
            <a:off x="6210147" y="3788663"/>
            <a:ext cx="5570067" cy="215493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17" name="background_hdr_mdr_4"/>
          <p:cNvSpPr/>
          <p:nvPr/>
        </p:nvSpPr>
        <p:spPr>
          <a:xfrm>
            <a:off x="6210147" y="3788663"/>
            <a:ext cx="5570067" cy="36576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381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Mindsets &amp; behaviors</a:t>
            </a:r>
          </a:p>
        </p:txBody>
      </p:sp>
      <p:sp>
        <p:nvSpPr>
          <p:cNvPr id="18" name="body_mdr_4"/>
          <p:cNvSpPr txBox="1"/>
          <p:nvPr/>
        </p:nvSpPr>
        <p:spPr>
          <a:xfrm>
            <a:off x="6356451" y="4245863"/>
            <a:ext cx="5295747" cy="1624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The culture within the WG is collaborative and constructive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1A2332"/>
                </a:solidFill>
                <a:latin typeface="Arial"/>
              </a:rPr>
              <a:t>Members are encouraged to voice their opinions, even if controversial</a:t>
            </a:r>
          </a:p>
        </p:txBody>
      </p:sp>
      <p:sp>
        <p:nvSpPr>
          <p:cNvPr id="19" name="meta_mdr_scale_4"/>
          <p:cNvSpPr txBox="1"/>
          <p:nvPr/>
        </p:nvSpPr>
        <p:spPr>
          <a:xfrm>
            <a:off x="6356451" y="5632703"/>
            <a:ext cx="529574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A6370"/>
                </a:solidFill>
                <a:latin typeface="Arial"/>
              </a:rPr>
              <a:t>Rated 1 (strongly disagree) – 5 (strongly agree)</a:t>
            </a:r>
          </a:p>
        </p:txBody>
      </p:sp>
      <p:sp>
        <p:nvSpPr>
          <p:cNvPr id="20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Source: Team survey. Scale: 1 = strongly disagree to 5 = strongly agree.</a:t>
            </a:r>
          </a:p>
        </p:txBody>
      </p:sp>
      <p:sp>
        <p:nvSpPr>
          <p:cNvPr id="21" name="meta_pagenum_23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37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The next ~10 weeks will focus on implementing the solutions developed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ns_phase1"/>
          <p:cNvSpPr/>
          <p:nvPr/>
        </p:nvSpPr>
        <p:spPr>
          <a:xfrm>
            <a:off x="411480" y="1344168"/>
            <a:ext cx="3667658" cy="457200"/>
          </a:xfrm>
          <a:prstGeom prst="roundRect">
            <a:avLst/>
          </a:prstGeom>
          <a:solidFill>
            <a:srgbClr val="15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Diagnose</a:t>
            </a:r>
          </a:p>
        </p:txBody>
      </p:sp>
      <p:sp>
        <p:nvSpPr>
          <p:cNvPr id="5" name="background_ns_phase2"/>
          <p:cNvSpPr/>
          <p:nvPr/>
        </p:nvSpPr>
        <p:spPr>
          <a:xfrm>
            <a:off x="4262018" y="1344168"/>
            <a:ext cx="3667658" cy="457200"/>
          </a:xfrm>
          <a:prstGeom prst="roundRect">
            <a:avLst/>
          </a:prstGeom>
          <a:solidFill>
            <a:srgbClr val="15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6" name="background_ns_phase3"/>
          <p:cNvSpPr/>
          <p:nvPr/>
        </p:nvSpPr>
        <p:spPr>
          <a:xfrm>
            <a:off x="8112556" y="1344168"/>
            <a:ext cx="3667658" cy="457200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Deliver</a:t>
            </a:r>
          </a:p>
        </p:txBody>
      </p:sp>
      <p:sp>
        <p:nvSpPr>
          <p:cNvPr id="7" name="meta_ns_today"/>
          <p:cNvSpPr txBox="1"/>
          <p:nvPr/>
        </p:nvSpPr>
        <p:spPr>
          <a:xfrm>
            <a:off x="7655356" y="103327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6E0F0"/>
                </a:solidFill>
                <a:latin typeface="Arial"/>
              </a:rPr>
              <a:t>Today</a:t>
            </a:r>
          </a:p>
        </p:txBody>
      </p:sp>
      <p:sp>
        <p:nvSpPr>
          <p:cNvPr id="8" name="background_ns_list"/>
          <p:cNvSpPr/>
          <p:nvPr/>
        </p:nvSpPr>
        <p:spPr>
          <a:xfrm>
            <a:off x="411480" y="2029967"/>
            <a:ext cx="11368735" cy="3913632"/>
          </a:xfrm>
          <a:prstGeom prst="roundRect">
            <a:avLst/>
          </a:prstGeom>
          <a:solidFill>
            <a:srgbClr val="15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</a:p>
        </p:txBody>
      </p:sp>
      <p:sp>
        <p:nvSpPr>
          <p:cNvPr id="9" name="body_ns_actions"/>
          <p:cNvSpPr txBox="1"/>
          <p:nvPr/>
        </p:nvSpPr>
        <p:spPr>
          <a:xfrm>
            <a:off x="640080" y="2194560"/>
            <a:ext cx="10911535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Aft>
                <a:spcPts val="900"/>
              </a:spcAft>
              <a:buFont typeface="Arial"/>
              <a:buChar char="▪"/>
            </a:pPr>
            <a:r>
              <a:rPr sz="1300" b="0" i="0">
                <a:solidFill>
                  <a:srgbClr val="D6E0F0"/>
                </a:solidFill>
                <a:latin typeface="Arial"/>
              </a:rPr>
              <a:t>Implementation within project teams begins</a:t>
            </a:r>
          </a:p>
          <a:p>
            <a:pPr algn="l" marL="181610" indent="-181610">
              <a:spcAft>
                <a:spcPts val="900"/>
              </a:spcAft>
              <a:buFont typeface="Arial"/>
              <a:buChar char="▪"/>
            </a:pPr>
            <a:r>
              <a:rPr sz="1300" b="0" i="0">
                <a:solidFill>
                  <a:srgbClr val="D6E0F0"/>
                </a:solidFill>
                <a:latin typeface="Arial"/>
              </a:rPr>
              <a:t>Problem-solving sessions on findings, lessons learned, and implications are conducted</a:t>
            </a:r>
          </a:p>
          <a:p>
            <a:pPr algn="l" marL="181610" indent="-181610">
              <a:spcAft>
                <a:spcPts val="900"/>
              </a:spcAft>
              <a:buFont typeface="Arial"/>
              <a:buChar char="▪"/>
            </a:pPr>
            <a:r>
              <a:rPr sz="1300" b="0" i="0">
                <a:solidFill>
                  <a:srgbClr val="D6E0F0"/>
                </a:solidFill>
                <a:latin typeface="Arial"/>
              </a:rPr>
              <a:t>Workshops to share achievements with other Partnership bodies are conducted</a:t>
            </a:r>
          </a:p>
          <a:p>
            <a:pPr algn="l" marL="181610" indent="-181610">
              <a:spcAft>
                <a:spcPts val="900"/>
              </a:spcAft>
              <a:buFont typeface="Arial"/>
              <a:buChar char="▪"/>
            </a:pPr>
            <a:r>
              <a:rPr sz="1300" b="0" i="0">
                <a:solidFill>
                  <a:srgbClr val="D6E0F0"/>
                </a:solidFill>
                <a:latin typeface="Arial"/>
              </a:rPr>
              <a:t>The report is produced and findings are published</a:t>
            </a:r>
          </a:p>
          <a:p>
            <a:pPr algn="l" marL="181610" indent="-181610">
              <a:spcAft>
                <a:spcPts val="900"/>
              </a:spcAft>
              <a:buFont typeface="Arial"/>
              <a:buChar char="▪"/>
            </a:pPr>
            <a:r>
              <a:rPr sz="1300" b="0" i="0">
                <a:solidFill>
                  <a:srgbClr val="D6E0F0"/>
                </a:solidFill>
                <a:latin typeface="Arial"/>
              </a:rPr>
              <a:t>Progress is presented to the Coordinating Board in March 2010</a:t>
            </a:r>
          </a:p>
        </p:txBody>
      </p:sp>
      <p:sp>
        <p:nvSpPr>
          <p:cNvPr id="10" name="meta_source"/>
          <p:cNvSpPr txBox="1"/>
          <p:nvPr/>
        </p:nvSpPr>
        <p:spPr>
          <a:xfrm>
            <a:off x="411480" y="6309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D0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1" name="meta_pagenum_24"/>
          <p:cNvSpPr txBox="1"/>
          <p:nvPr/>
        </p:nvSpPr>
        <p:spPr>
          <a:xfrm>
            <a:off x="11475720" y="63093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D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