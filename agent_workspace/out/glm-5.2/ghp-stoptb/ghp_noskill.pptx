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2E4D7B"/>
            </a:solidFill>
          </c:spPr>
          <c:cat>
            <c:strRef>
              <c:f>Sheet1!$A$2:$A$5</c:f>
              <c:strCache>
                <c:ptCount val="4"/>
                <c:pt idx="0">
                  <c:v>1st line</c:v>
                </c:pt>
                <c:pt idx="1">
                  <c:v>Prophylaxis</c:v>
                </c:pt>
                <c:pt idx="2">
                  <c:v>2nd line</c:v>
                </c:pt>
                <c:pt idx="3">
                  <c:v>Diagnostics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4.0</c:v>
                </c:pt>
                <c:pt idx="1">
                  <c:v>4.1</c:v>
                </c:pt>
                <c:pt idx="2">
                  <c:v>2.1</c:v>
                </c:pt>
                <c:pt idx="3">
                  <c:v>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8A9BB8"/>
            </a:solidFill>
          </c:spPr>
          <c:cat>
            <c:strRef>
              <c:f>Sheet1!$A$2:$A$5</c:f>
              <c:strCache>
                <c:ptCount val="4"/>
                <c:pt idx="0">
                  <c:v>1st line</c:v>
                </c:pt>
                <c:pt idx="1">
                  <c:v>Prophylaxis</c:v>
                </c:pt>
                <c:pt idx="2">
                  <c:v>2nd line</c:v>
                </c:pt>
                <c:pt idx="3">
                  <c:v>Diagnostics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3.8</c:v>
                </c:pt>
                <c:pt idx="1">
                  <c:v>3.5</c:v>
                </c:pt>
                <c:pt idx="2">
                  <c:v>1.9</c:v>
                </c:pt>
                <c:pt idx="3">
                  <c:v>1.9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785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785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6B7785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ckground_sidebar"/>
          <p:cNvSpPr/>
          <p:nvPr/>
        </p:nvSpPr>
        <p:spPr>
          <a:xfrm>
            <a:off x="0" y="0"/>
            <a:ext cx="4059936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ackground_panel"/>
          <p:cNvSpPr/>
          <p:nvPr/>
        </p:nvSpPr>
        <p:spPr>
          <a:xfrm>
            <a:off x="4059936" y="0"/>
            <a:ext cx="813175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ody_cover_title"/>
          <p:cNvSpPr txBox="1"/>
          <p:nvPr/>
        </p:nvSpPr>
        <p:spPr>
          <a:xfrm>
            <a:off x="502920" y="822960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FFFFFF"/>
                </a:solidFill>
                <a:latin typeface="Georgia"/>
              </a:rPr>
              <a:t>Helping Global Health Partnerships to increase their impact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6E0F0"/>
                </a:solidFill>
                <a:latin typeface="Arial"/>
              </a:rPr>
              <a:t>Stop TB Partnership – McKinsey collaboration</a:t>
            </a:r>
          </a:p>
        </p:txBody>
      </p:sp>
      <p:sp>
        <p:nvSpPr>
          <p:cNvPr id="5" name="body_cover_date"/>
          <p:cNvSpPr txBox="1"/>
          <p:nvPr/>
        </p:nvSpPr>
        <p:spPr>
          <a:xfrm>
            <a:off x="4572000" y="822960"/>
            <a:ext cx="7040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F3864"/>
                </a:solidFill>
                <a:latin typeface="Arial"/>
              </a:rPr>
              <a:t>Thursday, November 5, 2009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D3A4B"/>
                </a:solidFill>
                <a:latin typeface="Arial"/>
              </a:rPr>
              <a:t>Pre-reading for Coordinating Board presentation</a:t>
            </a:r>
          </a:p>
        </p:txBody>
      </p:sp>
      <p:sp>
        <p:nvSpPr>
          <p:cNvPr id="6" name="meta_head_confidential"/>
          <p:cNvSpPr/>
          <p:nvPr/>
        </p:nvSpPr>
        <p:spPr>
          <a:xfrm>
            <a:off x="4572000" y="4937760"/>
            <a:ext cx="7040880" cy="914400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Arial"/>
              </a:rPr>
              <a:t>CONFIDENTIAL AND PROPRIETARY. Any use of this material without specific permission of McKinsey &amp; Company is strictly prohibited.</a:t>
            </a:r>
          </a:p>
        </p:txBody>
      </p:sp>
      <p:sp>
        <p:nvSpPr>
          <p:cNvPr id="7" name="meta_footer_cover"/>
          <p:cNvSpPr txBox="1"/>
          <p:nvPr/>
        </p:nvSpPr>
        <p:spPr>
          <a:xfrm>
            <a:off x="502920" y="63093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6E0F0"/>
                </a:solidFill>
                <a:latin typeface="Arial"/>
              </a:rPr>
              <a:t>McKinsey &amp;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D3A4B"/>
                </a:solidFill>
                <a:latin typeface="Georgia"/>
              </a:rPr>
              <a:t>Contents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ta_chip_1"/>
          <p:cNvSpPr/>
          <p:nvPr/>
        </p:nvSpPr>
        <p:spPr>
          <a:xfrm>
            <a:off x="411480" y="1435608"/>
            <a:ext cx="457200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meta_item_1"/>
          <p:cNvSpPr txBox="1"/>
          <p:nvPr/>
        </p:nvSpPr>
        <p:spPr>
          <a:xfrm>
            <a:off x="1051560" y="143560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D3A4B"/>
                </a:solidFill>
                <a:latin typeface="Arial"/>
              </a:rPr>
              <a:t>Project overview</a:t>
            </a:r>
          </a:p>
        </p:txBody>
      </p:sp>
      <p:sp>
        <p:nvSpPr>
          <p:cNvPr id="6" name="meta_chip_2"/>
          <p:cNvSpPr/>
          <p:nvPr/>
        </p:nvSpPr>
        <p:spPr>
          <a:xfrm>
            <a:off x="411480" y="2139696"/>
            <a:ext cx="457200" cy="502920"/>
          </a:xfrm>
          <a:prstGeom prst="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meta_item_2"/>
          <p:cNvSpPr txBox="1"/>
          <p:nvPr/>
        </p:nvSpPr>
        <p:spPr>
          <a:xfrm>
            <a:off x="1051560" y="2139696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785"/>
                </a:solidFill>
                <a:latin typeface="Arial"/>
              </a:rPr>
              <a:t>Global Drug Facility</a:t>
            </a:r>
          </a:p>
        </p:txBody>
      </p:sp>
      <p:sp>
        <p:nvSpPr>
          <p:cNvPr id="8" name="meta_chip_3"/>
          <p:cNvSpPr/>
          <p:nvPr/>
        </p:nvSpPr>
        <p:spPr>
          <a:xfrm>
            <a:off x="411480" y="2843784"/>
            <a:ext cx="457200" cy="502920"/>
          </a:xfrm>
          <a:prstGeom prst="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meta_item_3"/>
          <p:cNvSpPr txBox="1"/>
          <p:nvPr/>
        </p:nvSpPr>
        <p:spPr>
          <a:xfrm>
            <a:off x="1051560" y="2843784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785"/>
                </a:solidFill>
                <a:latin typeface="Arial"/>
              </a:rPr>
              <a:t>Advocacy</a:t>
            </a:r>
          </a:p>
        </p:txBody>
      </p:sp>
      <p:sp>
        <p:nvSpPr>
          <p:cNvPr id="10" name="meta_chip_4"/>
          <p:cNvSpPr/>
          <p:nvPr/>
        </p:nvSpPr>
        <p:spPr>
          <a:xfrm>
            <a:off x="411480" y="3547872"/>
            <a:ext cx="457200" cy="502920"/>
          </a:xfrm>
          <a:prstGeom prst="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meta_item_4"/>
          <p:cNvSpPr txBox="1"/>
          <p:nvPr/>
        </p:nvSpPr>
        <p:spPr>
          <a:xfrm>
            <a:off x="1051560" y="354787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785"/>
                </a:solidFill>
                <a:latin typeface="Arial"/>
              </a:rPr>
              <a:t>Communication, Marketing and Branding</a:t>
            </a:r>
          </a:p>
        </p:txBody>
      </p:sp>
      <p:sp>
        <p:nvSpPr>
          <p:cNvPr id="12" name="meta_chip_5"/>
          <p:cNvSpPr/>
          <p:nvPr/>
        </p:nvSpPr>
        <p:spPr>
          <a:xfrm>
            <a:off x="411480" y="4251960"/>
            <a:ext cx="457200" cy="502920"/>
          </a:xfrm>
          <a:prstGeom prst="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meta_item_5"/>
          <p:cNvSpPr txBox="1"/>
          <p:nvPr/>
        </p:nvSpPr>
        <p:spPr>
          <a:xfrm>
            <a:off x="1051560" y="42519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785"/>
                </a:solidFill>
                <a:latin typeface="Arial"/>
              </a:rPr>
              <a:t>Challenge Facility for Civil Society</a:t>
            </a:r>
          </a:p>
        </p:txBody>
      </p:sp>
      <p:sp>
        <p:nvSpPr>
          <p:cNvPr id="14" name="meta_chip_6"/>
          <p:cNvSpPr/>
          <p:nvPr/>
        </p:nvSpPr>
        <p:spPr>
          <a:xfrm>
            <a:off x="411480" y="4956048"/>
            <a:ext cx="457200" cy="502920"/>
          </a:xfrm>
          <a:prstGeom prst="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meta_item_6"/>
          <p:cNvSpPr txBox="1"/>
          <p:nvPr/>
        </p:nvSpPr>
        <p:spPr>
          <a:xfrm>
            <a:off x="1051560" y="495604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785"/>
                </a:solidFill>
                <a:latin typeface="Arial"/>
              </a:rPr>
              <a:t>MDR-TB Working Group</a:t>
            </a:r>
          </a:p>
        </p:txBody>
      </p:sp>
      <p:sp>
        <p:nvSpPr>
          <p:cNvPr id="16" name="meta_chip_7"/>
          <p:cNvSpPr/>
          <p:nvPr/>
        </p:nvSpPr>
        <p:spPr>
          <a:xfrm>
            <a:off x="411480" y="5660136"/>
            <a:ext cx="457200" cy="502920"/>
          </a:xfrm>
          <a:prstGeom prst="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7" name="meta_item_7"/>
          <p:cNvSpPr txBox="1"/>
          <p:nvPr/>
        </p:nvSpPr>
        <p:spPr>
          <a:xfrm>
            <a:off x="1051560" y="5660136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785"/>
                </a:solidFill>
                <a:latin typeface="Arial"/>
              </a:rPr>
              <a:t>Next steps</a:t>
            </a:r>
          </a:p>
        </p:txBody>
      </p:sp>
      <p:sp>
        <p:nvSpPr>
          <p:cNvPr id="18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Stop TB Partnership – McKinsey collaboration | November 2009</a:t>
            </a:r>
          </a:p>
        </p:txBody>
      </p:sp>
      <p:sp>
        <p:nvSpPr>
          <p:cNvPr id="19" name="meta_pagenum_2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972800" cy="6426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D3A4B"/>
                </a:solidFill>
                <a:latin typeface="Georgia"/>
              </a:rPr>
              <a:t>The performance of Global Health Partnerships is increasingly important and scrutinized, yet achieving high performance is proving challenging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8211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ta_head_col_1"/>
          <p:cNvSpPr/>
          <p:nvPr/>
        </p:nvSpPr>
        <p:spPr>
          <a:xfrm>
            <a:off x="411480" y="1346708"/>
            <a:ext cx="5501487" cy="41148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Increasing role of GHP performance</a:t>
            </a:r>
          </a:p>
        </p:txBody>
      </p:sp>
      <p:sp>
        <p:nvSpPr>
          <p:cNvPr id="5" name="body_col_1"/>
          <p:cNvSpPr txBox="1"/>
          <p:nvPr/>
        </p:nvSpPr>
        <p:spPr>
          <a:xfrm>
            <a:off x="411480" y="1803908"/>
            <a:ext cx="5501487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200" b="0" i="0">
                <a:solidFill>
                  <a:srgbClr val="2D3A4B"/>
                </a:solidFill>
                <a:latin typeface="Arial"/>
              </a:rPr>
              <a:t>GHPs play a major role in global health</a:t>
            </a:r>
          </a:p>
          <a:p>
            <a:pPr algn="l" marL="167640" indent="-167640"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200" b="0" i="0">
                <a:solidFill>
                  <a:srgbClr val="2D3A4B"/>
                </a:solidFill>
                <a:latin typeface="Arial"/>
              </a:rPr>
              <a:t>Performance of GHPs can have huge impact on the health of the world's population</a:t>
            </a:r>
          </a:p>
          <a:p>
            <a:pPr algn="l" marL="167640" indent="-167640"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200" b="0" i="0">
                <a:solidFill>
                  <a:srgbClr val="2D3A4B"/>
                </a:solidFill>
                <a:latin typeface="Arial"/>
              </a:rPr>
              <a:t>The focus on performance is increasing, driven by</a:t>
            </a:r>
          </a:p>
          <a:p>
            <a:pPr lvl="1" algn="l" marL="381000" indent="-167640">
              <a:spcBef>
                <a:spcPts val="0"/>
              </a:spcBef>
              <a:spcAft>
                <a:spcPts val="700"/>
              </a:spcAft>
              <a:buFont typeface="Arial"/>
              <a:buChar char="–"/>
            </a:pPr>
            <a:r>
              <a:rPr sz="1200" b="0" i="0">
                <a:solidFill>
                  <a:srgbClr val="2D3A4B"/>
                </a:solidFill>
                <a:latin typeface="Arial"/>
              </a:rPr>
              <a:t>Increasing donor focus on impact, effectiveness, and efficiency</a:t>
            </a:r>
          </a:p>
          <a:p>
            <a:pPr lvl="1" algn="l" marL="381000" indent="-167640">
              <a:spcBef>
                <a:spcPts val="0"/>
              </a:spcBef>
              <a:spcAft>
                <a:spcPts val="700"/>
              </a:spcAft>
              <a:buFont typeface="Arial"/>
              <a:buChar char="–"/>
            </a:pPr>
            <a:r>
              <a:rPr sz="1200" b="0" i="0">
                <a:solidFill>
                  <a:srgbClr val="2D3A4B"/>
                </a:solidFill>
                <a:latin typeface="Arial"/>
              </a:rPr>
              <a:t>Increasing number of Partnerships in global health</a:t>
            </a:r>
          </a:p>
          <a:p>
            <a:pPr lvl="1" algn="l" marL="381000" indent="-167640">
              <a:spcBef>
                <a:spcPts val="0"/>
              </a:spcBef>
              <a:spcAft>
                <a:spcPts val="700"/>
              </a:spcAft>
              <a:buFont typeface="Arial"/>
              <a:buChar char="–"/>
            </a:pPr>
            <a:r>
              <a:rPr sz="1200" b="0" i="0">
                <a:solidFill>
                  <a:srgbClr val="2D3A4B"/>
                </a:solidFill>
                <a:latin typeface="Arial"/>
              </a:rPr>
              <a:t>Likelihood of lower funding growth or less funding, given the financial crisis</a:t>
            </a:r>
          </a:p>
        </p:txBody>
      </p:sp>
      <p:sp>
        <p:nvSpPr>
          <p:cNvPr id="6" name="meta_head_col_2"/>
          <p:cNvSpPr/>
          <p:nvPr/>
        </p:nvSpPr>
        <p:spPr>
          <a:xfrm>
            <a:off x="6278727" y="1346708"/>
            <a:ext cx="5501487" cy="41148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Challenging factors</a:t>
            </a:r>
          </a:p>
        </p:txBody>
      </p:sp>
      <p:sp>
        <p:nvSpPr>
          <p:cNvPr id="7" name="body_col_2"/>
          <p:cNvSpPr txBox="1"/>
          <p:nvPr/>
        </p:nvSpPr>
        <p:spPr>
          <a:xfrm>
            <a:off x="6278727" y="1803908"/>
            <a:ext cx="5501487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200" b="0" i="0">
                <a:solidFill>
                  <a:srgbClr val="2D3A4B"/>
                </a:solidFill>
                <a:latin typeface="Arial"/>
              </a:rPr>
              <a:t>Complex environment and nature of GHP organizations create challenges, e.g.</a:t>
            </a:r>
          </a:p>
          <a:p>
            <a:pPr algn="l" marL="167640" indent="-167640">
              <a:spcAft>
                <a:spcPts val="700"/>
              </a:spcAft>
              <a:buFont typeface="Arial"/>
              <a:buChar char="▪"/>
            </a:pPr>
            <a:r>
              <a:rPr sz="1200" b="1" i="0">
                <a:solidFill>
                  <a:srgbClr val="2D3A4B"/>
                </a:solidFill>
                <a:latin typeface="Arial"/>
              </a:rPr>
              <a:t>Objective-setting:</a:t>
            </a:r>
            <a:r>
              <a:rPr sz="1200" b="0" i="0">
                <a:solidFill>
                  <a:srgbClr val="2D3A4B"/>
                </a:solidFill>
                <a:latin typeface="Arial"/>
              </a:rPr>
              <a:t> distinguishing between the change a GHP hopes to bring about in the world vs. the goals it sets itself that will help bring about the change</a:t>
            </a:r>
          </a:p>
          <a:p>
            <a:pPr algn="l" marL="167640" indent="-167640">
              <a:spcAft>
                <a:spcPts val="700"/>
              </a:spcAft>
              <a:buFont typeface="Arial"/>
              <a:buChar char="▪"/>
            </a:pPr>
            <a:r>
              <a:rPr sz="1200" b="1" i="0">
                <a:solidFill>
                  <a:srgbClr val="2D3A4B"/>
                </a:solidFill>
                <a:latin typeface="Arial"/>
              </a:rPr>
              <a:t>Accountability:</a:t>
            </a:r>
            <a:r>
              <a:rPr sz="1200" b="0" i="0">
                <a:solidFill>
                  <a:srgbClr val="2D3A4B"/>
                </a:solidFill>
                <a:latin typeface="Arial"/>
              </a:rPr>
              <a:t> ensuring accountability and delivery in the context of loose Partnership structures, voluntary membership, and limited hierarchy</a:t>
            </a:r>
          </a:p>
          <a:p>
            <a:pPr algn="l" marL="167640" indent="-167640">
              <a:spcAft>
                <a:spcPts val="700"/>
              </a:spcAft>
              <a:buFont typeface="Arial"/>
              <a:buChar char="▪"/>
            </a:pPr>
            <a:r>
              <a:rPr sz="1200" b="1" i="0">
                <a:solidFill>
                  <a:srgbClr val="2D3A4B"/>
                </a:solidFill>
                <a:latin typeface="Arial"/>
              </a:rPr>
              <a:t>Capabilities:</a:t>
            </a:r>
            <a:r>
              <a:rPr sz="1200" b="0" i="0">
                <a:solidFill>
                  <a:srgbClr val="2D3A4B"/>
                </a:solidFill>
                <a:latin typeface="Arial"/>
              </a:rPr>
              <a:t> gaining the capacity and capabilities needed to continuously improve performance</a:t>
            </a:r>
          </a:p>
        </p:txBody>
      </p:sp>
      <p:sp>
        <p:nvSpPr>
          <p:cNvPr id="8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Source: McKinsey analysis.</a:t>
            </a:r>
          </a:p>
        </p:txBody>
      </p:sp>
      <p:sp>
        <p:nvSpPr>
          <p:cNvPr id="9" name="meta_pagenum_3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972800" cy="6426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D3A4B"/>
                </a:solidFill>
                <a:latin typeface="Georgia"/>
              </a:rPr>
              <a:t>The project will deliver practical insights on improving GHP performance based on piloted improvement ideas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8211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ta_head_col_1"/>
          <p:cNvSpPr/>
          <p:nvPr/>
        </p:nvSpPr>
        <p:spPr>
          <a:xfrm>
            <a:off x="411480" y="1346708"/>
            <a:ext cx="3606698" cy="41148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Goals</a:t>
            </a:r>
          </a:p>
        </p:txBody>
      </p:sp>
      <p:sp>
        <p:nvSpPr>
          <p:cNvPr id="5" name="body_col_1"/>
          <p:cNvSpPr txBox="1"/>
          <p:nvPr/>
        </p:nvSpPr>
        <p:spPr>
          <a:xfrm>
            <a:off x="411480" y="1803908"/>
            <a:ext cx="3606698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53670" indent="-15367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Develop a joint perspective, tested and proven, on how GHPs can improve performance, by</a:t>
            </a:r>
          </a:p>
          <a:p>
            <a:pPr lvl="1" algn="l" marL="349250" indent="-153670"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100" b="0" i="0">
                <a:solidFill>
                  <a:srgbClr val="2D3A4B"/>
                </a:solidFill>
                <a:latin typeface="Arial"/>
              </a:rPr>
              <a:t>Exploring how to improve performance in a GHP, not simply adopting existing (e.g., private-sector) approaches</a:t>
            </a:r>
          </a:p>
          <a:p>
            <a:pPr lvl="1" algn="l" marL="349250" indent="-153670"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100" b="0" i="0">
                <a:solidFill>
                  <a:srgbClr val="2D3A4B"/>
                </a:solidFill>
                <a:latin typeface="Arial"/>
              </a:rPr>
              <a:t>Testing new ways of working with Stop TB bodies that could lead to higher performance</a:t>
            </a:r>
          </a:p>
          <a:p>
            <a:pPr lvl="1" algn="l" marL="349250" indent="-153670"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100" b="0" i="0">
                <a:solidFill>
                  <a:srgbClr val="2D3A4B"/>
                </a:solidFill>
                <a:latin typeface="Arial"/>
              </a:rPr>
              <a:t>Developing a joint perspective to share with the global health community</a:t>
            </a:r>
          </a:p>
        </p:txBody>
      </p:sp>
      <p:sp>
        <p:nvSpPr>
          <p:cNvPr id="6" name="meta_head_col_2"/>
          <p:cNvSpPr/>
          <p:nvPr/>
        </p:nvSpPr>
        <p:spPr>
          <a:xfrm>
            <a:off x="4292498" y="1346708"/>
            <a:ext cx="3606698" cy="41148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Approach</a:t>
            </a:r>
          </a:p>
        </p:txBody>
      </p:sp>
      <p:sp>
        <p:nvSpPr>
          <p:cNvPr id="7" name="body_col_2"/>
          <p:cNvSpPr txBox="1"/>
          <p:nvPr/>
        </p:nvSpPr>
        <p:spPr>
          <a:xfrm>
            <a:off x="4292498" y="1803908"/>
            <a:ext cx="3606698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53670" indent="-15367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Build on strengths and improvement opportunities outlined in the 2008 evaluation</a:t>
            </a:r>
          </a:p>
          <a:p>
            <a:pPr algn="l" marL="153670" indent="-15367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Joint working, collaborative, co-creation — not client–consultant work</a:t>
            </a:r>
          </a:p>
          <a:p>
            <a:pPr algn="l" marL="153670" indent="-15367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Duration ~22 weeks: 10 weeks diagnosis and design, 12 weeks delivery</a:t>
            </a:r>
          </a:p>
          <a:p>
            <a:pPr algn="l" marL="153670" indent="-15367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Scope: 5 Partnership bodies — GDF, MDR-TB WG, CFCS, Advocacy, and CM&amp;B teams</a:t>
            </a:r>
          </a:p>
          <a:p>
            <a:pPr algn="l" marL="153670" indent="-15367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External interactions with other GHPs, e.g., RBM, UNAIDS, GAVI, GF</a:t>
            </a:r>
          </a:p>
        </p:txBody>
      </p:sp>
      <p:sp>
        <p:nvSpPr>
          <p:cNvPr id="8" name="meta_head_col_3"/>
          <p:cNvSpPr/>
          <p:nvPr/>
        </p:nvSpPr>
        <p:spPr>
          <a:xfrm>
            <a:off x="8173516" y="1346708"/>
            <a:ext cx="3606698" cy="41148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3 main end-products</a:t>
            </a:r>
          </a:p>
        </p:txBody>
      </p:sp>
      <p:sp>
        <p:nvSpPr>
          <p:cNvPr id="9" name="body_col_3"/>
          <p:cNvSpPr txBox="1"/>
          <p:nvPr/>
        </p:nvSpPr>
        <p:spPr>
          <a:xfrm>
            <a:off x="8173516" y="1803908"/>
            <a:ext cx="3606698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53670" indent="-15367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Successful performance-improvement pilots in selected Partnership bodies, with documentation to support roll-out to other bodies</a:t>
            </a:r>
          </a:p>
          <a:p>
            <a:pPr algn="l" marL="153670" indent="-15367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A co-authored project report, suitable for publication in major journals, detailing the experience and lessons for other GHPs</a:t>
            </a:r>
          </a:p>
          <a:p>
            <a:pPr algn="l" marL="153670" indent="-15367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A “practitioner's guide” to support McKinsey teams conducting similar work</a:t>
            </a:r>
          </a:p>
        </p:txBody>
      </p:sp>
      <p:sp>
        <p:nvSpPr>
          <p:cNvPr id="10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Source: McKinsey analysis.</a:t>
            </a:r>
          </a:p>
        </p:txBody>
      </p:sp>
      <p:sp>
        <p:nvSpPr>
          <p:cNvPr id="11" name="meta_pagenum_4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D3A4B"/>
                </a:solidFill>
                <a:latin typeface="Georgia"/>
              </a:rPr>
              <a:t>This project is organized in three distinct phases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ta_head_col_1"/>
          <p:cNvSpPr/>
          <p:nvPr/>
        </p:nvSpPr>
        <p:spPr>
          <a:xfrm>
            <a:off x="411480" y="1344168"/>
            <a:ext cx="3606698" cy="41148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Diagnose (August – September)</a:t>
            </a:r>
          </a:p>
        </p:txBody>
      </p:sp>
      <p:sp>
        <p:nvSpPr>
          <p:cNvPr id="5" name="body_col_1"/>
          <p:cNvSpPr txBox="1"/>
          <p:nvPr/>
        </p:nvSpPr>
        <p:spPr>
          <a:xfrm>
            <a:off x="411480" y="1801368"/>
            <a:ext cx="3606698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53670" indent="-15367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Selection of Partnership Bodies to work with — GDF, Advocacy, Communication/Marketing &amp; Branding, CFCS, MDR-TB Working Group</a:t>
            </a:r>
          </a:p>
          <a:p>
            <a:pPr algn="l" marL="153670" indent="-15367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Understanding of current performance</a:t>
            </a:r>
          </a:p>
          <a:p>
            <a:pPr algn="l" marL="153670" indent="-15367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Identification of areas of high performance</a:t>
            </a:r>
          </a:p>
          <a:p>
            <a:pPr algn="l" marL="153670" indent="-15367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Selection of one performance issue to improve</a:t>
            </a:r>
          </a:p>
        </p:txBody>
      </p:sp>
      <p:sp>
        <p:nvSpPr>
          <p:cNvPr id="6" name="meta_head_col_2"/>
          <p:cNvSpPr/>
          <p:nvPr/>
        </p:nvSpPr>
        <p:spPr>
          <a:xfrm>
            <a:off x="4292498" y="1344168"/>
            <a:ext cx="3606698" cy="41148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Design (September – October)</a:t>
            </a:r>
          </a:p>
        </p:txBody>
      </p:sp>
      <p:sp>
        <p:nvSpPr>
          <p:cNvPr id="7" name="body_col_2"/>
          <p:cNvSpPr txBox="1"/>
          <p:nvPr/>
        </p:nvSpPr>
        <p:spPr>
          <a:xfrm>
            <a:off x="4292498" y="1801368"/>
            <a:ext cx="3606698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53670" indent="-15367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Intensive work within selected Partnership Bodies to develop improvement ideas on the selected performance issue</a:t>
            </a:r>
          </a:p>
          <a:p>
            <a:pPr algn="l" marL="153670" indent="-15367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Select actions to implement in the next phase</a:t>
            </a:r>
          </a:p>
          <a:p>
            <a:pPr algn="l" marL="153670" indent="-15367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Development of implementation plans for the Delivery phase</a:t>
            </a:r>
          </a:p>
        </p:txBody>
      </p:sp>
      <p:sp>
        <p:nvSpPr>
          <p:cNvPr id="8" name="meta_head_col_3"/>
          <p:cNvSpPr/>
          <p:nvPr/>
        </p:nvSpPr>
        <p:spPr>
          <a:xfrm>
            <a:off x="8173516" y="1344168"/>
            <a:ext cx="3606698" cy="41148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Deliver (November – December)</a:t>
            </a:r>
          </a:p>
        </p:txBody>
      </p:sp>
      <p:sp>
        <p:nvSpPr>
          <p:cNvPr id="9" name="body_col_3"/>
          <p:cNvSpPr txBox="1"/>
          <p:nvPr/>
        </p:nvSpPr>
        <p:spPr>
          <a:xfrm>
            <a:off x="8173516" y="1801368"/>
            <a:ext cx="3606698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53670" indent="-15367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Implementation and refinement</a:t>
            </a:r>
          </a:p>
          <a:p>
            <a:pPr algn="l" marL="153670" indent="-15367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Problem-solving sessions on findings, lessons learned, and implications</a:t>
            </a:r>
          </a:p>
          <a:p>
            <a:pPr algn="l" marL="153670" indent="-15367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Workshop to share achievements across the Partnership</a:t>
            </a:r>
          </a:p>
          <a:p>
            <a:pPr algn="l" marL="153670" indent="-15367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Report and publication of results; present results to the Coordinating Board in March 2010</a:t>
            </a:r>
          </a:p>
        </p:txBody>
      </p:sp>
      <p:sp>
        <p:nvSpPr>
          <p:cNvPr id="10" name="overlay_today_line"/>
          <p:cNvSpPr/>
          <p:nvPr/>
        </p:nvSpPr>
        <p:spPr>
          <a:xfrm>
            <a:off x="8173516" y="1527048"/>
            <a:ext cx="27432" cy="38404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erlay_today_label"/>
          <p:cNvSpPr txBox="1"/>
          <p:nvPr/>
        </p:nvSpPr>
        <p:spPr>
          <a:xfrm>
            <a:off x="7167676" y="105156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E75B6"/>
                </a:solidFill>
                <a:latin typeface="Arial"/>
              </a:rPr>
              <a:t>Today</a:t>
            </a:r>
          </a:p>
        </p:txBody>
      </p:sp>
      <p:sp>
        <p:nvSpPr>
          <p:cNvPr id="12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Source: McKinsey analysis. “Today” sits at the start of the Deliver phase (November 2009).</a:t>
            </a:r>
          </a:p>
        </p:txBody>
      </p:sp>
      <p:sp>
        <p:nvSpPr>
          <p:cNvPr id="13" name="meta_pagenum_5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D3A4B"/>
                </a:solidFill>
                <a:latin typeface="Georgia"/>
              </a:rPr>
              <a:t>We think about performance in terms of both processes and enablers — (1) Processes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ta_chain_label"/>
          <p:cNvSpPr txBox="1"/>
          <p:nvPr/>
        </p:nvSpPr>
        <p:spPr>
          <a:xfrm>
            <a:off x="411480" y="134416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785"/>
                </a:solidFill>
                <a:latin typeface="Arial"/>
              </a:rPr>
              <a:t>Performance management</a:t>
            </a:r>
          </a:p>
        </p:txBody>
      </p:sp>
      <p:sp>
        <p:nvSpPr>
          <p:cNvPr id="5" name="body_chain_1"/>
          <p:cNvSpPr/>
          <p:nvPr/>
        </p:nvSpPr>
        <p:spPr>
          <a:xfrm>
            <a:off x="411480" y="1572768"/>
            <a:ext cx="1666189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63500" bIns="63500">
            <a:no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Set objectives</a:t>
            </a:r>
          </a:p>
        </p:txBody>
      </p:sp>
      <p:sp>
        <p:nvSpPr>
          <p:cNvPr id="6" name="body_chain_2"/>
          <p:cNvSpPr/>
          <p:nvPr/>
        </p:nvSpPr>
        <p:spPr>
          <a:xfrm>
            <a:off x="2351989" y="1572768"/>
            <a:ext cx="1666189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63500" bIns="63500">
            <a:no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Set targets</a:t>
            </a:r>
          </a:p>
        </p:txBody>
      </p:sp>
      <p:sp>
        <p:nvSpPr>
          <p:cNvPr id="7" name="body_chain_3"/>
          <p:cNvSpPr/>
          <p:nvPr/>
        </p:nvSpPr>
        <p:spPr>
          <a:xfrm>
            <a:off x="4292498" y="1572768"/>
            <a:ext cx="1666189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63500" bIns="63500">
            <a:no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Establish clear metrics</a:t>
            </a:r>
          </a:p>
        </p:txBody>
      </p:sp>
      <p:sp>
        <p:nvSpPr>
          <p:cNvPr id="8" name="body_chain_4"/>
          <p:cNvSpPr/>
          <p:nvPr/>
        </p:nvSpPr>
        <p:spPr>
          <a:xfrm>
            <a:off x="6233007" y="1572768"/>
            <a:ext cx="1666189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63500" bIns="63500">
            <a:no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Track &amp; disseminate metrics</a:t>
            </a:r>
          </a:p>
        </p:txBody>
      </p:sp>
      <p:sp>
        <p:nvSpPr>
          <p:cNvPr id="9" name="body_chain_5"/>
          <p:cNvSpPr/>
          <p:nvPr/>
        </p:nvSpPr>
        <p:spPr>
          <a:xfrm>
            <a:off x="8173516" y="1572768"/>
            <a:ext cx="1666189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63500" bIns="63500">
            <a:no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Review performance</a:t>
            </a:r>
          </a:p>
        </p:txBody>
      </p:sp>
      <p:sp>
        <p:nvSpPr>
          <p:cNvPr id="10" name="body_chain_6"/>
          <p:cNvSpPr/>
          <p:nvPr/>
        </p:nvSpPr>
        <p:spPr>
          <a:xfrm>
            <a:off x="10114026" y="1572768"/>
            <a:ext cx="1666189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63500" bIns="63500">
            <a:no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Celebrate &amp; act</a:t>
            </a:r>
          </a:p>
        </p:txBody>
      </p:sp>
      <p:cxnSp>
        <p:nvCxnSpPr>
          <p:cNvPr id="11" name="overlay_arrow_chain_1"/>
          <p:cNvCxnSpPr/>
          <p:nvPr/>
        </p:nvCxnSpPr>
        <p:spPr>
          <a:xfrm>
            <a:off x="2123389" y="1961388"/>
            <a:ext cx="182880" cy="0"/>
          </a:xfrm>
          <a:prstGeom prst="bentConnector3">
            <a:avLst/>
          </a:prstGeom>
          <a:ln w="28575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overlay_arrow_chain_2"/>
          <p:cNvCxnSpPr/>
          <p:nvPr/>
        </p:nvCxnSpPr>
        <p:spPr>
          <a:xfrm>
            <a:off x="4063898" y="1961388"/>
            <a:ext cx="182880" cy="0"/>
          </a:xfrm>
          <a:prstGeom prst="bentConnector3">
            <a:avLst/>
          </a:prstGeom>
          <a:ln w="28575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overlay_arrow_chain_3"/>
          <p:cNvCxnSpPr/>
          <p:nvPr/>
        </p:nvCxnSpPr>
        <p:spPr>
          <a:xfrm>
            <a:off x="6004407" y="1961388"/>
            <a:ext cx="182880" cy="0"/>
          </a:xfrm>
          <a:prstGeom prst="bentConnector3">
            <a:avLst/>
          </a:prstGeom>
          <a:ln w="28575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overlay_arrow_chain_4"/>
          <p:cNvCxnSpPr/>
          <p:nvPr/>
        </p:nvCxnSpPr>
        <p:spPr>
          <a:xfrm>
            <a:off x="7944916" y="1961388"/>
            <a:ext cx="182880" cy="0"/>
          </a:xfrm>
          <a:prstGeom prst="bentConnector3">
            <a:avLst/>
          </a:prstGeom>
          <a:ln w="28575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overlay_arrow_chain_5"/>
          <p:cNvCxnSpPr/>
          <p:nvPr/>
        </p:nvCxnSpPr>
        <p:spPr>
          <a:xfrm>
            <a:off x="9885425" y="1961388"/>
            <a:ext cx="182881" cy="0"/>
          </a:xfrm>
          <a:prstGeom prst="bentConnector3">
            <a:avLst/>
          </a:prstGeom>
          <a:ln w="28575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meta_head_col_1"/>
          <p:cNvSpPr/>
          <p:nvPr/>
        </p:nvSpPr>
        <p:spPr>
          <a:xfrm>
            <a:off x="411480" y="2670048"/>
            <a:ext cx="3606698" cy="41148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Set objectives &amp; targets (steps 1–2)</a:t>
            </a:r>
          </a:p>
        </p:txBody>
      </p:sp>
      <p:sp>
        <p:nvSpPr>
          <p:cNvPr id="17" name="body_col_1"/>
          <p:cNvSpPr txBox="1"/>
          <p:nvPr/>
        </p:nvSpPr>
        <p:spPr>
          <a:xfrm>
            <a:off x="411480" y="3127248"/>
            <a:ext cx="3606698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Set time-bound objectives that contribute to fulfilling the mission and vision</a:t>
            </a:r>
          </a:p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Set metrics that directly measure agreed objectives</a:t>
            </a:r>
          </a:p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Set additional metrics that cascade down from the key metric</a:t>
            </a:r>
          </a:p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Set quantitative targets for the metrics; translate these into operational plans and budgets</a:t>
            </a:r>
          </a:p>
        </p:txBody>
      </p:sp>
      <p:sp>
        <p:nvSpPr>
          <p:cNvPr id="18" name="meta_head_col_2"/>
          <p:cNvSpPr/>
          <p:nvPr/>
        </p:nvSpPr>
        <p:spPr>
          <a:xfrm>
            <a:off x="4292498" y="2670048"/>
            <a:ext cx="3606698" cy="41148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Establish &amp; track metrics (steps 3–4)</a:t>
            </a:r>
          </a:p>
        </p:txBody>
      </p:sp>
      <p:sp>
        <p:nvSpPr>
          <p:cNvPr id="19" name="body_col_2"/>
          <p:cNvSpPr txBox="1"/>
          <p:nvPr/>
        </p:nvSpPr>
        <p:spPr>
          <a:xfrm>
            <a:off x="4292498" y="3127248"/>
            <a:ext cx="3606698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Produce progress reports</a:t>
            </a:r>
          </a:p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Disseminate reports to team members and stakeholders at pre-aligned intervals</a:t>
            </a:r>
          </a:p>
        </p:txBody>
      </p:sp>
      <p:sp>
        <p:nvSpPr>
          <p:cNvPr id="20" name="meta_head_col_3"/>
          <p:cNvSpPr/>
          <p:nvPr/>
        </p:nvSpPr>
        <p:spPr>
          <a:xfrm>
            <a:off x="8173516" y="2670048"/>
            <a:ext cx="3606698" cy="41148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Review &amp; act (steps 5–6)</a:t>
            </a:r>
          </a:p>
        </p:txBody>
      </p:sp>
      <p:sp>
        <p:nvSpPr>
          <p:cNvPr id="21" name="body_col_3"/>
          <p:cNvSpPr txBox="1"/>
          <p:nvPr/>
        </p:nvSpPr>
        <p:spPr>
          <a:xfrm>
            <a:off x="8173516" y="3127248"/>
            <a:ext cx="3606698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Use reports to discuss progress in structured review meetings</a:t>
            </a:r>
          </a:p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Identify possible performance gaps and decide how to address them</a:t>
            </a:r>
          </a:p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Celebrate successes and take any required corrective actions</a:t>
            </a:r>
          </a:p>
        </p:txBody>
      </p:sp>
      <p:sp>
        <p:nvSpPr>
          <p:cNvPr id="22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Source: McKinsey analysis.</a:t>
            </a:r>
          </a:p>
        </p:txBody>
      </p:sp>
      <p:sp>
        <p:nvSpPr>
          <p:cNvPr id="23" name="meta_pagenum_6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D3A4B"/>
                </a:solidFill>
                <a:latin typeface="Georgia"/>
              </a:rPr>
              <a:t>Definition of performance management terms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ta_caption_table_terms"/>
          <p:cNvSpPr txBox="1"/>
          <p:nvPr/>
        </p:nvSpPr>
        <p:spPr>
          <a:xfrm>
            <a:off x="411480" y="1344168"/>
            <a:ext cx="1136873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B7785"/>
                </a:solidFill>
                <a:latin typeface="Arial"/>
              </a:rPr>
              <a:t>Definition of performance management terms</a:t>
            </a:r>
          </a:p>
        </p:txBody>
      </p:sp>
      <p:graphicFrame>
        <p:nvGraphicFramePr>
          <p:cNvPr id="5" name="table_terms"/>
          <p:cNvGraphicFramePr>
            <a:graphicFrameLocks noGrp="1"/>
          </p:cNvGraphicFramePr>
          <p:nvPr/>
        </p:nvGraphicFramePr>
        <p:xfrm>
          <a:off x="411480" y="1618488"/>
          <a:ext cx="1136873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760720"/>
                <a:gridCol w="4053535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Term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Definition / description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Narrow, time-bound, quantifiable goal that contributes to delivering the 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Supply low-cost, quality TB drugs at USD 20/treatment course for X patients in 2010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Measurable variable that indicates progress toward an 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Funds raised; patient treatments supplied; grants approved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The target value of the chosen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15 million patient treatments supplied by 2010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A set of metrics and current values vs. target, with reasons for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See dashboard examples in this document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Performance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A sequence of meetings to review performance, find root causes, and agree 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Quarterly team review meeting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Defines the organization's purpose and primary objectives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Supply low-cost, quality drugs to countries that need them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Articulates the aspiration or target for the future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A TB-free world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Source: McKinsey analysis.</a:t>
            </a:r>
          </a:p>
        </p:txBody>
      </p:sp>
      <p:sp>
        <p:nvSpPr>
          <p:cNvPr id="7" name="meta_pagenum_7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D3A4B"/>
                </a:solidFill>
                <a:latin typeface="Georgia"/>
              </a:rPr>
              <a:t>We think about performance in terms of both processes and enablers — (2) Enablers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ta_head_quad_1"/>
          <p:cNvSpPr/>
          <p:nvPr/>
        </p:nvSpPr>
        <p:spPr>
          <a:xfrm>
            <a:off x="411480" y="1344168"/>
            <a:ext cx="5547207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Committed leadership</a:t>
            </a:r>
          </a:p>
        </p:txBody>
      </p:sp>
      <p:sp>
        <p:nvSpPr>
          <p:cNvPr id="5" name="body_quad_1"/>
          <p:cNvSpPr txBox="1"/>
          <p:nvPr/>
        </p:nvSpPr>
        <p:spPr>
          <a:xfrm>
            <a:off x="411480" y="1801368"/>
            <a:ext cx="554720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200" b="0" i="0">
                <a:solidFill>
                  <a:srgbClr val="2D3A4B"/>
                </a:solidFill>
                <a:latin typeface="Arial"/>
              </a:rPr>
              <a:t>Strong leadership involvement and dedication.</a:t>
            </a:r>
          </a:p>
        </p:txBody>
      </p:sp>
      <p:sp>
        <p:nvSpPr>
          <p:cNvPr id="6" name="meta_head_quad_2"/>
          <p:cNvSpPr/>
          <p:nvPr/>
        </p:nvSpPr>
        <p:spPr>
          <a:xfrm>
            <a:off x="6233007" y="1344168"/>
            <a:ext cx="5547207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Capacity</a:t>
            </a:r>
          </a:p>
        </p:txBody>
      </p:sp>
      <p:sp>
        <p:nvSpPr>
          <p:cNvPr id="7" name="body_quad_2"/>
          <p:cNvSpPr txBox="1"/>
          <p:nvPr/>
        </p:nvSpPr>
        <p:spPr>
          <a:xfrm>
            <a:off x="6233007" y="1801368"/>
            <a:ext cx="554720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200" b="0" i="0">
                <a:solidFill>
                  <a:srgbClr val="2D3A4B"/>
                </a:solidFill>
                <a:latin typeface="Arial"/>
              </a:rPr>
              <a:t>Ensure sufficient skills, infrastructure, and resources for performance.</a:t>
            </a:r>
          </a:p>
        </p:txBody>
      </p:sp>
      <p:sp>
        <p:nvSpPr>
          <p:cNvPr id="8" name="meta_head_quad_3"/>
          <p:cNvSpPr/>
          <p:nvPr/>
        </p:nvSpPr>
        <p:spPr>
          <a:xfrm>
            <a:off x="411480" y="3172968"/>
            <a:ext cx="5547207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Communications</a:t>
            </a:r>
          </a:p>
        </p:txBody>
      </p:sp>
      <p:sp>
        <p:nvSpPr>
          <p:cNvPr id="9" name="body_quad_3"/>
          <p:cNvSpPr txBox="1"/>
          <p:nvPr/>
        </p:nvSpPr>
        <p:spPr>
          <a:xfrm>
            <a:off x="411480" y="3630168"/>
            <a:ext cx="554720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200" b="0" i="0">
                <a:solidFill>
                  <a:srgbClr val="2D3A4B"/>
                </a:solidFill>
                <a:latin typeface="Arial"/>
              </a:rPr>
              <a:t>Communicate both performance and the importance of discussing performance regularly to all stakeholders.</a:t>
            </a:r>
          </a:p>
        </p:txBody>
      </p:sp>
      <p:sp>
        <p:nvSpPr>
          <p:cNvPr id="10" name="meta_head_quad_4"/>
          <p:cNvSpPr/>
          <p:nvPr/>
        </p:nvSpPr>
        <p:spPr>
          <a:xfrm>
            <a:off x="6233007" y="3172968"/>
            <a:ext cx="5547207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Culture</a:t>
            </a:r>
          </a:p>
        </p:txBody>
      </p:sp>
      <p:sp>
        <p:nvSpPr>
          <p:cNvPr id="11" name="body_quad_4"/>
          <p:cNvSpPr txBox="1"/>
          <p:nvPr/>
        </p:nvSpPr>
        <p:spPr>
          <a:xfrm>
            <a:off x="6233007" y="3630168"/>
            <a:ext cx="554720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200" b="0" i="0">
                <a:solidFill>
                  <a:srgbClr val="2D3A4B"/>
                </a:solidFill>
                <a:latin typeface="Arial"/>
              </a:rPr>
              <a:t>Develop shared cultural norms for performance (e.g., accountability, behaviors).</a:t>
            </a:r>
          </a:p>
        </p:txBody>
      </p:sp>
      <p:sp>
        <p:nvSpPr>
          <p:cNvPr id="12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Source: McKinsey analysis.</a:t>
            </a:r>
          </a:p>
        </p:txBody>
      </p:sp>
      <p:sp>
        <p:nvSpPr>
          <p:cNvPr id="13" name="meta_pagenum_8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972800" cy="6426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D3A4B"/>
                </a:solidFill>
                <a:latin typeface="Georgia"/>
              </a:rPr>
              <a:t>Many GHPs find some performance processes challenging given their complex environment and structure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8211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ta_chain_label"/>
          <p:cNvSpPr txBox="1"/>
          <p:nvPr/>
        </p:nvSpPr>
        <p:spPr>
          <a:xfrm>
            <a:off x="411480" y="134670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785"/>
                </a:solidFill>
                <a:latin typeface="Arial"/>
              </a:rPr>
              <a:t>Performance management</a:t>
            </a:r>
          </a:p>
        </p:txBody>
      </p:sp>
      <p:sp>
        <p:nvSpPr>
          <p:cNvPr id="5" name="body_chain_1"/>
          <p:cNvSpPr/>
          <p:nvPr/>
        </p:nvSpPr>
        <p:spPr>
          <a:xfrm>
            <a:off x="411480" y="1575308"/>
            <a:ext cx="1666189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63500" bIns="63500">
            <a:no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Set objectives</a:t>
            </a:r>
          </a:p>
        </p:txBody>
      </p:sp>
      <p:sp>
        <p:nvSpPr>
          <p:cNvPr id="6" name="body_chain_2"/>
          <p:cNvSpPr/>
          <p:nvPr/>
        </p:nvSpPr>
        <p:spPr>
          <a:xfrm>
            <a:off x="2351989" y="1575308"/>
            <a:ext cx="1666189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63500" bIns="63500">
            <a:no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Set targets</a:t>
            </a:r>
          </a:p>
        </p:txBody>
      </p:sp>
      <p:sp>
        <p:nvSpPr>
          <p:cNvPr id="7" name="body_chain_3"/>
          <p:cNvSpPr/>
          <p:nvPr/>
        </p:nvSpPr>
        <p:spPr>
          <a:xfrm>
            <a:off x="4292498" y="1575308"/>
            <a:ext cx="1666189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63500" bIns="63500">
            <a:no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Establish clear metrics</a:t>
            </a:r>
          </a:p>
        </p:txBody>
      </p:sp>
      <p:sp>
        <p:nvSpPr>
          <p:cNvPr id="8" name="body_chain_4"/>
          <p:cNvSpPr/>
          <p:nvPr/>
        </p:nvSpPr>
        <p:spPr>
          <a:xfrm>
            <a:off x="6233007" y="1575308"/>
            <a:ext cx="1666189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63500" bIns="63500">
            <a:no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Track &amp; disseminate metrics</a:t>
            </a:r>
          </a:p>
        </p:txBody>
      </p:sp>
      <p:sp>
        <p:nvSpPr>
          <p:cNvPr id="9" name="body_chain_5"/>
          <p:cNvSpPr/>
          <p:nvPr/>
        </p:nvSpPr>
        <p:spPr>
          <a:xfrm>
            <a:off x="8173516" y="1575308"/>
            <a:ext cx="1666189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63500" bIns="63500">
            <a:no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Review performance</a:t>
            </a:r>
          </a:p>
        </p:txBody>
      </p:sp>
      <p:sp>
        <p:nvSpPr>
          <p:cNvPr id="10" name="body_chain_6"/>
          <p:cNvSpPr/>
          <p:nvPr/>
        </p:nvSpPr>
        <p:spPr>
          <a:xfrm>
            <a:off x="10114026" y="1575308"/>
            <a:ext cx="1666189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63500" bIns="63500">
            <a:no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Celebrate &amp; act</a:t>
            </a:r>
          </a:p>
        </p:txBody>
      </p:sp>
      <p:cxnSp>
        <p:nvCxnSpPr>
          <p:cNvPr id="11" name="overlay_arrow_chain_1"/>
          <p:cNvCxnSpPr/>
          <p:nvPr/>
        </p:nvCxnSpPr>
        <p:spPr>
          <a:xfrm>
            <a:off x="2123389" y="1963928"/>
            <a:ext cx="182880" cy="0"/>
          </a:xfrm>
          <a:prstGeom prst="bentConnector3">
            <a:avLst/>
          </a:prstGeom>
          <a:ln w="28575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overlay_arrow_chain_2"/>
          <p:cNvCxnSpPr/>
          <p:nvPr/>
        </p:nvCxnSpPr>
        <p:spPr>
          <a:xfrm>
            <a:off x="4063898" y="1963928"/>
            <a:ext cx="182880" cy="0"/>
          </a:xfrm>
          <a:prstGeom prst="bentConnector3">
            <a:avLst/>
          </a:prstGeom>
          <a:ln w="28575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overlay_arrow_chain_3"/>
          <p:cNvCxnSpPr/>
          <p:nvPr/>
        </p:nvCxnSpPr>
        <p:spPr>
          <a:xfrm>
            <a:off x="6004407" y="1963928"/>
            <a:ext cx="182880" cy="0"/>
          </a:xfrm>
          <a:prstGeom prst="bentConnector3">
            <a:avLst/>
          </a:prstGeom>
          <a:ln w="28575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overlay_arrow_chain_4"/>
          <p:cNvCxnSpPr/>
          <p:nvPr/>
        </p:nvCxnSpPr>
        <p:spPr>
          <a:xfrm>
            <a:off x="7944916" y="1963928"/>
            <a:ext cx="182880" cy="0"/>
          </a:xfrm>
          <a:prstGeom prst="bentConnector3">
            <a:avLst/>
          </a:prstGeom>
          <a:ln w="28575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overlay_arrow_chain_5"/>
          <p:cNvCxnSpPr/>
          <p:nvPr/>
        </p:nvCxnSpPr>
        <p:spPr>
          <a:xfrm>
            <a:off x="9885425" y="1963928"/>
            <a:ext cx="182881" cy="0"/>
          </a:xfrm>
          <a:prstGeom prst="bentConnector3">
            <a:avLst/>
          </a:prstGeom>
          <a:ln w="28575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meta_head_col_1"/>
          <p:cNvSpPr/>
          <p:nvPr/>
        </p:nvSpPr>
        <p:spPr>
          <a:xfrm>
            <a:off x="411480" y="2672588"/>
            <a:ext cx="3606698" cy="41148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Setting objectives &amp; targets</a:t>
            </a:r>
          </a:p>
        </p:txBody>
      </p:sp>
      <p:sp>
        <p:nvSpPr>
          <p:cNvPr id="17" name="body_col_1"/>
          <p:cNvSpPr txBox="1"/>
          <p:nvPr/>
        </p:nvSpPr>
        <p:spPr>
          <a:xfrm>
            <a:off x="411480" y="3129788"/>
            <a:ext cx="3606698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Getting from a vision to specific objectives for the partnership and its bodies, rather than directly to activities</a:t>
            </a:r>
          </a:p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Aligning divergent partner views on which objectives to pursue</a:t>
            </a:r>
          </a:p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Committing to targets is difficult because some targets are not entirely deliverable by the partnership, the voluntary nature of partnerships, and consequences of missing targets (e.g., future funding)</a:t>
            </a:r>
          </a:p>
        </p:txBody>
      </p:sp>
      <p:sp>
        <p:nvSpPr>
          <p:cNvPr id="18" name="meta_head_col_2"/>
          <p:cNvSpPr/>
          <p:nvPr/>
        </p:nvSpPr>
        <p:spPr>
          <a:xfrm>
            <a:off x="4292498" y="2672588"/>
            <a:ext cx="3606698" cy="41148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Metrics &amp; data</a:t>
            </a:r>
          </a:p>
        </p:txBody>
      </p:sp>
      <p:sp>
        <p:nvSpPr>
          <p:cNvPr id="19" name="body_col_2"/>
          <p:cNvSpPr txBox="1"/>
          <p:nvPr/>
        </p:nvSpPr>
        <p:spPr>
          <a:xfrm>
            <a:off x="4292498" y="3129788"/>
            <a:ext cx="3606698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Agreeing the right metrics for objectives that are difficult to measure, e.g., awareness about TB</a:t>
            </a:r>
          </a:p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Aligning organization structures with performance drivers and metrics to enable clear accountability</a:t>
            </a:r>
          </a:p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Getting good performance data given in-country data-gathering limitations</a:t>
            </a:r>
          </a:p>
        </p:txBody>
      </p:sp>
      <p:sp>
        <p:nvSpPr>
          <p:cNvPr id="20" name="meta_head_col_3"/>
          <p:cNvSpPr/>
          <p:nvPr/>
        </p:nvSpPr>
        <p:spPr>
          <a:xfrm>
            <a:off x="8173516" y="2672588"/>
            <a:ext cx="3606698" cy="41148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Advocacy specifics</a:t>
            </a:r>
          </a:p>
        </p:txBody>
      </p:sp>
      <p:sp>
        <p:nvSpPr>
          <p:cNvPr id="21" name="body_col_3"/>
          <p:cNvSpPr txBox="1"/>
          <p:nvPr/>
        </p:nvSpPr>
        <p:spPr>
          <a:xfrm>
            <a:off x="8173516" y="3129788"/>
            <a:ext cx="3606698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Setting advocacy objectives that stay current and relevant in changing external circumstances</a:t>
            </a:r>
          </a:p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Finding and making visible tactical advocacy opportunities for partners</a:t>
            </a:r>
          </a:p>
        </p:txBody>
      </p:sp>
      <p:sp>
        <p:nvSpPr>
          <p:cNvPr id="22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Source: Interviews with Stop TB Partnership, GAVI, and UNAIDS.</a:t>
            </a:r>
          </a:p>
        </p:txBody>
      </p:sp>
      <p:sp>
        <p:nvSpPr>
          <p:cNvPr id="23" name="meta_pagenum_9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D3A4B"/>
                </a:solidFill>
                <a:latin typeface="Georgia"/>
              </a:rPr>
              <a:t>Many GHPs also struggle with the right enablers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ta_head_quad_1"/>
          <p:cNvSpPr/>
          <p:nvPr/>
        </p:nvSpPr>
        <p:spPr>
          <a:xfrm>
            <a:off x="411480" y="1344168"/>
            <a:ext cx="5547207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Committed leadership</a:t>
            </a:r>
          </a:p>
        </p:txBody>
      </p:sp>
      <p:sp>
        <p:nvSpPr>
          <p:cNvPr id="5" name="body_quad_1"/>
          <p:cNvSpPr txBox="1"/>
          <p:nvPr/>
        </p:nvSpPr>
        <p:spPr>
          <a:xfrm>
            <a:off x="411480" y="1801368"/>
            <a:ext cx="5547207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53670" indent="-15367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Ensuring leaders regularly lead and participate in performance reviews, in spite of many other calls on their time.</a:t>
            </a:r>
          </a:p>
        </p:txBody>
      </p:sp>
      <p:sp>
        <p:nvSpPr>
          <p:cNvPr id="6" name="meta_head_quad_2"/>
          <p:cNvSpPr/>
          <p:nvPr/>
        </p:nvSpPr>
        <p:spPr>
          <a:xfrm>
            <a:off x="6233007" y="1344168"/>
            <a:ext cx="5547207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Capacity</a:t>
            </a:r>
          </a:p>
        </p:txBody>
      </p:sp>
      <p:sp>
        <p:nvSpPr>
          <p:cNvPr id="7" name="body_quad_2"/>
          <p:cNvSpPr txBox="1"/>
          <p:nvPr/>
        </p:nvSpPr>
        <p:spPr>
          <a:xfrm>
            <a:off x="6233007" y="1801368"/>
            <a:ext cx="5547207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53670" indent="-15367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Allocating appropriate resources to performance management given limited resources for internal processes.</a:t>
            </a:r>
          </a:p>
        </p:txBody>
      </p:sp>
      <p:sp>
        <p:nvSpPr>
          <p:cNvPr id="8" name="meta_head_quad_3"/>
          <p:cNvSpPr/>
          <p:nvPr/>
        </p:nvSpPr>
        <p:spPr>
          <a:xfrm>
            <a:off x="411480" y="3447288"/>
            <a:ext cx="5547207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Communications</a:t>
            </a:r>
          </a:p>
        </p:txBody>
      </p:sp>
      <p:sp>
        <p:nvSpPr>
          <p:cNvPr id="9" name="body_quad_3"/>
          <p:cNvSpPr txBox="1"/>
          <p:nvPr/>
        </p:nvSpPr>
        <p:spPr>
          <a:xfrm>
            <a:off x="411480" y="3904488"/>
            <a:ext cx="5547207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53670" indent="-15367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Establishing a shared understanding of accountability across the different backgrounds of partners; keeping partners in a loose working group engaged and motivated.</a:t>
            </a:r>
          </a:p>
        </p:txBody>
      </p:sp>
      <p:sp>
        <p:nvSpPr>
          <p:cNvPr id="10" name="meta_head_quad_4"/>
          <p:cNvSpPr/>
          <p:nvPr/>
        </p:nvSpPr>
        <p:spPr>
          <a:xfrm>
            <a:off x="6233007" y="3447288"/>
            <a:ext cx="5547207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Culture</a:t>
            </a:r>
          </a:p>
        </p:txBody>
      </p:sp>
      <p:sp>
        <p:nvSpPr>
          <p:cNvPr id="11" name="body_quad_4"/>
          <p:cNvSpPr txBox="1"/>
          <p:nvPr/>
        </p:nvSpPr>
        <p:spPr>
          <a:xfrm>
            <a:off x="6233007" y="3904488"/>
            <a:ext cx="5547207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53670" indent="-15367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Moving from a culture of performance measurement (extensive reporting) to performance management (open discussion of outcomes); defining ambitious goals despite a consensus-building culture that tends toward abstract objectives.</a:t>
            </a:r>
          </a:p>
        </p:txBody>
      </p:sp>
      <p:sp>
        <p:nvSpPr>
          <p:cNvPr id="12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Source: Interviews with Stop TB Partnership, GAVI, and UNAIDS.</a:t>
            </a:r>
          </a:p>
        </p:txBody>
      </p:sp>
      <p:sp>
        <p:nvSpPr>
          <p:cNvPr id="13" name="meta_pagenum_10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D3A4B"/>
                </a:solidFill>
                <a:latin typeface="Georgia"/>
              </a:rPr>
              <a:t>The Stop TB Partnership displays a number of strengths across performance processes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ta_head_strengths"/>
          <p:cNvSpPr/>
          <p:nvPr/>
        </p:nvSpPr>
        <p:spPr>
          <a:xfrm>
            <a:off x="411480" y="1344168"/>
            <a:ext cx="11368735" cy="41148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Strengths across performance processes</a:t>
            </a:r>
          </a:p>
        </p:txBody>
      </p:sp>
      <p:sp>
        <p:nvSpPr>
          <p:cNvPr id="5" name="body_strengths"/>
          <p:cNvSpPr txBox="1"/>
          <p:nvPr/>
        </p:nvSpPr>
        <p:spPr>
          <a:xfrm>
            <a:off x="411480" y="1801368"/>
            <a:ext cx="11368735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Aft>
                <a:spcPts val="800"/>
              </a:spcAft>
              <a:buFont typeface="Arial"/>
              <a:buChar char="▪"/>
            </a:pPr>
            <a:r>
              <a:rPr sz="1200" b="1" i="0">
                <a:solidFill>
                  <a:srgbClr val="2D3A4B"/>
                </a:solidFill>
                <a:latin typeface="Arial"/>
              </a:rPr>
              <a:t>Setting objectives</a:t>
            </a:r>
            <a:r>
              <a:rPr sz="1200" b="0" i="0">
                <a:solidFill>
                  <a:srgbClr val="2D3A4B"/>
                </a:solidFill>
                <a:latin typeface="Arial"/>
              </a:rPr>
              <a:t> — GDF objectives are clearly defined and distinguish the change GDF hopes to bring about in the world (e.g., MDGs — 70% of TB cases diagnosed, 85% cure rate) from the internal goals it sets itself</a:t>
            </a:r>
          </a:p>
          <a:p>
            <a:pPr algn="l" marL="167640" indent="-167640">
              <a:spcAft>
                <a:spcPts val="800"/>
              </a:spcAft>
              <a:buFont typeface="Arial"/>
              <a:buChar char="▪"/>
            </a:pPr>
            <a:r>
              <a:rPr sz="1200" b="1" i="0">
                <a:solidFill>
                  <a:srgbClr val="2D3A4B"/>
                </a:solidFill>
                <a:latin typeface="Arial"/>
              </a:rPr>
              <a:t>Tracking and disseminating metrics</a:t>
            </a:r>
            <a:r>
              <a:rPr sz="1200" b="0" i="0">
                <a:solidFill>
                  <a:srgbClr val="2D3A4B"/>
                </a:solidFill>
                <a:latin typeface="Arial"/>
              </a:rPr>
              <a:t> — despite limited resources, GDF tracks and reports on a wide variety of metrics to meet the different demands of donors</a:t>
            </a:r>
          </a:p>
          <a:p>
            <a:pPr algn="l" marL="167640" indent="-167640">
              <a:spcAft>
                <a:spcPts val="800"/>
              </a:spcAft>
              <a:buFont typeface="Arial"/>
              <a:buChar char="▪"/>
            </a:pPr>
            <a:r>
              <a:rPr sz="1200" b="1" i="0">
                <a:solidFill>
                  <a:srgbClr val="2D3A4B"/>
                </a:solidFill>
                <a:latin typeface="Arial"/>
              </a:rPr>
              <a:t>Establishing clear metrics and setting targets</a:t>
            </a:r>
            <a:r>
              <a:rPr sz="1200" b="0" i="0">
                <a:solidFill>
                  <a:srgbClr val="2D3A4B"/>
                </a:solidFill>
                <a:latin typeface="Arial"/>
              </a:rPr>
              <a:t> — the MDR-TB Working Group defines concrete metrics (e.g., patients with access to MDR-TB treatment) and sets specific targets (e.g., for 2009: 200,000 patients, 4 projects)</a:t>
            </a:r>
          </a:p>
          <a:p>
            <a:pPr algn="l" marL="167640" indent="-167640">
              <a:spcAft>
                <a:spcPts val="800"/>
              </a:spcAft>
              <a:buFont typeface="Arial"/>
              <a:buChar char="▪"/>
            </a:pPr>
            <a:r>
              <a:rPr sz="1200" b="1" i="0">
                <a:solidFill>
                  <a:srgbClr val="2D3A4B"/>
                </a:solidFill>
                <a:latin typeface="Arial"/>
              </a:rPr>
              <a:t>Reviewing performance</a:t>
            </a:r>
            <a:r>
              <a:rPr sz="1200" b="0" i="0">
                <a:solidFill>
                  <a:srgbClr val="2D3A4B"/>
                </a:solidFill>
                <a:latin typeface="Arial"/>
              </a:rPr>
              <a:t> — the Advocacy Team conducts an in-depth review of performance against objectives stated in its funding proposal, taking stock of results and lessons learned</a:t>
            </a:r>
          </a:p>
        </p:txBody>
      </p:sp>
      <p:sp>
        <p:nvSpPr>
          <p:cNvPr id="6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Source: McKinsey analysis; interviews.</a:t>
            </a:r>
          </a:p>
        </p:txBody>
      </p:sp>
      <p:sp>
        <p:nvSpPr>
          <p:cNvPr id="7" name="meta_pagenum_11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972800" cy="6426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D3A4B"/>
                </a:solidFill>
                <a:latin typeface="Georgia"/>
              </a:rPr>
              <a:t>Brief overview of performance issues we jointly agreed to address across the five Partnership bodies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8211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ta_caption_table_issues"/>
          <p:cNvSpPr txBox="1"/>
          <p:nvPr/>
        </p:nvSpPr>
        <p:spPr>
          <a:xfrm>
            <a:off x="411480" y="1346708"/>
            <a:ext cx="1136873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B7785"/>
                </a:solidFill>
                <a:latin typeface="Arial"/>
              </a:rPr>
              <a:t>Performance issues agreed across the five Partnership bodies</a:t>
            </a:r>
          </a:p>
        </p:txBody>
      </p:sp>
      <p:graphicFrame>
        <p:nvGraphicFramePr>
          <p:cNvPr id="5" name="table_issues"/>
          <p:cNvGraphicFramePr>
            <a:graphicFrameLocks noGrp="1"/>
          </p:cNvGraphicFramePr>
          <p:nvPr/>
        </p:nvGraphicFramePr>
        <p:xfrm>
          <a:off x="411480" y="1621028"/>
          <a:ext cx="1136873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931920"/>
                <a:gridCol w="4967935"/>
              </a:tblGrid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Partnership body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Central GHP performance issue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Specific question addressed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GDF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Agreeing the right metrics for objectives that are difficult to 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GDF tracks 250 metrics, but not all relate to GDF, some overlap, and metrics are not organized hierarchically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Advocacy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Setting advocacy objectives that stay current and relevant in changing external circumstances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Setting advocacy objectives within Stop TB that stay current; finding and making visible tactical opportunities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Comms, Marketing &amp; Branding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Getting from a vision to specific objectives rather than directly to 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Determining detailed objectives for each audience group and defining metrics for each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Challenge Facility for Civil Society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Getting from a vision to specific objectives rather than directly to 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Refining the mission based on the first two years' experience and articulating specific objectives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MDR-TB Working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Agreeing the right metrics for objectives that are difficult to 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Tying metrics explicitly to WG objectives; clarifying accountabilities and timelines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Source: McKinsey analysis.</a:t>
            </a:r>
          </a:p>
        </p:txBody>
      </p:sp>
      <p:sp>
        <p:nvSpPr>
          <p:cNvPr id="7" name="meta_pagenum_12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972800" cy="6426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D3A4B"/>
                </a:solidFill>
                <a:latin typeface="Georgia"/>
              </a:rPr>
              <a:t>While most of the 250 metrics were relevant and helpful to GDF, data collection and reporting was onerous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8211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_quote_1"/>
          <p:cNvSpPr/>
          <p:nvPr/>
        </p:nvSpPr>
        <p:spPr>
          <a:xfrm>
            <a:off x="411480" y="1346708"/>
            <a:ext cx="2670733" cy="1371600"/>
          </a:xfrm>
          <a:prstGeom prst="rect">
            <a:avLst/>
          </a:prstGeom>
          <a:solidFill>
            <a:srgbClr val="F4F6FB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101600" bIns="101600">
            <a:no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  <a:latin typeface="Arial"/>
              </a:rPr>
              <a:t>“ </a:t>
            </a:r>
            <a:r>
              <a:rPr sz="1100" b="0" i="1">
                <a:solidFill>
                  <a:srgbClr val="2D3A4B"/>
                </a:solidFill>
                <a:latin typeface="Arial"/>
              </a:rPr>
              <a:t>All together we report on over 200 KPIs that cover our numerous external reporting requirements</a:t>
            </a:r>
          </a:p>
        </p:txBody>
      </p:sp>
      <p:sp>
        <p:nvSpPr>
          <p:cNvPr id="5" name="card_quote_2"/>
          <p:cNvSpPr/>
          <p:nvPr/>
        </p:nvSpPr>
        <p:spPr>
          <a:xfrm>
            <a:off x="3310813" y="1346708"/>
            <a:ext cx="2670733" cy="1371600"/>
          </a:xfrm>
          <a:prstGeom prst="rect">
            <a:avLst/>
          </a:prstGeom>
          <a:solidFill>
            <a:srgbClr val="F4F6FB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101600" bIns="101600">
            <a:no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  <a:latin typeface="Arial"/>
              </a:rPr>
              <a:t>“ </a:t>
            </a:r>
            <a:r>
              <a:rPr sz="1100" b="0" i="1">
                <a:solidFill>
                  <a:srgbClr val="2D3A4B"/>
                </a:solidFill>
                <a:latin typeface="Arial"/>
              </a:rPr>
              <a:t>Most individual KPIs are relevant and helpful</a:t>
            </a:r>
          </a:p>
        </p:txBody>
      </p:sp>
      <p:sp>
        <p:nvSpPr>
          <p:cNvPr id="6" name="card_quote_3"/>
          <p:cNvSpPr/>
          <p:nvPr/>
        </p:nvSpPr>
        <p:spPr>
          <a:xfrm>
            <a:off x="6210147" y="1346708"/>
            <a:ext cx="2670733" cy="1371600"/>
          </a:xfrm>
          <a:prstGeom prst="rect">
            <a:avLst/>
          </a:prstGeom>
          <a:solidFill>
            <a:srgbClr val="F4F6FB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101600" bIns="101600">
            <a:no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  <a:latin typeface="Arial"/>
              </a:rPr>
              <a:t>“ </a:t>
            </a:r>
            <a:r>
              <a:rPr sz="1100" b="0" i="1">
                <a:solidFill>
                  <a:srgbClr val="2D3A4B"/>
                </a:solidFill>
                <a:latin typeface="Arial"/>
              </a:rPr>
              <a:t>KPIs are specific and measurable</a:t>
            </a:r>
          </a:p>
        </p:txBody>
      </p:sp>
      <p:sp>
        <p:nvSpPr>
          <p:cNvPr id="7" name="card_quote_4"/>
          <p:cNvSpPr/>
          <p:nvPr/>
        </p:nvSpPr>
        <p:spPr>
          <a:xfrm>
            <a:off x="9109481" y="1346708"/>
            <a:ext cx="2670733" cy="1371600"/>
          </a:xfrm>
          <a:prstGeom prst="rect">
            <a:avLst/>
          </a:prstGeom>
          <a:solidFill>
            <a:srgbClr val="F4F6FB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101600" bIns="101600">
            <a:no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  <a:latin typeface="Arial"/>
              </a:rPr>
              <a:t>“ </a:t>
            </a:r>
            <a:r>
              <a:rPr sz="1100" b="0" i="1">
                <a:solidFill>
                  <a:srgbClr val="2D3A4B"/>
                </a:solidFill>
                <a:latin typeface="Arial"/>
              </a:rPr>
              <a:t>It is difficult to define metrics for some areas, so we have KPI gaps</a:t>
            </a:r>
          </a:p>
        </p:txBody>
      </p:sp>
      <p:sp>
        <p:nvSpPr>
          <p:cNvPr id="8" name="card_quote_5"/>
          <p:cNvSpPr/>
          <p:nvPr/>
        </p:nvSpPr>
        <p:spPr>
          <a:xfrm>
            <a:off x="411480" y="2992628"/>
            <a:ext cx="2670733" cy="1371600"/>
          </a:xfrm>
          <a:prstGeom prst="rect">
            <a:avLst/>
          </a:prstGeom>
          <a:solidFill>
            <a:srgbClr val="F4F6FB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101600" bIns="101600">
            <a:no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  <a:latin typeface="Arial"/>
              </a:rPr>
              <a:t>“ </a:t>
            </a:r>
            <a:r>
              <a:rPr sz="1100" b="0" i="1">
                <a:solidFill>
                  <a:srgbClr val="2D3A4B"/>
                </a:solidFill>
                <a:latin typeface="Arial"/>
              </a:rPr>
              <a:t>Some of our KPIs overlap, so it is unclear what we are optimizing for</a:t>
            </a:r>
          </a:p>
        </p:txBody>
      </p:sp>
      <p:sp>
        <p:nvSpPr>
          <p:cNvPr id="9" name="card_quote_6"/>
          <p:cNvSpPr/>
          <p:nvPr/>
        </p:nvSpPr>
        <p:spPr>
          <a:xfrm>
            <a:off x="3310813" y="2992628"/>
            <a:ext cx="2670733" cy="1371600"/>
          </a:xfrm>
          <a:prstGeom prst="rect">
            <a:avLst/>
          </a:prstGeom>
          <a:solidFill>
            <a:srgbClr val="F4F6FB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101600" bIns="101600">
            <a:no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  <a:latin typeface="Arial"/>
              </a:rPr>
              <a:t>“ </a:t>
            </a:r>
            <a:r>
              <a:rPr sz="1100" b="0" i="1">
                <a:solidFill>
                  <a:srgbClr val="2D3A4B"/>
                </a:solidFill>
                <a:latin typeface="Arial"/>
              </a:rPr>
              <a:t>It takes too much time to collect the information and adapt it to our 200+ KPIs</a:t>
            </a:r>
          </a:p>
        </p:txBody>
      </p:sp>
      <p:sp>
        <p:nvSpPr>
          <p:cNvPr id="10" name="card_quote_7"/>
          <p:cNvSpPr/>
          <p:nvPr/>
        </p:nvSpPr>
        <p:spPr>
          <a:xfrm>
            <a:off x="6210147" y="2992628"/>
            <a:ext cx="2670733" cy="1371600"/>
          </a:xfrm>
          <a:prstGeom prst="rect">
            <a:avLst/>
          </a:prstGeom>
          <a:solidFill>
            <a:srgbClr val="F4F6FB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101600" bIns="101600">
            <a:no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  <a:latin typeface="Arial"/>
              </a:rPr>
              <a:t>“ </a:t>
            </a:r>
            <a:r>
              <a:rPr sz="1100" b="0" i="1">
                <a:solidFill>
                  <a:srgbClr val="2D3A4B"/>
                </a:solidFill>
                <a:latin typeface="Arial"/>
              </a:rPr>
              <a:t>Since the hierarchy of KPIs is not clear, it is hard to prioritize</a:t>
            </a:r>
          </a:p>
        </p:txBody>
      </p:sp>
      <p:sp>
        <p:nvSpPr>
          <p:cNvPr id="11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Source: Interviews.</a:t>
            </a:r>
          </a:p>
        </p:txBody>
      </p:sp>
      <p:sp>
        <p:nvSpPr>
          <p:cNvPr id="12" name="meta_pagenum_13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972800" cy="6426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D3A4B"/>
                </a:solidFill>
                <a:latin typeface="Georgia"/>
              </a:rPr>
              <a:t>The team followed an eight-step process to create streamlined, structured KPIs, dashboards, and review meetings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8211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_step_a"/>
          <p:cNvSpPr/>
          <p:nvPr/>
        </p:nvSpPr>
        <p:spPr>
          <a:xfrm>
            <a:off x="411480" y="1346708"/>
            <a:ext cx="2670733" cy="1645920"/>
          </a:xfrm>
          <a:prstGeom prst="rect">
            <a:avLst/>
          </a:prstGeom>
          <a:solidFill>
            <a:srgbClr val="F4F6FB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88900" bIns="88900">
            <a:noAutofit/>
          </a:bodyPr>
          <a:lstStyle/>
          <a:p>
            <a:pPr algn="ctr"/>
            <a:r>
              <a:rPr sz="1700" b="1" i="0">
                <a:solidFill>
                  <a:srgbClr val="1F3864"/>
                </a:solidFill>
                <a:latin typeface="Arial"/>
              </a:rPr>
              <a:t>a</a:t>
            </a:r>
            <a:r>
              <a:rPr sz="1100" b="0" i="0">
                <a:solidFill>
                  <a:srgbClr val="2D3A4B"/>
                </a:solidFill>
                <a:latin typeface="Arial"/>
              </a:rPr>
              <a:t>  Collate all GDF metrics reported on into one database: ~250 in total</a:t>
            </a:r>
          </a:p>
        </p:txBody>
      </p:sp>
      <p:sp>
        <p:nvSpPr>
          <p:cNvPr id="5" name="card_step_b"/>
          <p:cNvSpPr/>
          <p:nvPr/>
        </p:nvSpPr>
        <p:spPr>
          <a:xfrm>
            <a:off x="3310813" y="1346708"/>
            <a:ext cx="2670733" cy="1645920"/>
          </a:xfrm>
          <a:prstGeom prst="rect">
            <a:avLst/>
          </a:prstGeom>
          <a:solidFill>
            <a:srgbClr val="F4F6FB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88900" bIns="88900">
            <a:noAutofit/>
          </a:bodyPr>
          <a:lstStyle/>
          <a:p>
            <a:pPr algn="ctr"/>
            <a:r>
              <a:rPr sz="1700" b="1" i="0">
                <a:solidFill>
                  <a:srgbClr val="1F3864"/>
                </a:solidFill>
                <a:latin typeface="Arial"/>
              </a:rPr>
              <a:t>b</a:t>
            </a:r>
            <a:r>
              <a:rPr sz="1100" b="0" i="0">
                <a:solidFill>
                  <a:srgbClr val="2D3A4B"/>
                </a:solidFill>
                <a:latin typeface="Arial"/>
              </a:rPr>
              <a:t>  Agree on GDF objectives and cluster metrics/KPIs to objectives</a:t>
            </a:r>
          </a:p>
        </p:txBody>
      </p:sp>
      <p:sp>
        <p:nvSpPr>
          <p:cNvPr id="6" name="card_step_c"/>
          <p:cNvSpPr/>
          <p:nvPr/>
        </p:nvSpPr>
        <p:spPr>
          <a:xfrm>
            <a:off x="6210147" y="1346708"/>
            <a:ext cx="2670733" cy="1645920"/>
          </a:xfrm>
          <a:prstGeom prst="rect">
            <a:avLst/>
          </a:prstGeom>
          <a:solidFill>
            <a:srgbClr val="F4F6FB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88900" bIns="88900">
            <a:noAutofit/>
          </a:bodyPr>
          <a:lstStyle/>
          <a:p>
            <a:pPr algn="ctr"/>
            <a:r>
              <a:rPr sz="1700" b="1" i="0">
                <a:solidFill>
                  <a:srgbClr val="1F3864"/>
                </a:solidFill>
                <a:latin typeface="Arial"/>
              </a:rPr>
              <a:t>c</a:t>
            </a:r>
            <a:r>
              <a:rPr sz="1100" b="0" i="0">
                <a:solidFill>
                  <a:srgbClr val="2D3A4B"/>
                </a:solidFill>
                <a:latin typeface="Arial"/>
              </a:rPr>
              <a:t>  Develop a detailed KPI tree for each objective</a:t>
            </a:r>
          </a:p>
        </p:txBody>
      </p:sp>
      <p:sp>
        <p:nvSpPr>
          <p:cNvPr id="7" name="card_step_d"/>
          <p:cNvSpPr/>
          <p:nvPr/>
        </p:nvSpPr>
        <p:spPr>
          <a:xfrm>
            <a:off x="9109481" y="1346708"/>
            <a:ext cx="2670733" cy="1645920"/>
          </a:xfrm>
          <a:prstGeom prst="rect">
            <a:avLst/>
          </a:prstGeom>
          <a:solidFill>
            <a:srgbClr val="F4F6FB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88900" bIns="88900">
            <a:noAutofit/>
          </a:bodyPr>
          <a:lstStyle/>
          <a:p>
            <a:pPr algn="ctr"/>
            <a:r>
              <a:rPr sz="1700" b="1" i="0">
                <a:solidFill>
                  <a:srgbClr val="1F3864"/>
                </a:solidFill>
                <a:latin typeface="Arial"/>
              </a:rPr>
              <a:t>d</a:t>
            </a:r>
            <a:r>
              <a:rPr sz="1100" b="0" i="0">
                <a:solidFill>
                  <a:srgbClr val="2D3A4B"/>
                </a:solidFill>
                <a:latin typeface="Arial"/>
              </a:rPr>
              <a:t>  Streamline detailed trees, excluding activity-related or non-GDF-owned KPIs</a:t>
            </a:r>
          </a:p>
        </p:txBody>
      </p:sp>
      <p:sp>
        <p:nvSpPr>
          <p:cNvPr id="8" name="card_step_e"/>
          <p:cNvSpPr/>
          <p:nvPr/>
        </p:nvSpPr>
        <p:spPr>
          <a:xfrm>
            <a:off x="411480" y="3266948"/>
            <a:ext cx="2670733" cy="1645920"/>
          </a:xfrm>
          <a:prstGeom prst="rect">
            <a:avLst/>
          </a:prstGeom>
          <a:solidFill>
            <a:srgbClr val="F4F6FB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88900" bIns="88900">
            <a:noAutofit/>
          </a:bodyPr>
          <a:lstStyle/>
          <a:p>
            <a:pPr algn="ctr"/>
            <a:r>
              <a:rPr sz="1700" b="1" i="0">
                <a:solidFill>
                  <a:srgbClr val="1F3864"/>
                </a:solidFill>
                <a:latin typeface="Arial"/>
              </a:rPr>
              <a:t>e</a:t>
            </a:r>
            <a:r>
              <a:rPr sz="1100" b="0" i="0">
                <a:solidFill>
                  <a:srgbClr val="2D3A4B"/>
                </a:solidFill>
                <a:latin typeface="Arial"/>
              </a:rPr>
              <a:t>  Assign owners to, and define review frequency of, each KPI</a:t>
            </a:r>
          </a:p>
        </p:txBody>
      </p:sp>
      <p:sp>
        <p:nvSpPr>
          <p:cNvPr id="9" name="card_step_f"/>
          <p:cNvSpPr/>
          <p:nvPr/>
        </p:nvSpPr>
        <p:spPr>
          <a:xfrm>
            <a:off x="3310813" y="3266948"/>
            <a:ext cx="2670733" cy="1645920"/>
          </a:xfrm>
          <a:prstGeom prst="rect">
            <a:avLst/>
          </a:prstGeom>
          <a:solidFill>
            <a:srgbClr val="F4F6FB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88900" bIns="88900">
            <a:noAutofit/>
          </a:bodyPr>
          <a:lstStyle/>
          <a:p>
            <a:pPr algn="ctr"/>
            <a:r>
              <a:rPr sz="1700" b="1" i="0">
                <a:solidFill>
                  <a:srgbClr val="1F3864"/>
                </a:solidFill>
                <a:latin typeface="Arial"/>
              </a:rPr>
              <a:t>f</a:t>
            </a:r>
            <a:r>
              <a:rPr sz="1100" b="0" i="0">
                <a:solidFill>
                  <a:srgbClr val="2D3A4B"/>
                </a:solidFill>
                <a:latin typeface="Arial"/>
              </a:rPr>
              <a:t>  Develop a clear cascade of KPIs from teams up to the COO annual performance review</a:t>
            </a:r>
          </a:p>
        </p:txBody>
      </p:sp>
      <p:sp>
        <p:nvSpPr>
          <p:cNvPr id="10" name="card_step_g"/>
          <p:cNvSpPr/>
          <p:nvPr/>
        </p:nvSpPr>
        <p:spPr>
          <a:xfrm>
            <a:off x="6210147" y="3266948"/>
            <a:ext cx="2670733" cy="1645920"/>
          </a:xfrm>
          <a:prstGeom prst="rect">
            <a:avLst/>
          </a:prstGeom>
          <a:solidFill>
            <a:srgbClr val="F4F6FB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88900" bIns="88900">
            <a:noAutofit/>
          </a:bodyPr>
          <a:lstStyle/>
          <a:p>
            <a:pPr algn="ctr"/>
            <a:r>
              <a:rPr sz="1700" b="1" i="0">
                <a:solidFill>
                  <a:srgbClr val="1F3864"/>
                </a:solidFill>
                <a:latin typeface="Arial"/>
              </a:rPr>
              <a:t>g</a:t>
            </a:r>
            <a:r>
              <a:rPr sz="1100" b="0" i="0">
                <a:solidFill>
                  <a:srgbClr val="2D3A4B"/>
                </a:solidFill>
                <a:latin typeface="Arial"/>
              </a:rPr>
              <a:t>  Create dashboards and review calendars for each team</a:t>
            </a:r>
          </a:p>
        </p:txBody>
      </p:sp>
      <p:sp>
        <p:nvSpPr>
          <p:cNvPr id="11" name="card_step_h"/>
          <p:cNvSpPr/>
          <p:nvPr/>
        </p:nvSpPr>
        <p:spPr>
          <a:xfrm>
            <a:off x="9109481" y="3266948"/>
            <a:ext cx="2670733" cy="1645920"/>
          </a:xfrm>
          <a:prstGeom prst="rect">
            <a:avLst/>
          </a:prstGeom>
          <a:solidFill>
            <a:srgbClr val="F4F6FB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88900" bIns="88900">
            <a:noAutofit/>
          </a:bodyPr>
          <a:lstStyle/>
          <a:p>
            <a:pPr algn="ctr"/>
            <a:r>
              <a:rPr sz="1700" b="1" i="0">
                <a:solidFill>
                  <a:srgbClr val="1F3864"/>
                </a:solidFill>
                <a:latin typeface="Arial"/>
              </a:rPr>
              <a:t>h</a:t>
            </a:r>
            <a:r>
              <a:rPr sz="1100" b="0" i="0">
                <a:solidFill>
                  <a:srgbClr val="2D3A4B"/>
                </a:solidFill>
                <a:latin typeface="Arial"/>
              </a:rPr>
              <a:t>  Hold a workshop on conducting performance dialogues</a:t>
            </a:r>
          </a:p>
        </p:txBody>
      </p:sp>
      <p:sp>
        <p:nvSpPr>
          <p:cNvPr id="12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Source: McKinsey analysis.</a:t>
            </a:r>
          </a:p>
        </p:txBody>
      </p:sp>
      <p:sp>
        <p:nvSpPr>
          <p:cNvPr id="13" name="meta_pagenum_14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972800" cy="6426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D3A4B"/>
                </a:solidFill>
                <a:latin typeface="Georgia"/>
              </a:rPr>
              <a:t>Seven KPIs give a clear overview of GDF's performance against its three main objectives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8211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ta_caption_table_kpitree"/>
          <p:cNvSpPr txBox="1"/>
          <p:nvPr/>
        </p:nvSpPr>
        <p:spPr>
          <a:xfrm>
            <a:off x="411480" y="1346708"/>
            <a:ext cx="1136873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B7785"/>
                </a:solidFill>
                <a:latin typeface="Arial"/>
              </a:rPr>
              <a:t>Seven KPIs map to GDF's three main objectives</a:t>
            </a:r>
          </a:p>
        </p:txBody>
      </p:sp>
      <p:graphicFrame>
        <p:nvGraphicFramePr>
          <p:cNvPr id="5" name="table_kpitree"/>
          <p:cNvGraphicFramePr>
            <a:graphicFrameLocks noGrp="1"/>
          </p:cNvGraphicFramePr>
          <p:nvPr/>
        </p:nvGraphicFramePr>
        <p:xfrm>
          <a:off x="411480" y="1621028"/>
          <a:ext cx="1136873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6766560"/>
                <a:gridCol w="4053535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KPI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Provide uninterrupted supply of 1st- and 2nd-line TB drugs and diagnostics (low-cost, high-quality, timely, demand-driven, to eligible countries)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Number of patient treatments delivered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(same objective)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Average cost per patient treatment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2a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Sustainably strengthen eligible countries' national drug management, procurement capacity, and financial self-sufficiency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Number of countries that move to direct procurement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3a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Ensure appropriate and efficient staffing and funding to drive the 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Organizational health and culture index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(same objective)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Staff capacity and capability index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3c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(same objective)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Funds raised vs. required for GDF administrative costs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3d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(same objective)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Funds raised vs. required for GDF activities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Source: McKinsey analysis; Annual GDF report 2008.</a:t>
            </a:r>
          </a:p>
        </p:txBody>
      </p:sp>
      <p:sp>
        <p:nvSpPr>
          <p:cNvPr id="7" name="meta_pagenum_15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972800" cy="6426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D3A4B"/>
                </a:solidFill>
                <a:latin typeface="Georgia"/>
              </a:rPr>
              <a:t>The COO's annual dashboard tracks cost and volume against target across treatment lines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8211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ta_eyebrow"/>
          <p:cNvSpPr txBox="1"/>
          <p:nvPr/>
        </p:nvSpPr>
        <p:spPr>
          <a:xfrm>
            <a:off x="411480" y="134670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75B6"/>
                </a:solidFill>
                <a:latin typeface="Arial"/>
              </a:rPr>
              <a:t>ILLUSTRATIVE — DUMMY NUMBERS</a:t>
            </a:r>
          </a:p>
        </p:txBody>
      </p:sp>
      <p:sp>
        <p:nvSpPr>
          <p:cNvPr id="5" name="meta_caption_chart_dashboard"/>
          <p:cNvSpPr txBox="1"/>
          <p:nvPr/>
        </p:nvSpPr>
        <p:spPr>
          <a:xfrm>
            <a:off x="411480" y="1575308"/>
            <a:ext cx="7040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B7785"/>
                </a:solidFill>
                <a:latin typeface="Arial"/>
              </a:rPr>
              <a:t>Average cost per patient treatment or diagnostic unit (USD), Actual vs. Target</a:t>
            </a:r>
          </a:p>
        </p:txBody>
      </p:sp>
      <p:graphicFrame>
        <p:nvGraphicFramePr>
          <p:cNvPr id="6" name="chart_dashboard"/>
          <p:cNvGraphicFramePr>
            <a:graphicFrameLocks noGrp="1"/>
          </p:cNvGraphicFramePr>
          <p:nvPr/>
        </p:nvGraphicFramePr>
        <p:xfrm>
          <a:off x="411480" y="1849628"/>
          <a:ext cx="704088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meta_caption_table_funds"/>
          <p:cNvSpPr txBox="1"/>
          <p:nvPr/>
        </p:nvSpPr>
        <p:spPr>
          <a:xfrm>
            <a:off x="7772400" y="157530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B7785"/>
                </a:solidFill>
                <a:latin typeface="Arial"/>
              </a:rPr>
              <a:t>Funds raised vs. required ($M)</a:t>
            </a:r>
          </a:p>
        </p:txBody>
      </p:sp>
      <p:graphicFrame>
        <p:nvGraphicFramePr>
          <p:cNvPr id="8" name="table_funds"/>
          <p:cNvGraphicFramePr>
            <a:graphicFrameLocks noGrp="1"/>
          </p:cNvGraphicFramePr>
          <p:nvPr/>
        </p:nvGraphicFramePr>
        <p:xfrm>
          <a:off x="7772400" y="1849628"/>
          <a:ext cx="36576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914400"/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Stream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Raised (X)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Required (Y)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GDF 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11.0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GDF administration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1.7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Source: McKinsey analysis. Dummy numbers for illustration.</a:t>
            </a:r>
          </a:p>
        </p:txBody>
      </p:sp>
      <p:sp>
        <p:nvSpPr>
          <p:cNvPr id="10" name="meta_pagenum_16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D3A4B"/>
                </a:solidFill>
                <a:latin typeface="Georgia"/>
              </a:rPr>
              <a:t>Next steps to implement and capture benefits at GDF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ta_caption_table_nextsteps"/>
          <p:cNvSpPr txBox="1"/>
          <p:nvPr/>
        </p:nvSpPr>
        <p:spPr>
          <a:xfrm>
            <a:off x="411480" y="1344168"/>
            <a:ext cx="1136873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B7785"/>
                </a:solidFill>
                <a:latin typeface="Arial"/>
              </a:rPr>
              <a:t>Next steps to implement and capture benefits at GDF</a:t>
            </a:r>
          </a:p>
        </p:txBody>
      </p:sp>
      <p:graphicFrame>
        <p:nvGraphicFramePr>
          <p:cNvPr id="5" name="table_nextsteps"/>
          <p:cNvGraphicFramePr>
            <a:graphicFrameLocks noGrp="1"/>
          </p:cNvGraphicFramePr>
          <p:nvPr/>
        </p:nvGraphicFramePr>
        <p:xfrm>
          <a:off x="411480" y="1618488"/>
          <a:ext cx="1136873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442655"/>
              </a:tblGrid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Action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Description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Arial"/>
                        </a:rPr>
                        <a:t>Share KPI trees with donors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Present the GDF KPI tree to donors, compare with metrics they request, and agree on any additional KPIs to report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Arial"/>
                        </a:rPr>
                        <a:t>Integrate KPIs into MIS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Establish simple mechanisms within GDF's existing MIS to input and analyze the data required for KPIs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Arial"/>
                        </a:rPr>
                        <a:t>Complete performance-dialogue workshop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Run a two-hour workshop with GDF team leads on facilitating constructive performance dialogues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Arial"/>
                        </a:rPr>
                        <a:t>Embed KPIs in team performance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3A4B"/>
                          </a:solidFill>
                          <a:latin typeface="Arial"/>
                        </a:rPr>
                        <a:t>Assign reporting responsibilities, schedule review meetings, complete one round of reviews, and refine based on feedback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Source: McKinsey analysis.</a:t>
            </a:r>
          </a:p>
        </p:txBody>
      </p:sp>
      <p:sp>
        <p:nvSpPr>
          <p:cNvPr id="7" name="meta_pagenum_17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972800" cy="6426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D3A4B"/>
                </a:solidFill>
                <a:latin typeface="Georgia"/>
              </a:rPr>
              <a:t>Three steps ensure that emerging opportunities are incorporated into advocacy partners' plans and the Framework Document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8211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ta_head_adv_1"/>
          <p:cNvSpPr/>
          <p:nvPr/>
        </p:nvSpPr>
        <p:spPr>
          <a:xfrm>
            <a:off x="411480" y="1346708"/>
            <a:ext cx="3606698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Step I</a:t>
            </a:r>
          </a:p>
        </p:txBody>
      </p:sp>
      <p:sp>
        <p:nvSpPr>
          <p:cNvPr id="5" name="body_adv_1"/>
          <p:cNvSpPr txBox="1"/>
          <p:nvPr/>
        </p:nvSpPr>
        <p:spPr>
          <a:xfrm>
            <a:off x="411480" y="1831340"/>
            <a:ext cx="3606698" cy="3355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Aft>
                <a:spcPts val="600"/>
              </a:spcAft>
              <a:buFont typeface="Arial"/>
              <a:buChar char="▪"/>
            </a:pPr>
            <a:r>
              <a:rPr sz="1200" b="1" i="0">
                <a:solidFill>
                  <a:srgbClr val="1F3864"/>
                </a:solidFill>
                <a:latin typeface="Arial"/>
              </a:rPr>
              <a:t>Develop the sunflower — Get more information</a:t>
            </a:r>
          </a:p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Make advocacy every partner's business and increase information sharing</a:t>
            </a:r>
          </a:p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Extend the reach of TB advocacy beyond the Partnership</a:t>
            </a:r>
          </a:p>
        </p:txBody>
      </p:sp>
      <p:sp>
        <p:nvSpPr>
          <p:cNvPr id="6" name="meta_head_adv_2"/>
          <p:cNvSpPr/>
          <p:nvPr/>
        </p:nvSpPr>
        <p:spPr>
          <a:xfrm>
            <a:off x="4292498" y="1346708"/>
            <a:ext cx="3606698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Step II</a:t>
            </a:r>
          </a:p>
        </p:txBody>
      </p:sp>
      <p:sp>
        <p:nvSpPr>
          <p:cNvPr id="7" name="body_adv_2"/>
          <p:cNvSpPr txBox="1"/>
          <p:nvPr/>
        </p:nvSpPr>
        <p:spPr>
          <a:xfrm>
            <a:off x="4292498" y="1831340"/>
            <a:ext cx="3606698" cy="3355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Aft>
                <a:spcPts val="600"/>
              </a:spcAft>
              <a:buFont typeface="Arial"/>
              <a:buChar char="▪"/>
            </a:pPr>
            <a:r>
              <a:rPr sz="1200" b="1" i="0">
                <a:solidFill>
                  <a:srgbClr val="1F3864"/>
                </a:solidFill>
                <a:latin typeface="Arial"/>
              </a:rPr>
              <a:t>Filter the intelligence — Filter the information received</a:t>
            </a:r>
          </a:p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Set up a process that filters information for validity, impact, global relevance, and feasibility</a:t>
            </a:r>
          </a:p>
        </p:txBody>
      </p:sp>
      <p:sp>
        <p:nvSpPr>
          <p:cNvPr id="8" name="meta_head_adv_3"/>
          <p:cNvSpPr/>
          <p:nvPr/>
        </p:nvSpPr>
        <p:spPr>
          <a:xfrm>
            <a:off x="8173516" y="1346708"/>
            <a:ext cx="3606698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Step III</a:t>
            </a:r>
          </a:p>
        </p:txBody>
      </p:sp>
      <p:sp>
        <p:nvSpPr>
          <p:cNvPr id="9" name="body_adv_3"/>
          <p:cNvSpPr txBox="1"/>
          <p:nvPr/>
        </p:nvSpPr>
        <p:spPr>
          <a:xfrm>
            <a:off x="8173516" y="1831340"/>
            <a:ext cx="3606698" cy="3355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Aft>
                <a:spcPts val="600"/>
              </a:spcAft>
              <a:buFont typeface="Arial"/>
              <a:buChar char="▪"/>
            </a:pPr>
            <a:r>
              <a:rPr sz="1200" b="1" i="0">
                <a:solidFill>
                  <a:srgbClr val="1F3864"/>
                </a:solidFill>
                <a:latin typeface="Arial"/>
              </a:rPr>
              <a:t>Keep the framework relevant — Create or adjust objectives and plans</a:t>
            </a:r>
          </a:p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For tactical opportunities requiring immediate action, create new or adjusted objectives and define what success looks like</a:t>
            </a:r>
          </a:p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For all other opportunities, draft adjustments into the Framework Document and seek advice from the AAC</a:t>
            </a:r>
          </a:p>
        </p:txBody>
      </p:sp>
      <p:cxnSp>
        <p:nvCxnSpPr>
          <p:cNvPr id="10" name="overlay_arrow_adv_1"/>
          <p:cNvCxnSpPr/>
          <p:nvPr/>
        </p:nvCxnSpPr>
        <p:spPr>
          <a:xfrm>
            <a:off x="4063898" y="1547876"/>
            <a:ext cx="182880" cy="0"/>
          </a:xfrm>
          <a:prstGeom prst="bentConnector3">
            <a:avLst/>
          </a:prstGeom>
          <a:ln w="28575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overlay_arrow_adv_2"/>
          <p:cNvCxnSpPr/>
          <p:nvPr/>
        </p:nvCxnSpPr>
        <p:spPr>
          <a:xfrm>
            <a:off x="7944916" y="1547876"/>
            <a:ext cx="182880" cy="0"/>
          </a:xfrm>
          <a:prstGeom prst="bentConnector3">
            <a:avLst/>
          </a:prstGeom>
          <a:ln w="28575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Source: Workshops.</a:t>
            </a:r>
          </a:p>
        </p:txBody>
      </p:sp>
      <p:sp>
        <p:nvSpPr>
          <p:cNvPr id="13" name="meta_pagenum_18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D3A4B"/>
                </a:solidFill>
                <a:latin typeface="Georgia"/>
              </a:rPr>
              <a:t>Information from an active, extended network is filtered across four criteria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ta_eyebrow"/>
          <p:cNvSpPr txBox="1"/>
          <p:nvPr/>
        </p:nvSpPr>
        <p:spPr>
          <a:xfrm>
            <a:off x="411480" y="134416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75B6"/>
                </a:solidFill>
                <a:latin typeface="Arial"/>
              </a:rPr>
              <a:t>PRELIMINARY</a:t>
            </a:r>
          </a:p>
        </p:txBody>
      </p:sp>
      <p:sp>
        <p:nvSpPr>
          <p:cNvPr id="5" name="meta_head_filter_1"/>
          <p:cNvSpPr/>
          <p:nvPr/>
        </p:nvSpPr>
        <p:spPr>
          <a:xfrm>
            <a:off x="411480" y="1618488"/>
            <a:ext cx="2670733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Validity</a:t>
            </a:r>
          </a:p>
        </p:txBody>
      </p:sp>
      <p:sp>
        <p:nvSpPr>
          <p:cNvPr id="6" name="body_filter_1"/>
          <p:cNvSpPr txBox="1"/>
          <p:nvPr/>
        </p:nvSpPr>
        <p:spPr>
          <a:xfrm>
            <a:off x="411480" y="2103120"/>
            <a:ext cx="2670733" cy="2807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D3A4B"/>
                </a:solidFill>
                <a:latin typeface="Arial"/>
              </a:rPr>
              <a:t>The received information is checked for validity with a second source: “Is the information accurate and true?”</a:t>
            </a:r>
          </a:p>
        </p:txBody>
      </p:sp>
      <p:sp>
        <p:nvSpPr>
          <p:cNvPr id="7" name="meta_head_filter_2"/>
          <p:cNvSpPr/>
          <p:nvPr/>
        </p:nvSpPr>
        <p:spPr>
          <a:xfrm>
            <a:off x="3310813" y="1618488"/>
            <a:ext cx="2670733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Global</a:t>
            </a:r>
          </a:p>
        </p:txBody>
      </p:sp>
      <p:sp>
        <p:nvSpPr>
          <p:cNvPr id="8" name="body_filter_2"/>
          <p:cNvSpPr txBox="1"/>
          <p:nvPr/>
        </p:nvSpPr>
        <p:spPr>
          <a:xfrm>
            <a:off x="3310813" y="2103120"/>
            <a:ext cx="2670733" cy="2807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D3A4B"/>
                </a:solidFill>
                <a:latin typeface="Arial"/>
              </a:rPr>
              <a:t>The information is filtered for global relevance: “Does it have implications beyond local/national boundaries?”</a:t>
            </a:r>
          </a:p>
        </p:txBody>
      </p:sp>
      <p:sp>
        <p:nvSpPr>
          <p:cNvPr id="9" name="meta_head_filter_3"/>
          <p:cNvSpPr/>
          <p:nvPr/>
        </p:nvSpPr>
        <p:spPr>
          <a:xfrm>
            <a:off x="6210147" y="1618488"/>
            <a:ext cx="2670733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Impact</a:t>
            </a:r>
          </a:p>
        </p:txBody>
      </p:sp>
      <p:sp>
        <p:nvSpPr>
          <p:cNvPr id="10" name="body_filter_3"/>
          <p:cNvSpPr txBox="1"/>
          <p:nvPr/>
        </p:nvSpPr>
        <p:spPr>
          <a:xfrm>
            <a:off x="6210147" y="2103120"/>
            <a:ext cx="2670733" cy="2807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D3A4B"/>
                </a:solidFill>
                <a:latin typeface="Arial"/>
              </a:rPr>
              <a:t>Once validated, the information is filtered for work-plan impact: can it affect policy, donors, or public opinion?</a:t>
            </a:r>
          </a:p>
        </p:txBody>
      </p:sp>
      <p:sp>
        <p:nvSpPr>
          <p:cNvPr id="11" name="meta_head_filter_4"/>
          <p:cNvSpPr/>
          <p:nvPr/>
        </p:nvSpPr>
        <p:spPr>
          <a:xfrm>
            <a:off x="9109481" y="1618488"/>
            <a:ext cx="2670733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Feasibility</a:t>
            </a:r>
          </a:p>
        </p:txBody>
      </p:sp>
      <p:sp>
        <p:nvSpPr>
          <p:cNvPr id="12" name="body_filter_4"/>
          <p:cNvSpPr txBox="1"/>
          <p:nvPr/>
        </p:nvSpPr>
        <p:spPr>
          <a:xfrm>
            <a:off x="9109481" y="2103120"/>
            <a:ext cx="2670733" cy="2807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D3A4B"/>
                </a:solidFill>
                <a:latin typeface="Arial"/>
              </a:rPr>
              <a:t>Determine whether the information can feasibly and realistically be translated into sufficiently impactful activities.</a:t>
            </a:r>
          </a:p>
        </p:txBody>
      </p:sp>
      <p:cxnSp>
        <p:nvCxnSpPr>
          <p:cNvPr id="13" name="overlay_arrow_filter_1"/>
          <p:cNvCxnSpPr/>
          <p:nvPr/>
        </p:nvCxnSpPr>
        <p:spPr>
          <a:xfrm>
            <a:off x="3118789" y="1819656"/>
            <a:ext cx="155448" cy="0"/>
          </a:xfrm>
          <a:prstGeom prst="bentConnector3">
            <a:avLst/>
          </a:prstGeom>
          <a:ln w="28575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overlay_arrow_filter_2"/>
          <p:cNvCxnSpPr/>
          <p:nvPr/>
        </p:nvCxnSpPr>
        <p:spPr>
          <a:xfrm>
            <a:off x="6018122" y="1819656"/>
            <a:ext cx="155449" cy="0"/>
          </a:xfrm>
          <a:prstGeom prst="bentConnector3">
            <a:avLst/>
          </a:prstGeom>
          <a:ln w="28575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overlay_arrow_filter_3"/>
          <p:cNvCxnSpPr/>
          <p:nvPr/>
        </p:nvCxnSpPr>
        <p:spPr>
          <a:xfrm>
            <a:off x="8917456" y="1819656"/>
            <a:ext cx="155449" cy="0"/>
          </a:xfrm>
          <a:prstGeom prst="bentConnector3">
            <a:avLst/>
          </a:prstGeom>
          <a:ln w="28575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meta_filter_in"/>
          <p:cNvSpPr txBox="1"/>
          <p:nvPr/>
        </p:nvSpPr>
        <p:spPr>
          <a:xfrm>
            <a:off x="411480" y="50474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B7785"/>
                </a:solidFill>
                <a:latin typeface="Arial"/>
              </a:rPr>
              <a:t>Unfiltered information in →</a:t>
            </a:r>
          </a:p>
        </p:txBody>
      </p:sp>
      <p:sp>
        <p:nvSpPr>
          <p:cNvPr id="17" name="meta_filter_out"/>
          <p:cNvSpPr txBox="1"/>
          <p:nvPr/>
        </p:nvSpPr>
        <p:spPr>
          <a:xfrm>
            <a:off x="8138160" y="50474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B7785"/>
                </a:solidFill>
                <a:latin typeface="Arial"/>
              </a:rPr>
              <a:t>→ Filtered intelligence out</a:t>
            </a:r>
          </a:p>
        </p:txBody>
      </p:sp>
      <p:sp>
        <p:nvSpPr>
          <p:cNvPr id="18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Source: Workshops. Apply the filter at the start of advocacy meetings.</a:t>
            </a:r>
          </a:p>
        </p:txBody>
      </p:sp>
      <p:sp>
        <p:nvSpPr>
          <p:cNvPr id="19" name="meta_pagenum_19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972800" cy="6426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D3A4B"/>
                </a:solidFill>
                <a:latin typeface="Georgia"/>
              </a:rPr>
              <a:t>High-level objectives relate to three areas — raising awareness, engaging TB networks, and supporting the Secretariat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8211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mission"/>
          <p:cNvSpPr/>
          <p:nvPr/>
        </p:nvSpPr>
        <p:spPr>
          <a:xfrm>
            <a:off x="411480" y="1346708"/>
            <a:ext cx="11368735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Mission:  Inspire the world into action against tuberculosis (TB)</a:t>
            </a:r>
          </a:p>
        </p:txBody>
      </p:sp>
      <p:sp>
        <p:nvSpPr>
          <p:cNvPr id="5" name="meta_head_col_1"/>
          <p:cNvSpPr/>
          <p:nvPr/>
        </p:nvSpPr>
        <p:spPr>
          <a:xfrm>
            <a:off x="411480" y="2078228"/>
            <a:ext cx="3606698" cy="41148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Objective 1 — Raise awareness about TB among:</a:t>
            </a:r>
          </a:p>
        </p:txBody>
      </p:sp>
      <p:sp>
        <p:nvSpPr>
          <p:cNvPr id="6" name="body_col_1"/>
          <p:cNvSpPr txBox="1"/>
          <p:nvPr/>
        </p:nvSpPr>
        <p:spPr>
          <a:xfrm>
            <a:off x="411480" y="2535428"/>
            <a:ext cx="3606698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Aft>
                <a:spcPts val="700"/>
              </a:spcAft>
              <a:buFont typeface="Arial"/>
              <a:buChar char="▪"/>
            </a:pPr>
            <a:r>
              <a:rPr sz="1200" b="1" i="0">
                <a:solidFill>
                  <a:srgbClr val="2D3A4B"/>
                </a:solidFill>
                <a:latin typeface="Arial"/>
              </a:rPr>
              <a:t>A</a:t>
            </a:r>
            <a:r>
              <a:rPr sz="1200" b="0" i="0">
                <a:solidFill>
                  <a:srgbClr val="2D3A4B"/>
                </a:solidFill>
                <a:latin typeface="Arial"/>
              </a:rPr>
              <a:t> — The “fourth estate” (news media)</a:t>
            </a:r>
          </a:p>
          <a:p>
            <a:pPr algn="l" marL="167640" indent="-167640">
              <a:spcAft>
                <a:spcPts val="700"/>
              </a:spcAft>
              <a:buFont typeface="Arial"/>
              <a:buChar char="▪"/>
            </a:pPr>
            <a:r>
              <a:rPr sz="1200" b="1" i="0">
                <a:solidFill>
                  <a:srgbClr val="2D3A4B"/>
                </a:solidFill>
                <a:latin typeface="Arial"/>
              </a:rPr>
              <a:t>B</a:t>
            </a:r>
            <a:r>
              <a:rPr sz="1200" b="0" i="0">
                <a:solidFill>
                  <a:srgbClr val="2D3A4B"/>
                </a:solidFill>
                <a:latin typeface="Arial"/>
              </a:rPr>
              <a:t> — Members of the public in donor countries and selected high-burden countries / BRIC+2</a:t>
            </a:r>
          </a:p>
          <a:p>
            <a:pPr algn="l" marL="167640" indent="-167640">
              <a:spcAft>
                <a:spcPts val="700"/>
              </a:spcAft>
              <a:buFont typeface="Arial"/>
              <a:buChar char="▪"/>
            </a:pPr>
            <a:r>
              <a:rPr sz="1200" b="1" i="0">
                <a:solidFill>
                  <a:srgbClr val="2D3A4B"/>
                </a:solidFill>
                <a:latin typeface="Arial"/>
              </a:rPr>
              <a:t>C</a:t>
            </a:r>
            <a:r>
              <a:rPr sz="1200" b="0" i="0">
                <a:solidFill>
                  <a:srgbClr val="2D3A4B"/>
                </a:solidFill>
                <a:latin typeface="Arial"/>
              </a:rPr>
              <a:t> — Selected institutions</a:t>
            </a:r>
          </a:p>
        </p:txBody>
      </p:sp>
      <p:sp>
        <p:nvSpPr>
          <p:cNvPr id="7" name="meta_head_col_2"/>
          <p:cNvSpPr/>
          <p:nvPr/>
        </p:nvSpPr>
        <p:spPr>
          <a:xfrm>
            <a:off x="4292498" y="2078228"/>
            <a:ext cx="3606698" cy="41148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Objective 2 — Engage TB networks</a:t>
            </a:r>
          </a:p>
        </p:txBody>
      </p:sp>
      <p:sp>
        <p:nvSpPr>
          <p:cNvPr id="8" name="body_col_2"/>
          <p:cNvSpPr txBox="1"/>
          <p:nvPr/>
        </p:nvSpPr>
        <p:spPr>
          <a:xfrm>
            <a:off x="4292498" y="2535428"/>
            <a:ext cx="3606698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200" b="0" i="0">
                <a:solidFill>
                  <a:srgbClr val="2D3A4B"/>
                </a:solidFill>
                <a:latin typeface="Arial"/>
              </a:rPr>
              <a:t>Engage, support, and foster a shared sense of purpose among partners and other members of TB networks.</a:t>
            </a:r>
          </a:p>
        </p:txBody>
      </p:sp>
      <p:sp>
        <p:nvSpPr>
          <p:cNvPr id="9" name="meta_head_col_3"/>
          <p:cNvSpPr/>
          <p:nvPr/>
        </p:nvSpPr>
        <p:spPr>
          <a:xfrm>
            <a:off x="8173516" y="2078228"/>
            <a:ext cx="3606698" cy="41148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Objective 3 — Support the Secretariat</a:t>
            </a:r>
          </a:p>
        </p:txBody>
      </p:sp>
      <p:sp>
        <p:nvSpPr>
          <p:cNvPr id="10" name="body_col_3"/>
          <p:cNvSpPr txBox="1"/>
          <p:nvPr/>
        </p:nvSpPr>
        <p:spPr>
          <a:xfrm>
            <a:off x="8173516" y="2535428"/>
            <a:ext cx="3606698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200" b="0" i="0">
                <a:solidFill>
                  <a:srgbClr val="2D3A4B"/>
                </a:solidFill>
                <a:latin typeface="Arial"/>
              </a:rPr>
              <a:t>Provide coordinated support for the core work of the Secretariat.</a:t>
            </a:r>
          </a:p>
        </p:txBody>
      </p:sp>
      <p:sp>
        <p:nvSpPr>
          <p:cNvPr id="11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Note: BRIC+2 = Brazil, Russia, India, China, Indonesia, and South Africa. Source: Team discussion.</a:t>
            </a:r>
          </a:p>
        </p:txBody>
      </p:sp>
      <p:sp>
        <p:nvSpPr>
          <p:cNvPr id="12" name="meta_pagenum_20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972800" cy="6426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D3A4B"/>
                </a:solidFill>
                <a:latin typeface="Georgia"/>
              </a:rPr>
              <a:t>For each high-level objective, audience groups, objectives, metrics, and targets have been defined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8211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ta_caption_table_targets"/>
          <p:cNvSpPr txBox="1"/>
          <p:nvPr/>
        </p:nvSpPr>
        <p:spPr>
          <a:xfrm>
            <a:off x="411480" y="1346708"/>
            <a:ext cx="1136873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B7785"/>
                </a:solidFill>
                <a:latin typeface="Arial"/>
              </a:rPr>
              <a:t>Audience groups, objectives, metrics, and targets by high-level objective</a:t>
            </a:r>
          </a:p>
        </p:txBody>
      </p:sp>
      <p:graphicFrame>
        <p:nvGraphicFramePr>
          <p:cNvPr id="5" name="table_targets"/>
          <p:cNvGraphicFramePr>
            <a:graphicFrameLocks noGrp="1"/>
          </p:cNvGraphicFramePr>
          <p:nvPr/>
        </p:nvGraphicFramePr>
        <p:xfrm>
          <a:off x="411480" y="1621028"/>
          <a:ext cx="1136873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657600"/>
                <a:gridCol w="2651760"/>
                <a:gridCol w="2590495"/>
              </a:tblGrid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Audience group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A4B"/>
                          </a:solidFill>
                          <a:latin typeface="Arial"/>
                        </a:rPr>
                        <a:t>Students &amp; adults, donor countries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A4B"/>
                          </a:solidFill>
                          <a:latin typeface="Arial"/>
                        </a:rPr>
                        <a:t>Raise awareness of the prevalence and threat of TB via traditional and innovative channels to grow donations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A4B"/>
                          </a:solidFill>
                          <a:latin typeface="Arial"/>
                        </a:rPr>
                        <a:t>Total people reached through marketing channels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A4B"/>
                          </a:solidFill>
                          <a:latin typeface="Arial"/>
                        </a:rPr>
                        <a:t>Online viral campaign: 30 million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A4B"/>
                          </a:solidFill>
                          <a:latin typeface="Arial"/>
                        </a:rPr>
                        <a:t>Students &amp; adults, high-burden countries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A4B"/>
                          </a:solidFill>
                          <a:latin typeface="Arial"/>
                        </a:rPr>
                        <a:t>Develop and roll out a viral marketing / social-media campaign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A4B"/>
                          </a:solidFill>
                          <a:latin typeface="Arial"/>
                        </a:rPr>
                        <a:t>People reached via social channels (YouTube, Facebook)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A4B"/>
                          </a:solidFill>
                          <a:latin typeface="Arial"/>
                        </a:rPr>
                        <a:t>Social channels: 5 million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A4B"/>
                          </a:solidFill>
                          <a:latin typeface="Arial"/>
                        </a:rPr>
                        <a:t>General 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A4B"/>
                          </a:solidFill>
                          <a:latin typeface="Arial"/>
                        </a:rPr>
                        <a:t>(awareness)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A4B"/>
                          </a:solidFill>
                          <a:latin typeface="Arial"/>
                        </a:rPr>
                        <a:t>% of population 18–65 acknowledging TB as a top-5 global health priority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A4B"/>
                          </a:solidFill>
                          <a:latin typeface="Arial"/>
                        </a:rPr>
                        <a:t>TV PSAs: 5M; Internet PSAs: 10M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A4B"/>
                          </a:solidFill>
                          <a:latin typeface="Arial"/>
                        </a:rPr>
                        <a:t>News media (fourth estate)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A4B"/>
                          </a:solidFill>
                          <a:latin typeface="Arial"/>
                        </a:rPr>
                        <a:t>Meet with editors to encourage TB coverage; pitch high-impact topics (MDR/XDR-TB)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A4B"/>
                          </a:solidFill>
                          <a:latin typeface="Arial"/>
                        </a:rPr>
                        <a:t>Number of editors engaged in ongoing dialogue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A4B"/>
                          </a:solidFill>
                          <a:latin typeface="Arial"/>
                        </a:rPr>
                        <a:t>(target TBD)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Source: Team discussion.</a:t>
            </a:r>
          </a:p>
        </p:txBody>
      </p:sp>
      <p:sp>
        <p:nvSpPr>
          <p:cNvPr id="7" name="meta_pagenum_21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D3A4B"/>
                </a:solidFill>
                <a:latin typeface="Georgia"/>
              </a:rPr>
              <a:t>The team clarified the CFCS mission and defined objectives to deliver it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mission_card"/>
          <p:cNvSpPr/>
          <p:nvPr/>
        </p:nvSpPr>
        <p:spPr>
          <a:xfrm>
            <a:off x="411480" y="1344168"/>
            <a:ext cx="3383280" cy="41148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38100" bIns="38100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Mission:  To provide support to community-based organizations engaged in advocacy and social-mobilization activities seeking to raise awareness and empower communities to become part of the solution in the fight against TB.</a:t>
            </a:r>
          </a:p>
        </p:txBody>
      </p:sp>
      <p:sp>
        <p:nvSpPr>
          <p:cNvPr id="5" name="meta_head_cfcs_1"/>
          <p:cNvSpPr/>
          <p:nvPr/>
        </p:nvSpPr>
        <p:spPr>
          <a:xfrm>
            <a:off x="4069080" y="1344168"/>
            <a:ext cx="3718407" cy="41148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Assist community-based civil-society organizations</a:t>
            </a:r>
          </a:p>
        </p:txBody>
      </p:sp>
      <p:sp>
        <p:nvSpPr>
          <p:cNvPr id="6" name="body_cfcs_1"/>
          <p:cNvSpPr txBox="1"/>
          <p:nvPr/>
        </p:nvSpPr>
        <p:spPr>
          <a:xfrm>
            <a:off x="4069080" y="1801368"/>
            <a:ext cx="3718407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53670" indent="-15367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Provide small grants for projects that increase awareness and active participation of local communities and build their capabilities</a:t>
            </a:r>
          </a:p>
          <a:p>
            <a:pPr algn="l" marL="153670" indent="-15367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Provide coaching and technical assistance to grant recipients</a:t>
            </a:r>
          </a:p>
          <a:p>
            <a:pPr algn="l" marL="153670" indent="-15367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Strengthen links between grant recipients and local authorities</a:t>
            </a:r>
          </a:p>
          <a:p>
            <a:pPr algn="l" marL="153670" indent="-15367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Bring organizations together to exchange best practices</a:t>
            </a:r>
          </a:p>
        </p:txBody>
      </p:sp>
      <p:sp>
        <p:nvSpPr>
          <p:cNvPr id="7" name="meta_head_cfcs_2"/>
          <p:cNvSpPr/>
          <p:nvPr/>
        </p:nvSpPr>
        <p:spPr>
          <a:xfrm>
            <a:off x="8061807" y="1344168"/>
            <a:ext cx="3718407" cy="41148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Efficiently manage CFCS resources</a:t>
            </a:r>
          </a:p>
        </p:txBody>
      </p:sp>
      <p:sp>
        <p:nvSpPr>
          <p:cNvPr id="8" name="body_cfcs_2"/>
          <p:cNvSpPr txBox="1"/>
          <p:nvPr/>
        </p:nvSpPr>
        <p:spPr>
          <a:xfrm>
            <a:off x="8061807" y="1801368"/>
            <a:ext cx="3718407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53670" indent="-15367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Identify and stimulate high-quality, competitive applications</a:t>
            </a:r>
          </a:p>
          <a:p>
            <a:pPr algn="l" marL="153670" indent="-15367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Develop selection criteria that ensure involvement of local health services and strengthen local autonomy</a:t>
            </a:r>
          </a:p>
          <a:p>
            <a:pPr algn="l" marL="153670" indent="-15367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Hold grantees accountable to project milestones</a:t>
            </a:r>
          </a:p>
          <a:p>
            <a:pPr algn="l" marL="153670" indent="-15367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Use simple evaluation processes that assess impact and integrate lessons learned</a:t>
            </a:r>
          </a:p>
        </p:txBody>
      </p:sp>
      <p:sp>
        <p:nvSpPr>
          <p:cNvPr id="9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Source: McKinsey analysis.</a:t>
            </a:r>
          </a:p>
        </p:txBody>
      </p:sp>
      <p:sp>
        <p:nvSpPr>
          <p:cNvPr id="10" name="meta_pagenum_22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D3A4B"/>
                </a:solidFill>
                <a:latin typeface="Georgia"/>
              </a:rPr>
              <a:t>A team “barometer” survey assesses working-group engagement across four dimensions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ta_head_quad_1"/>
          <p:cNvSpPr/>
          <p:nvPr/>
        </p:nvSpPr>
        <p:spPr>
          <a:xfrm>
            <a:off x="411480" y="1344168"/>
            <a:ext cx="5547207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Objectives and direction</a:t>
            </a:r>
          </a:p>
        </p:txBody>
      </p:sp>
      <p:sp>
        <p:nvSpPr>
          <p:cNvPr id="5" name="body_quad_1"/>
          <p:cNvSpPr txBox="1"/>
          <p:nvPr/>
        </p:nvSpPr>
        <p:spPr>
          <a:xfrm>
            <a:off x="411480" y="1801368"/>
            <a:ext cx="5547207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The objectives of the WG are clear and members are fully aligned on them</a:t>
            </a:r>
          </a:p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The WG's leaders provide clear strategic direction</a:t>
            </a:r>
          </a:p>
        </p:txBody>
      </p:sp>
      <p:sp>
        <p:nvSpPr>
          <p:cNvPr id="6" name="meta_head_quad_2"/>
          <p:cNvSpPr/>
          <p:nvPr/>
        </p:nvSpPr>
        <p:spPr>
          <a:xfrm>
            <a:off x="6233007" y="1344168"/>
            <a:ext cx="5547207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Delivery against objectives</a:t>
            </a:r>
          </a:p>
        </p:txBody>
      </p:sp>
      <p:sp>
        <p:nvSpPr>
          <p:cNvPr id="7" name="body_quad_2"/>
          <p:cNvSpPr txBox="1"/>
          <p:nvPr/>
        </p:nvSpPr>
        <p:spPr>
          <a:xfrm>
            <a:off x="6233007" y="1801368"/>
            <a:ext cx="5547207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I believe the WG is making good progress toward achieving its objectives</a:t>
            </a:r>
          </a:p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The WG is having a meaningful impact in the fight against MDR-TB</a:t>
            </a:r>
          </a:p>
        </p:txBody>
      </p:sp>
      <p:sp>
        <p:nvSpPr>
          <p:cNvPr id="8" name="meta_head_quad_3"/>
          <p:cNvSpPr/>
          <p:nvPr/>
        </p:nvSpPr>
        <p:spPr>
          <a:xfrm>
            <a:off x="411480" y="3538728"/>
            <a:ext cx="5547207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Individual contributions</a:t>
            </a:r>
          </a:p>
        </p:txBody>
      </p:sp>
      <p:sp>
        <p:nvSpPr>
          <p:cNvPr id="9" name="body_quad_3"/>
          <p:cNvSpPr txBox="1"/>
          <p:nvPr/>
        </p:nvSpPr>
        <p:spPr>
          <a:xfrm>
            <a:off x="411480" y="3995928"/>
            <a:ext cx="5547207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My subgroup meaningfully contributes to the overall objectives of the WG</a:t>
            </a:r>
          </a:p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After meetings, accountabilities and deadlines for specific actions are clear</a:t>
            </a:r>
          </a:p>
        </p:txBody>
      </p:sp>
      <p:sp>
        <p:nvSpPr>
          <p:cNvPr id="10" name="meta_head_quad_4"/>
          <p:cNvSpPr/>
          <p:nvPr/>
        </p:nvSpPr>
        <p:spPr>
          <a:xfrm>
            <a:off x="6233007" y="3538728"/>
            <a:ext cx="5547207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Mindsets &amp; behaviors</a:t>
            </a:r>
          </a:p>
        </p:txBody>
      </p:sp>
      <p:sp>
        <p:nvSpPr>
          <p:cNvPr id="11" name="body_quad_4"/>
          <p:cNvSpPr txBox="1"/>
          <p:nvPr/>
        </p:nvSpPr>
        <p:spPr>
          <a:xfrm>
            <a:off x="6233007" y="3995928"/>
            <a:ext cx="5547207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The culture within the WG is collaborative and constructive</a:t>
            </a:r>
          </a:p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D3A4B"/>
                </a:solidFill>
                <a:latin typeface="Arial"/>
              </a:rPr>
              <a:t>Members are encouraged to voice their opinions, even if controversial</a:t>
            </a:r>
          </a:p>
        </p:txBody>
      </p:sp>
      <p:sp>
        <p:nvSpPr>
          <p:cNvPr id="12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Scale: 1 = strongly disagree … 5 = strongly agree.</a:t>
            </a:r>
          </a:p>
        </p:txBody>
      </p:sp>
      <p:sp>
        <p:nvSpPr>
          <p:cNvPr id="13" name="meta_pagenum_23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5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The next ~10 weeks will focus on implementing the solutions developed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ody_phase_1"/>
          <p:cNvSpPr/>
          <p:nvPr/>
        </p:nvSpPr>
        <p:spPr>
          <a:xfrm>
            <a:off x="411480" y="1344168"/>
            <a:ext cx="3606698" cy="548640"/>
          </a:xfrm>
          <a:prstGeom prst="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Diagnose  </a:t>
            </a:r>
            <a:r>
              <a:rPr sz="1000" b="0" i="0">
                <a:solidFill>
                  <a:srgbClr val="D6E0F0"/>
                </a:solidFill>
                <a:latin typeface="Arial"/>
              </a:rPr>
              <a:t>Aug – Sep</a:t>
            </a:r>
          </a:p>
        </p:txBody>
      </p:sp>
      <p:sp>
        <p:nvSpPr>
          <p:cNvPr id="5" name="body_phase_2"/>
          <p:cNvSpPr/>
          <p:nvPr/>
        </p:nvSpPr>
        <p:spPr>
          <a:xfrm>
            <a:off x="4292498" y="1344168"/>
            <a:ext cx="3606698" cy="548640"/>
          </a:xfrm>
          <a:prstGeom prst="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Design  </a:t>
            </a:r>
            <a:r>
              <a:rPr sz="1000" b="0" i="0">
                <a:solidFill>
                  <a:srgbClr val="D6E0F0"/>
                </a:solidFill>
                <a:latin typeface="Arial"/>
              </a:rPr>
              <a:t>Sep – Oct</a:t>
            </a:r>
          </a:p>
        </p:txBody>
      </p:sp>
      <p:sp>
        <p:nvSpPr>
          <p:cNvPr id="6" name="body_phase_3"/>
          <p:cNvSpPr/>
          <p:nvPr/>
        </p:nvSpPr>
        <p:spPr>
          <a:xfrm>
            <a:off x="8173516" y="1344168"/>
            <a:ext cx="3606698" cy="548640"/>
          </a:xfrm>
          <a:prstGeom prst="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Deliver  </a:t>
            </a:r>
            <a:r>
              <a:rPr sz="1000" b="0" i="0">
                <a:solidFill>
                  <a:srgbClr val="D6E0F0"/>
                </a:solidFill>
                <a:latin typeface="Arial"/>
              </a:rPr>
              <a:t>Nov – Dec</a:t>
            </a:r>
          </a:p>
        </p:txBody>
      </p:sp>
      <p:sp>
        <p:nvSpPr>
          <p:cNvPr id="7" name="overlay_today_line"/>
          <p:cNvSpPr/>
          <p:nvPr/>
        </p:nvSpPr>
        <p:spPr>
          <a:xfrm>
            <a:off x="8173516" y="1069848"/>
            <a:ext cx="27432" cy="2743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erlay_today_label"/>
          <p:cNvSpPr txBox="1"/>
          <p:nvPr/>
        </p:nvSpPr>
        <p:spPr>
          <a:xfrm>
            <a:off x="7167676" y="841248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6E0F0"/>
                </a:solidFill>
                <a:latin typeface="Arial"/>
              </a:rPr>
              <a:t>Today</a:t>
            </a:r>
          </a:p>
        </p:txBody>
      </p:sp>
      <p:sp>
        <p:nvSpPr>
          <p:cNvPr id="9" name="meta_head_actions"/>
          <p:cNvSpPr/>
          <p:nvPr/>
        </p:nvSpPr>
        <p:spPr>
          <a:xfrm>
            <a:off x="411480" y="2212848"/>
            <a:ext cx="11368735" cy="411480"/>
          </a:xfrm>
          <a:prstGeom prst="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>
            <a:no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Deliver-phase actions</a:t>
            </a:r>
          </a:p>
        </p:txBody>
      </p:sp>
      <p:sp>
        <p:nvSpPr>
          <p:cNvPr id="10" name="body_actions"/>
          <p:cNvSpPr txBox="1"/>
          <p:nvPr/>
        </p:nvSpPr>
        <p:spPr>
          <a:xfrm>
            <a:off x="411480" y="2697480"/>
            <a:ext cx="1136873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300" b="0" i="0">
                <a:solidFill>
                  <a:srgbClr val="D6E0F0"/>
                </a:solidFill>
                <a:latin typeface="Arial"/>
              </a:rPr>
              <a:t>Implementation within project teams begins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300" b="0" i="0">
                <a:solidFill>
                  <a:srgbClr val="D6E0F0"/>
                </a:solidFill>
                <a:latin typeface="Arial"/>
              </a:rPr>
              <a:t>Problem-solving sessions on findings, lessons learned, and implications are conducted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300" b="0" i="0">
                <a:solidFill>
                  <a:srgbClr val="D6E0F0"/>
                </a:solidFill>
                <a:latin typeface="Arial"/>
              </a:rPr>
              <a:t>Workshops to share achievements with other Partnership bodies are conducted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300" b="0" i="0">
                <a:solidFill>
                  <a:srgbClr val="D6E0F0"/>
                </a:solidFill>
                <a:latin typeface="Arial"/>
              </a:rPr>
              <a:t>The report is produced and findings are published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300" b="0" i="0">
                <a:solidFill>
                  <a:srgbClr val="D6E0F0"/>
                </a:solidFill>
                <a:latin typeface="Arial"/>
              </a:rPr>
              <a:t>Progress is presented to the Coordinating Board in March 2010</a:t>
            </a:r>
          </a:p>
        </p:txBody>
      </p:sp>
      <p:sp>
        <p:nvSpPr>
          <p:cNvPr id="11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0AEC0"/>
                </a:solidFill>
                <a:latin typeface="Arial"/>
              </a:rPr>
              <a:t>Source: McKinsey analysis.</a:t>
            </a:r>
          </a:p>
        </p:txBody>
      </p:sp>
      <p:sp>
        <p:nvSpPr>
          <p:cNvPr id="12" name="meta_pagenum_24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0AEC0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