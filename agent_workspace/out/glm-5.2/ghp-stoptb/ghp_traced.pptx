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4.0</c:v>
                </c:pt>
                <c:pt idx="1">
                  <c:v>4.1</c:v>
                </c:pt>
                <c:pt idx="2">
                  <c:v>2.1</c:v>
                </c:pt>
                <c:pt idx="3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0B0B0"/>
            </a:solidFill>
          </c:spPr>
          <c:cat>
            <c:strRef>
              <c:f>Sheet1!$A$2:$A$5</c:f>
              <c:strCache>
                <c:ptCount val="4"/>
                <c:pt idx="0">
                  <c:v>1st line</c:v>
                </c:pt>
                <c:pt idx="1">
                  <c:v>Prophylaxis</c:v>
                </c:pt>
                <c:pt idx="2">
                  <c:v>2nd line</c:v>
                </c:pt>
                <c:pt idx="3">
                  <c:v>Diagnostics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3.8</c:v>
                </c:pt>
                <c:pt idx="1">
                  <c:v>3.5</c:v>
                </c:pt>
                <c:pt idx="2">
                  <c:v>1.9</c:v>
                </c:pt>
                <c:pt idx="3">
                  <c:v>1.9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06A72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06A72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_eyebrow"/>
          <p:cNvSpPr txBox="1"/>
          <p:nvPr/>
        </p:nvSpPr>
        <p:spPr>
          <a:xfrm>
            <a:off x="457200" y="50292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6E0F0"/>
                </a:solidFill>
                <a:latin typeface="Arial"/>
              </a:rPr>
              <a:t>STOP TB PARTNERSHIP · McKINSEY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914400"/>
            <a:ext cx="3931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This collaboration shows how to help Global Health Partnerships increase their impact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57200" y="3977639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ody_sidebar_footer"/>
          <p:cNvSpPr txBox="1"/>
          <p:nvPr/>
        </p:nvSpPr>
        <p:spPr>
          <a:xfrm>
            <a:off x="457200" y="63093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6E0F0"/>
                </a:solidFill>
                <a:latin typeface="Arial"/>
              </a:rPr>
              <a:t>McKinsey &amp; Company</a:t>
            </a:r>
          </a:p>
        </p:txBody>
      </p:sp>
      <p:sp>
        <p:nvSpPr>
          <p:cNvPr id="7" name="body_dateblock"/>
          <p:cNvSpPr txBox="1"/>
          <p:nvPr/>
        </p:nvSpPr>
        <p:spPr>
          <a:xfrm>
            <a:off x="5029200" y="1188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Thursday, November 5, 2009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Pre-reading for Coordinating Board 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72"/>
                </a:solidFill>
                <a:latin typeface="Arial"/>
              </a:rPr>
              <a:t>Pre-reading document</a:t>
            </a:r>
          </a:p>
        </p:txBody>
      </p:sp>
      <p:cxnSp>
        <p:nvCxnSpPr>
          <p:cNvPr id="8" name="meta_date_rule"/>
          <p:cNvCxnSpPr/>
          <p:nvPr/>
        </p:nvCxnSpPr>
        <p:spPr>
          <a:xfrm>
            <a:off x="5029200" y="2331720"/>
            <a:ext cx="18288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rd_confidential"/>
          <p:cNvSpPr/>
          <p:nvPr/>
        </p:nvSpPr>
        <p:spPr>
          <a:xfrm>
            <a:off x="5029200" y="4297680"/>
            <a:ext cx="6400800" cy="137160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 bIns="12700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CONFIDENTIAL AND PROPRIETARY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Any use of this material without specific permission of McKinsey &amp; Company is strictly prohibited.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agenda shows the seven sections of the Stop TB Partnership collaboration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agenda_1"/>
          <p:cNvSpPr/>
          <p:nvPr/>
        </p:nvSpPr>
        <p:spPr>
          <a:xfrm>
            <a:off x="411480" y="1521968"/>
            <a:ext cx="11368735" cy="532384"/>
          </a:xfrm>
          <a:prstGeom prst="roundRect">
            <a:avLst/>
          </a:prstGeom>
          <a:solidFill>
            <a:srgbClr val="1F3864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1 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5" name="card_agenda_2"/>
          <p:cNvSpPr/>
          <p:nvPr/>
        </p:nvSpPr>
        <p:spPr>
          <a:xfrm>
            <a:off x="411480" y="2200656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2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Global Drug Facility</a:t>
            </a:r>
          </a:p>
        </p:txBody>
      </p:sp>
      <p:sp>
        <p:nvSpPr>
          <p:cNvPr id="6" name="card_agenda_3"/>
          <p:cNvSpPr/>
          <p:nvPr/>
        </p:nvSpPr>
        <p:spPr>
          <a:xfrm>
            <a:off x="411480" y="2879344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3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Advocacy</a:t>
            </a:r>
          </a:p>
        </p:txBody>
      </p:sp>
      <p:sp>
        <p:nvSpPr>
          <p:cNvPr id="7" name="card_agenda_4"/>
          <p:cNvSpPr/>
          <p:nvPr/>
        </p:nvSpPr>
        <p:spPr>
          <a:xfrm>
            <a:off x="411480" y="3558032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4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Communication, Marketing and Branding</a:t>
            </a:r>
          </a:p>
        </p:txBody>
      </p:sp>
      <p:sp>
        <p:nvSpPr>
          <p:cNvPr id="8" name="card_agenda_5"/>
          <p:cNvSpPr/>
          <p:nvPr/>
        </p:nvSpPr>
        <p:spPr>
          <a:xfrm>
            <a:off x="411480" y="4236720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5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Challenge Facility for Civil Society</a:t>
            </a:r>
          </a:p>
        </p:txBody>
      </p:sp>
      <p:sp>
        <p:nvSpPr>
          <p:cNvPr id="9" name="card_agenda_6"/>
          <p:cNvSpPr/>
          <p:nvPr/>
        </p:nvSpPr>
        <p:spPr>
          <a:xfrm>
            <a:off x="411480" y="4915408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6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MDR-TB Working Group</a:t>
            </a:r>
          </a:p>
        </p:txBody>
      </p:sp>
      <p:sp>
        <p:nvSpPr>
          <p:cNvPr id="10" name="card_agenda_7"/>
          <p:cNvSpPr/>
          <p:nvPr/>
        </p:nvSpPr>
        <p:spPr>
          <a:xfrm>
            <a:off x="411480" y="5594096"/>
            <a:ext cx="11368735" cy="5323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Arial"/>
              </a:rPr>
              <a:t>7  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Next steps</a:t>
            </a:r>
          </a:p>
        </p:txBody>
      </p:sp>
      <p:sp>
        <p:nvSpPr>
          <p:cNvPr id="11" name="meta_pagenum_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1226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performance of Global Health Partnerships is increasingly important and scrutinized, yet achieving high performance is proving challenging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76631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bg_col1"/>
          <p:cNvSpPr/>
          <p:nvPr/>
        </p:nvSpPr>
        <p:spPr>
          <a:xfrm>
            <a:off x="411480" y="1930908"/>
            <a:ext cx="5570067" cy="419557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Increasing role of GHP performance</a:t>
            </a:r>
            <a:r>
              <a:rPr sz="1200" b="0" i="0">
                <a:solidFill>
                  <a:srgbClr val="1A2332"/>
                </a:solidFill>
                <a:latin typeface="Arial"/>
              </a:rPr>
              <a:t>GHPs play a major role in global health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Performance of GHPs can have huge impact on the health of the world's population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focus on performance is increasing, driven by</a:t>
            </a:r>
          </a:p>
          <a:p>
            <a:pPr algn="l" lvl="1" marL="381000" indent="-167640"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Increasing donor focus on impact, effectiveness, and efficiency</a:t>
            </a:r>
          </a:p>
          <a:p>
            <a:pPr algn="l" lvl="1" marL="381000" indent="-167640"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Increasing number of Partnerships in global health</a:t>
            </a:r>
          </a:p>
          <a:p>
            <a:pPr algn="l" lvl="1" marL="381000" indent="-167640">
              <a:spcAft>
                <a:spcPts val="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Likelihood of lower funding growth given the financial crisis</a:t>
            </a:r>
          </a:p>
        </p:txBody>
      </p:sp>
      <p:sp>
        <p:nvSpPr>
          <p:cNvPr id="5" name="card_bg_col2"/>
          <p:cNvSpPr/>
          <p:nvPr/>
        </p:nvSpPr>
        <p:spPr>
          <a:xfrm>
            <a:off x="6210147" y="1930908"/>
            <a:ext cx="5570067" cy="419557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Challenging factors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Complex environment and nature of GHP organizations create challenges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Objective-setting: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distinguishing the change a GHP hopes to bring about in the world vs. the goals it sets itself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Accountability: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ensuring accountability and delivery given loose structures, voluntary membership, and limited hierarchy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Capabilities: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gaining the capacity and capabilities needed to continuously improve performance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project's goal is to deliver practical insights on improving GHP performance from piloted ideas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goals_1"/>
          <p:cNvSpPr/>
          <p:nvPr/>
        </p:nvSpPr>
        <p:spPr>
          <a:xfrm>
            <a:off x="411480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Goals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Develop a joint, tested perspective on how GHPs can improve performance, by</a:t>
            </a:r>
          </a:p>
          <a:p>
            <a:pPr algn="l" lvl="1" marL="381000" indent="-167640"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Exploring how to improve performance in a GHP, not simply adopting existing approaches</a:t>
            </a:r>
          </a:p>
          <a:p>
            <a:pPr algn="l" lvl="1" marL="381000" indent="-167640">
              <a:spcAft>
                <a:spcPts val="40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Testing new ways of working with Stop TB bodies</a:t>
            </a:r>
          </a:p>
          <a:p>
            <a:pPr algn="l" lvl="1" marL="381000" indent="-167640">
              <a:spcAft>
                <a:spcPts val="0"/>
              </a:spcAft>
              <a:buFont typeface="Arial"/>
              <a:buChar char="–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Developing a joint perspective to share with the global health community</a:t>
            </a:r>
          </a:p>
        </p:txBody>
      </p:sp>
      <p:sp>
        <p:nvSpPr>
          <p:cNvPr id="5" name="card_goals_2"/>
          <p:cNvSpPr/>
          <p:nvPr/>
        </p:nvSpPr>
        <p:spPr>
          <a:xfrm>
            <a:off x="4277258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Approach</a:t>
            </a:r>
            <a:r>
              <a:rPr sz="1200" b="0" i="0">
                <a:solidFill>
                  <a:srgbClr val="1A2332"/>
                </a:solidFill>
                <a:latin typeface="Arial"/>
              </a:rPr>
              <a:t>Build on strengths and improvement opportunities from the 2008 evaluation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Joint working, collaborative, co-creation — not client–consultant work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Duration ~22 weeks: 10 weeks diagnosis/design, 12 weeks delivery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Scope: 5 bodies — GDF, MDR-TB WG, CFCS, Advocacy, and CM&amp;B teams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External interactions with other GHPs, e.g. RBM, UNAIDS, GAVI, GF</a:t>
            </a:r>
          </a:p>
        </p:txBody>
      </p:sp>
      <p:sp>
        <p:nvSpPr>
          <p:cNvPr id="6" name="card_goals_3"/>
          <p:cNvSpPr/>
          <p:nvPr/>
        </p:nvSpPr>
        <p:spPr>
          <a:xfrm>
            <a:off x="8143036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3 main end-products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Successful performance-improvement pilots in selected bodies, with documentation to support roll-out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A co-authored project report suitable for publication in major journals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A practitioner's guide to support McKinsey teams conducting similar work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8" name="meta_pagenum_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project is organized in three distinct phases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today"/>
          <p:cNvSpPr/>
          <p:nvPr/>
        </p:nvSpPr>
        <p:spPr>
          <a:xfrm>
            <a:off x="7617256" y="1344168"/>
            <a:ext cx="822960" cy="25603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5" name="card_phase_1"/>
          <p:cNvSpPr/>
          <p:nvPr/>
        </p:nvSpPr>
        <p:spPr>
          <a:xfrm>
            <a:off x="411480" y="1709928"/>
            <a:ext cx="3637178" cy="441655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Diagnose (Aug – Sep)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Selection of Partnership Bodies — GDF, Advocacy, CM&amp;B, CFCS, MDR-TB WG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Understanding of current performance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Identification of areas of high performance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Selection of one performance issue to improve</a:t>
            </a:r>
          </a:p>
        </p:txBody>
      </p:sp>
      <p:sp>
        <p:nvSpPr>
          <p:cNvPr id="6" name="card_phase_2"/>
          <p:cNvSpPr/>
          <p:nvPr/>
        </p:nvSpPr>
        <p:spPr>
          <a:xfrm>
            <a:off x="4277258" y="1709928"/>
            <a:ext cx="3637178" cy="441655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Design (Sep – Oct)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Intensive work within selected bodies to develop improvement ideas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Select actions to implement in the next phase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Development of implementation plans for the Delivery phase</a:t>
            </a:r>
          </a:p>
        </p:txBody>
      </p:sp>
      <p:sp>
        <p:nvSpPr>
          <p:cNvPr id="7" name="card_phase_3"/>
          <p:cNvSpPr/>
          <p:nvPr/>
        </p:nvSpPr>
        <p:spPr>
          <a:xfrm>
            <a:off x="8143036" y="1709928"/>
            <a:ext cx="3637178" cy="441655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Deliver (Nov – Dec)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Implementation and refinement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Problem-solving sessions on findings, lessons, and implications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Workshop to share achievements across the Partnership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Report and publication; present results to the Board in March 2010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Note: 'Today' sits at the start of the Deliver phase (November 2009).</a:t>
            </a:r>
          </a:p>
        </p:txBody>
      </p:sp>
      <p:sp>
        <p:nvSpPr>
          <p:cNvPr id="9" name="meta_pagenum_5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Our performance framework holds two lenses — processes and enablers — and this shows the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5219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ard_fwproc_chip_1"/>
          <p:cNvSpPr/>
          <p:nvPr/>
        </p:nvSpPr>
        <p:spPr>
          <a:xfrm>
            <a:off x="411480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  Set objectives</a:t>
            </a:r>
          </a:p>
        </p:txBody>
      </p:sp>
      <p:sp>
        <p:nvSpPr>
          <p:cNvPr id="6" name="card_fwproc_chip_2"/>
          <p:cNvSpPr/>
          <p:nvPr/>
        </p:nvSpPr>
        <p:spPr>
          <a:xfrm>
            <a:off x="2336749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  Set targets</a:t>
            </a:r>
          </a:p>
        </p:txBody>
      </p:sp>
      <p:sp>
        <p:nvSpPr>
          <p:cNvPr id="7" name="card_fwproc_chip_3"/>
          <p:cNvSpPr/>
          <p:nvPr/>
        </p:nvSpPr>
        <p:spPr>
          <a:xfrm>
            <a:off x="4262018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  Clear metrics</a:t>
            </a:r>
          </a:p>
        </p:txBody>
      </p:sp>
      <p:sp>
        <p:nvSpPr>
          <p:cNvPr id="8" name="card_fwproc_chip_4"/>
          <p:cNvSpPr/>
          <p:nvPr/>
        </p:nvSpPr>
        <p:spPr>
          <a:xfrm>
            <a:off x="6187287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  Track &amp; share</a:t>
            </a:r>
          </a:p>
        </p:txBody>
      </p:sp>
      <p:sp>
        <p:nvSpPr>
          <p:cNvPr id="9" name="card_fwproc_chip_5"/>
          <p:cNvSpPr/>
          <p:nvPr/>
        </p:nvSpPr>
        <p:spPr>
          <a:xfrm>
            <a:off x="8112556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  Review performance</a:t>
            </a:r>
          </a:p>
        </p:txBody>
      </p:sp>
      <p:sp>
        <p:nvSpPr>
          <p:cNvPr id="10" name="card_fwproc_chip_6"/>
          <p:cNvSpPr/>
          <p:nvPr/>
        </p:nvSpPr>
        <p:spPr>
          <a:xfrm>
            <a:off x="10037826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  Celebrate &amp; act</a:t>
            </a:r>
          </a:p>
        </p:txBody>
      </p:sp>
      <p:sp>
        <p:nvSpPr>
          <p:cNvPr id="11" name="card_fwproc_1"/>
          <p:cNvSpPr/>
          <p:nvPr/>
        </p:nvSpPr>
        <p:spPr>
          <a:xfrm>
            <a:off x="411480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Set objectives &amp; targets (1–2)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Set time-bound objectives that contribute to fulfilling the mission and vision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metrics that directly measure agreed objectives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additional metrics that cascade down from the key metric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Set quantitative targets; translate into operational plans and budgets</a:t>
            </a:r>
          </a:p>
        </p:txBody>
      </p:sp>
      <p:sp>
        <p:nvSpPr>
          <p:cNvPr id="12" name="card_fwproc_2"/>
          <p:cNvSpPr/>
          <p:nvPr/>
        </p:nvSpPr>
        <p:spPr>
          <a:xfrm>
            <a:off x="4277258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Establish &amp; track metrics (3–4)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Produce progress reports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Disseminate reports to team members and stakeholders at pre-aligned intervals</a:t>
            </a:r>
          </a:p>
        </p:txBody>
      </p:sp>
      <p:sp>
        <p:nvSpPr>
          <p:cNvPr id="13" name="card_fwproc_3"/>
          <p:cNvSpPr/>
          <p:nvPr/>
        </p:nvSpPr>
        <p:spPr>
          <a:xfrm>
            <a:off x="8143036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Review &amp; act (5–6)</a:t>
            </a:r>
            <a:r>
              <a:rPr sz="1200" b="0" i="0">
                <a:solidFill>
                  <a:srgbClr val="1A2332"/>
                </a:solidFill>
                <a:latin typeface="Arial"/>
              </a:rPr>
              <a:t>Use reports to discuss progress in structured review meetings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Identify performance gaps and decide how to address them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Celebrate successes and take corrective actions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5" name="meta_pagenum_6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table shows the definitions of performance management terms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terms"/>
          <p:cNvSpPr txBox="1"/>
          <p:nvPr/>
        </p:nvSpPr>
        <p:spPr>
          <a:xfrm>
            <a:off x="411480" y="13441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Definition of performance management terms</a:t>
            </a:r>
          </a:p>
        </p:txBody>
      </p:sp>
      <p:graphicFrame>
        <p:nvGraphicFramePr>
          <p:cNvPr id="5" name="table_terms"/>
          <p:cNvGraphicFramePr>
            <a:graphicFrameLocks noGrp="1"/>
          </p:cNvGraphicFramePr>
          <p:nvPr/>
        </p:nvGraphicFramePr>
        <p:xfrm>
          <a:off x="411480" y="1572768"/>
          <a:ext cx="11365991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669280"/>
                <a:gridCol w="405079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Definition / 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Narrow, time-bound, quantifiable goal that contributes to delivering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TB drugs at USD 20/treatment for X patients in 2010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Measurable variable that indicates progress toward an 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raised; treatments supplied; grants approved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The target value of the chosen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15 million patient treatments supplied by 2010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set of metrics and current values vs. target, with reasons for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See dashboard examples in this document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sequence of meetings to review performance, find root causes, and agree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Quarterly team review meeting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Defines the organization's purpose and primary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Supply low-cost, quality drugs to countries that need them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Articulates the aspiration or target for the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 TB-free world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7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Our performance framework holds two lenses — processes and enablers — and this shows the enablers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enab_1"/>
          <p:cNvSpPr/>
          <p:nvPr/>
        </p:nvSpPr>
        <p:spPr>
          <a:xfrm>
            <a:off x="411480" y="1521968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Committed leadership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Strong leadership involvement and dedication.</a:t>
            </a:r>
          </a:p>
        </p:txBody>
      </p:sp>
      <p:sp>
        <p:nvSpPr>
          <p:cNvPr id="5" name="card_enab_2"/>
          <p:cNvSpPr/>
          <p:nvPr/>
        </p:nvSpPr>
        <p:spPr>
          <a:xfrm>
            <a:off x="6210147" y="1521968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Capacity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Ensure sufficient skills, infrastructure, and resources for performance.</a:t>
            </a:r>
          </a:p>
        </p:txBody>
      </p:sp>
      <p:sp>
        <p:nvSpPr>
          <p:cNvPr id="6" name="card_enab_3"/>
          <p:cNvSpPr/>
          <p:nvPr/>
        </p:nvSpPr>
        <p:spPr>
          <a:xfrm>
            <a:off x="411480" y="3938524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Communications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Communicate performance and the importance of discussing it regularly to all stakeholders.</a:t>
            </a:r>
          </a:p>
        </p:txBody>
      </p:sp>
      <p:sp>
        <p:nvSpPr>
          <p:cNvPr id="7" name="card_enab_4"/>
          <p:cNvSpPr/>
          <p:nvPr/>
        </p:nvSpPr>
        <p:spPr>
          <a:xfrm>
            <a:off x="6210147" y="3938524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Culture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 shared cultural norms for performance (e.g., accountability, behaviors).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9" name="meta_pagenum_8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Some performance processes are challenging for many GHPs given their complex environment and structure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chain_label"/>
          <p:cNvSpPr txBox="1"/>
          <p:nvPr/>
        </p:nvSpPr>
        <p:spPr>
          <a:xfrm>
            <a:off x="411480" y="152196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Performance management</a:t>
            </a:r>
          </a:p>
        </p:txBody>
      </p:sp>
      <p:sp>
        <p:nvSpPr>
          <p:cNvPr id="5" name="card_chproc_chip_1"/>
          <p:cNvSpPr/>
          <p:nvPr/>
        </p:nvSpPr>
        <p:spPr>
          <a:xfrm>
            <a:off x="411480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  Set objectives</a:t>
            </a:r>
          </a:p>
        </p:txBody>
      </p:sp>
      <p:sp>
        <p:nvSpPr>
          <p:cNvPr id="6" name="card_chproc_chip_2"/>
          <p:cNvSpPr/>
          <p:nvPr/>
        </p:nvSpPr>
        <p:spPr>
          <a:xfrm>
            <a:off x="2336749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  Set targets</a:t>
            </a:r>
          </a:p>
        </p:txBody>
      </p:sp>
      <p:sp>
        <p:nvSpPr>
          <p:cNvPr id="7" name="card_chproc_chip_3"/>
          <p:cNvSpPr/>
          <p:nvPr/>
        </p:nvSpPr>
        <p:spPr>
          <a:xfrm>
            <a:off x="4262018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  Clear metrics</a:t>
            </a:r>
          </a:p>
        </p:txBody>
      </p:sp>
      <p:sp>
        <p:nvSpPr>
          <p:cNvPr id="8" name="card_chproc_chip_4"/>
          <p:cNvSpPr/>
          <p:nvPr/>
        </p:nvSpPr>
        <p:spPr>
          <a:xfrm>
            <a:off x="6187287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  Track &amp; share</a:t>
            </a:r>
          </a:p>
        </p:txBody>
      </p:sp>
      <p:sp>
        <p:nvSpPr>
          <p:cNvPr id="9" name="card_chproc_chip_5"/>
          <p:cNvSpPr/>
          <p:nvPr/>
        </p:nvSpPr>
        <p:spPr>
          <a:xfrm>
            <a:off x="8112556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  Review performance</a:t>
            </a:r>
          </a:p>
        </p:txBody>
      </p:sp>
      <p:sp>
        <p:nvSpPr>
          <p:cNvPr id="10" name="card_chproc_chip_6"/>
          <p:cNvSpPr/>
          <p:nvPr/>
        </p:nvSpPr>
        <p:spPr>
          <a:xfrm>
            <a:off x="10037826" y="1759712"/>
            <a:ext cx="1742389" cy="5029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6  Celebrate &amp; act</a:t>
            </a:r>
          </a:p>
        </p:txBody>
      </p:sp>
      <p:sp>
        <p:nvSpPr>
          <p:cNvPr id="11" name="card_chproc_1"/>
          <p:cNvSpPr/>
          <p:nvPr/>
        </p:nvSpPr>
        <p:spPr>
          <a:xfrm>
            <a:off x="411480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Setting objectives &amp; targets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Getting from a vision to specific objectives, rather than directly to activities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Aligning divergent partner views on which objectives to pursue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Committing to targets is hard: voluntary nature and consequences of missing targets</a:t>
            </a:r>
          </a:p>
        </p:txBody>
      </p:sp>
      <p:sp>
        <p:nvSpPr>
          <p:cNvPr id="12" name="card_chproc_2"/>
          <p:cNvSpPr/>
          <p:nvPr/>
        </p:nvSpPr>
        <p:spPr>
          <a:xfrm>
            <a:off x="4277258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Metrics &amp; data</a:t>
            </a:r>
            <a:r>
              <a:rPr sz="1200" b="0" i="0">
                <a:solidFill>
                  <a:srgbClr val="1A2332"/>
                </a:solidFill>
                <a:latin typeface="Arial"/>
              </a:rPr>
              <a:t>Agreeing the right metrics for objectives that are difficult to measure, e.g. TB awareness</a:t>
            </a:r>
          </a:p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Aligning structures with performance drivers and metrics for clear accountability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Getting good performance data given in-country data-gathering limitations</a:t>
            </a:r>
          </a:p>
        </p:txBody>
      </p:sp>
      <p:sp>
        <p:nvSpPr>
          <p:cNvPr id="13" name="card_chproc_3"/>
          <p:cNvSpPr/>
          <p:nvPr/>
        </p:nvSpPr>
        <p:spPr>
          <a:xfrm>
            <a:off x="8143036" y="2463800"/>
            <a:ext cx="3637178" cy="3662680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Advocacy specifics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Setting advocacy objectives that stay current and relevant in changing circumstances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Finding and making visible tactical advocacy opportunities for partners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15" name="meta_pagenum_9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right enablers are also a challenge for many GHPs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henab_1"/>
          <p:cNvSpPr/>
          <p:nvPr/>
        </p:nvSpPr>
        <p:spPr>
          <a:xfrm>
            <a:off x="411480" y="1344168"/>
            <a:ext cx="5570067" cy="22768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Committed leadership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Ensuring leaders regularly lead and participate in performance reviews, despite many other calls on their time.</a:t>
            </a:r>
          </a:p>
        </p:txBody>
      </p:sp>
      <p:sp>
        <p:nvSpPr>
          <p:cNvPr id="5" name="card_chenab_2"/>
          <p:cNvSpPr/>
          <p:nvPr/>
        </p:nvSpPr>
        <p:spPr>
          <a:xfrm>
            <a:off x="6210147" y="1344168"/>
            <a:ext cx="5570067" cy="22768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Capacity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Allocating appropriate resources to performance management given limited resources for internal processes.</a:t>
            </a:r>
          </a:p>
        </p:txBody>
      </p:sp>
      <p:sp>
        <p:nvSpPr>
          <p:cNvPr id="6" name="card_chenab_3"/>
          <p:cNvSpPr/>
          <p:nvPr/>
        </p:nvSpPr>
        <p:spPr>
          <a:xfrm>
            <a:off x="411480" y="3849624"/>
            <a:ext cx="5570067" cy="22768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Communications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Establishing shared accountability across partners' different backgrounds; keeping a loose working group engaged and motivated.</a:t>
            </a:r>
          </a:p>
        </p:txBody>
      </p:sp>
      <p:sp>
        <p:nvSpPr>
          <p:cNvPr id="7" name="card_chenab_4"/>
          <p:cNvSpPr/>
          <p:nvPr/>
        </p:nvSpPr>
        <p:spPr>
          <a:xfrm>
            <a:off x="6210147" y="3849624"/>
            <a:ext cx="5570067" cy="22768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Culture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Moving from performance measurement (extensive reporting) to management (open discussion); defining ambitious goals despite a consensus-building culture.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 with Stop TB Partnership, GAVI, and UNAIDS.</a:t>
            </a:r>
          </a:p>
        </p:txBody>
      </p:sp>
      <p:sp>
        <p:nvSpPr>
          <p:cNvPr id="9" name="meta_pagenum_10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Stop TB Partnership shows strengths across its performance processes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strengths"/>
          <p:cNvSpPr/>
          <p:nvPr/>
        </p:nvSpPr>
        <p:spPr>
          <a:xfrm>
            <a:off x="411480" y="1521968"/>
            <a:ext cx="11368735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8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Strengths across performance processes</a:t>
            </a:r>
            <a:r>
              <a:rPr sz="1200" b="1" i="0">
                <a:solidFill>
                  <a:srgbClr val="1A2332"/>
                </a:solidFill>
                <a:latin typeface="Arial"/>
              </a:rPr>
              <a:t>Setting objectives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GDF objectives are clearly defined and distinguish the change GDF hopes to bring about (e.g. MDGs: 70% diagnosed, 85% cure rate) from its internal goals</a:t>
            </a:r>
          </a:p>
          <a:p>
            <a:pPr algn="l" marL="167640" indent="-167640">
              <a:spcAft>
                <a:spcPts val="80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Tracking &amp; disseminating metrics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despite limited resources, GDF tracks and reports a wide variety of metrics to meet different donor demands</a:t>
            </a:r>
          </a:p>
          <a:p>
            <a:pPr algn="l" marL="167640" indent="-167640">
              <a:spcAft>
                <a:spcPts val="80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Establishing metrics &amp; targets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the MDR-TB Working Group defines concrete metrics (e.g. patients with access to MDR-TB treatment) and sets targets (2009: 200,000 patients, 4 projects)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1" i="0">
                <a:solidFill>
                  <a:srgbClr val="1A2332"/>
                </a:solidFill>
                <a:latin typeface="Arial"/>
              </a:rPr>
              <a:t>Reviewing performance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the Advocacy Team conducts an in-depth review against its funding-proposal objectives, taking stock of results and lessons</a:t>
            </a:r>
          </a:p>
        </p:txBody>
      </p:sp>
      <p:sp>
        <p:nvSpPr>
          <p:cNvPr id="5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analysis; interviews.</a:t>
            </a:r>
          </a:p>
        </p:txBody>
      </p:sp>
      <p:sp>
        <p:nvSpPr>
          <p:cNvPr id="6" name="meta_pagenum_11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overview shows the performance issues we agreed to address across five Partnership bodies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issues"/>
          <p:cNvSpPr txBox="1"/>
          <p:nvPr/>
        </p:nvSpPr>
        <p:spPr>
          <a:xfrm>
            <a:off x="411480" y="15219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Performance issues addressed across the five Partnership bodies</a:t>
            </a:r>
          </a:p>
        </p:txBody>
      </p:sp>
      <p:graphicFrame>
        <p:nvGraphicFramePr>
          <p:cNvPr id="5" name="table_issues"/>
          <p:cNvGraphicFramePr>
            <a:graphicFrameLocks noGrp="1"/>
          </p:cNvGraphicFramePr>
          <p:nvPr/>
        </p:nvGraphicFramePr>
        <p:xfrm>
          <a:off x="411480" y="1750568"/>
          <a:ext cx="1136599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840480"/>
                <a:gridCol w="5056632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Partnership body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Central GHP performance issue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Specific question addressed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GDF tracks 250 metrics, but not all relate to GDF, some overlap, and metrics are not organized hierarchically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Setting advocacy objectives that stay current and relevant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Setting objectives that stay current; finding and making visible tactical opportunities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Comms, Marketing &amp;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Determining detailed objectives for each audience group and defining metrics for each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Challenge Facility for Civil Society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Getting from a vision to specific objectives rather than directly to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Refining the mission based on the first two years' experience and articulating specific objectives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MDR-TB Working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Agreeing the right metrics for objectives that are difficult to 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Tying metrics explicitly to WG objectives; clarifying accountabilities and timelines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While most of GDF's 250 metrics are relevant and helpful, data collection and reporting is onerous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quote_1"/>
          <p:cNvSpPr/>
          <p:nvPr/>
        </p:nvSpPr>
        <p:spPr>
          <a:xfrm>
            <a:off x="411480" y="1521968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All together we report on over 200 KPIs that cover our numerous external reporting requirements</a:t>
            </a:r>
          </a:p>
        </p:txBody>
      </p:sp>
      <p:sp>
        <p:nvSpPr>
          <p:cNvPr id="5" name="card_quote_2"/>
          <p:cNvSpPr/>
          <p:nvPr/>
        </p:nvSpPr>
        <p:spPr>
          <a:xfrm>
            <a:off x="411480" y="2714244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Most individual KPIs are relevant and helpful</a:t>
            </a:r>
          </a:p>
        </p:txBody>
      </p:sp>
      <p:sp>
        <p:nvSpPr>
          <p:cNvPr id="6" name="card_quote_3"/>
          <p:cNvSpPr/>
          <p:nvPr/>
        </p:nvSpPr>
        <p:spPr>
          <a:xfrm>
            <a:off x="411480" y="3906520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KPIs are specific and measurable</a:t>
            </a:r>
          </a:p>
        </p:txBody>
      </p:sp>
      <p:sp>
        <p:nvSpPr>
          <p:cNvPr id="7" name="card_quote_4"/>
          <p:cNvSpPr/>
          <p:nvPr/>
        </p:nvSpPr>
        <p:spPr>
          <a:xfrm>
            <a:off x="411480" y="5098796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It is difficult to define metrics for some areas, so we have KPI gaps</a:t>
            </a:r>
          </a:p>
        </p:txBody>
      </p:sp>
      <p:sp>
        <p:nvSpPr>
          <p:cNvPr id="8" name="card_quote_5"/>
          <p:cNvSpPr/>
          <p:nvPr/>
        </p:nvSpPr>
        <p:spPr>
          <a:xfrm>
            <a:off x="6210147" y="1521968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Some of our KPIs overlap, so it is unclear what we are optimizing for</a:t>
            </a:r>
          </a:p>
        </p:txBody>
      </p:sp>
      <p:sp>
        <p:nvSpPr>
          <p:cNvPr id="9" name="card_quote_6"/>
          <p:cNvSpPr/>
          <p:nvPr/>
        </p:nvSpPr>
        <p:spPr>
          <a:xfrm>
            <a:off x="6210147" y="2714244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It takes too much time to collect the information and adapt it to our 200+ KPIs</a:t>
            </a:r>
          </a:p>
        </p:txBody>
      </p:sp>
      <p:sp>
        <p:nvSpPr>
          <p:cNvPr id="10" name="card_quote_7"/>
          <p:cNvSpPr/>
          <p:nvPr/>
        </p:nvSpPr>
        <p:spPr>
          <a:xfrm>
            <a:off x="6210147" y="3906520"/>
            <a:ext cx="5570067" cy="1027684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Georgia"/>
              </a:rPr>
              <a:t>“</a:t>
            </a:r>
            <a:r>
              <a:rPr sz="1200" b="0" i="1">
                <a:solidFill>
                  <a:srgbClr val="1A2332"/>
                </a:solidFill>
                <a:latin typeface="Arial"/>
              </a:rPr>
              <a:t>Since the hierarchy of KPIs is not clear, it is hard to prioritize</a:t>
            </a:r>
          </a:p>
        </p:txBody>
      </p:sp>
      <p:sp>
        <p:nvSpPr>
          <p:cNvPr id="11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Interviews.</a:t>
            </a:r>
          </a:p>
        </p:txBody>
      </p:sp>
      <p:sp>
        <p:nvSpPr>
          <p:cNvPr id="12" name="meta_pagenum_1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team's eight-step process shows how to create streamlined KPIs, dashboards, and review meetings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step_a"/>
          <p:cNvSpPr/>
          <p:nvPr/>
        </p:nvSpPr>
        <p:spPr>
          <a:xfrm>
            <a:off x="411480" y="1521968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a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Collate all GDF metrics into one database: ~250 in total</a:t>
            </a:r>
          </a:p>
        </p:txBody>
      </p:sp>
      <p:sp>
        <p:nvSpPr>
          <p:cNvPr id="5" name="card_step_b"/>
          <p:cNvSpPr/>
          <p:nvPr/>
        </p:nvSpPr>
        <p:spPr>
          <a:xfrm>
            <a:off x="3310813" y="1521968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b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Agree GDF objectives and cluster metrics/KPIs to objectives</a:t>
            </a:r>
          </a:p>
        </p:txBody>
      </p:sp>
      <p:sp>
        <p:nvSpPr>
          <p:cNvPr id="6" name="card_step_c"/>
          <p:cNvSpPr/>
          <p:nvPr/>
        </p:nvSpPr>
        <p:spPr>
          <a:xfrm>
            <a:off x="6210147" y="1521968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c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Develop a detailed KPI tree for each objective</a:t>
            </a:r>
          </a:p>
        </p:txBody>
      </p:sp>
      <p:sp>
        <p:nvSpPr>
          <p:cNvPr id="7" name="card_step_d"/>
          <p:cNvSpPr/>
          <p:nvPr/>
        </p:nvSpPr>
        <p:spPr>
          <a:xfrm>
            <a:off x="9109481" y="1521968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d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Streamline trees, excluding activity-related or non-GDF-owned KPIs</a:t>
            </a:r>
          </a:p>
        </p:txBody>
      </p:sp>
      <p:sp>
        <p:nvSpPr>
          <p:cNvPr id="8" name="card_step_e"/>
          <p:cNvSpPr/>
          <p:nvPr/>
        </p:nvSpPr>
        <p:spPr>
          <a:xfrm>
            <a:off x="411480" y="3915664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e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Assign owners and define review frequency for each KPI</a:t>
            </a:r>
          </a:p>
        </p:txBody>
      </p:sp>
      <p:sp>
        <p:nvSpPr>
          <p:cNvPr id="9" name="card_step_f"/>
          <p:cNvSpPr/>
          <p:nvPr/>
        </p:nvSpPr>
        <p:spPr>
          <a:xfrm>
            <a:off x="3310813" y="3915664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f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Develop a clear KPI cascade from teams up to the COO review</a:t>
            </a:r>
          </a:p>
        </p:txBody>
      </p:sp>
      <p:sp>
        <p:nvSpPr>
          <p:cNvPr id="10" name="card_step_g"/>
          <p:cNvSpPr/>
          <p:nvPr/>
        </p:nvSpPr>
        <p:spPr>
          <a:xfrm>
            <a:off x="6210147" y="3915664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g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Create dashboards and review calendars for each team</a:t>
            </a:r>
          </a:p>
        </p:txBody>
      </p:sp>
      <p:sp>
        <p:nvSpPr>
          <p:cNvPr id="11" name="card_step_h"/>
          <p:cNvSpPr/>
          <p:nvPr/>
        </p:nvSpPr>
        <p:spPr>
          <a:xfrm>
            <a:off x="9109481" y="3915664"/>
            <a:ext cx="2670733" cy="221081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E75B6"/>
                </a:solidFill>
                <a:latin typeface="Georgia"/>
              </a:rPr>
              <a:t>h</a:t>
            </a:r>
            <a:r>
              <a:rPr sz="1200" b="0" i="0">
                <a:solidFill>
                  <a:srgbClr val="1A2332"/>
                </a:solidFill>
                <a:latin typeface="Arial"/>
              </a:rPr>
              <a:t>  Hold a workshop on conducting performance dialogues</a:t>
            </a:r>
          </a:p>
        </p:txBody>
      </p:sp>
      <p:sp>
        <p:nvSpPr>
          <p:cNvPr id="12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3" name="meta_pagenum_1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table shows seven KPIs that give a clear overview of GDF's performance against its three main objectives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kpitree"/>
          <p:cNvSpPr txBox="1"/>
          <p:nvPr/>
        </p:nvSpPr>
        <p:spPr>
          <a:xfrm>
            <a:off x="411480" y="15219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Seven KPIs mapped to GDF's three main objectives</a:t>
            </a:r>
          </a:p>
        </p:txBody>
      </p:sp>
      <p:graphicFrame>
        <p:nvGraphicFramePr>
          <p:cNvPr id="5" name="table_kpitree"/>
          <p:cNvGraphicFramePr>
            <a:graphicFrameLocks noGrp="1"/>
          </p:cNvGraphicFramePr>
          <p:nvPr/>
        </p:nvGraphicFramePr>
        <p:xfrm>
          <a:off x="411480" y="1750568"/>
          <a:ext cx="11365991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675120"/>
                <a:gridCol w="405079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Provide uninterrupted supply of 1st- and 2nd-line TB drugs and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Number of patient treatments delivered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Average cost per patient treatment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Sustainably strengthen eligible countries' drug management, procurement, and self-sufficiency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Number of countries that move to direct procurement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Ensure appropriate and efficient staffing and funding to drive the 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Organizational health and culture index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Staff capacity and capability index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3c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administrative costs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(same objective)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Funds raised vs. required for GDF activities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analysis; Annual GDF report 2008.</a:t>
            </a:r>
          </a:p>
        </p:txBody>
      </p:sp>
      <p:sp>
        <p:nvSpPr>
          <p:cNvPr id="7" name="meta_pagenum_15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COO's annual dashboard shows cost and volume against target across treatment lines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eyebrow"/>
          <p:cNvSpPr txBox="1"/>
          <p:nvPr/>
        </p:nvSpPr>
        <p:spPr>
          <a:xfrm>
            <a:off x="411480" y="152196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ILLUSTRATIVE — DUMMY NUMBERS</a:t>
            </a:r>
          </a:p>
        </p:txBody>
      </p:sp>
      <p:sp>
        <p:nvSpPr>
          <p:cNvPr id="5" name="caption_chart_dash"/>
          <p:cNvSpPr txBox="1"/>
          <p:nvPr/>
        </p:nvSpPr>
        <p:spPr>
          <a:xfrm>
            <a:off x="411480" y="1796288"/>
            <a:ext cx="685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Average cost per patient treatment or diagnostic unit (USD), Actual vs. Target</a:t>
            </a:r>
          </a:p>
        </p:txBody>
      </p:sp>
      <p:graphicFrame>
        <p:nvGraphicFramePr>
          <p:cNvPr id="6" name="chart_dashboard"/>
          <p:cNvGraphicFramePr>
            <a:graphicFrameLocks noGrp="1"/>
          </p:cNvGraphicFramePr>
          <p:nvPr/>
        </p:nvGraphicFramePr>
        <p:xfrm>
          <a:off x="411480" y="2024888"/>
          <a:ext cx="68580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aption_table_dash"/>
          <p:cNvSpPr txBox="1"/>
          <p:nvPr/>
        </p:nvSpPr>
        <p:spPr>
          <a:xfrm>
            <a:off x="7635240" y="1906016"/>
            <a:ext cx="37307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Funds raised vs. required ($M)</a:t>
            </a:r>
          </a:p>
        </p:txBody>
      </p:sp>
      <p:graphicFrame>
        <p:nvGraphicFramePr>
          <p:cNvPr id="8" name="table_dash"/>
          <p:cNvGraphicFramePr>
            <a:graphicFrameLocks noGrp="1"/>
          </p:cNvGraphicFramePr>
          <p:nvPr/>
        </p:nvGraphicFramePr>
        <p:xfrm>
          <a:off x="7635240" y="2134616"/>
          <a:ext cx="373075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50976"/>
                <a:gridCol w="950976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Stream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Raised (X)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Required (Y)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GDF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11.0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GDF administration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1.7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 Dummy numbers for illustration.</a:t>
            </a:r>
          </a:p>
        </p:txBody>
      </p:sp>
      <p:sp>
        <p:nvSpPr>
          <p:cNvPr id="10" name="meta_pagenum_16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This plan shows the next steps to implement and capture benefits at GDF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gdfnext"/>
          <p:cNvSpPr txBox="1"/>
          <p:nvPr/>
        </p:nvSpPr>
        <p:spPr>
          <a:xfrm>
            <a:off x="411480" y="15219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Next steps to implement and capture benefits at GDF</a:t>
            </a:r>
          </a:p>
        </p:txBody>
      </p:sp>
      <p:graphicFrame>
        <p:nvGraphicFramePr>
          <p:cNvPr id="5" name="table_gdfnext"/>
          <p:cNvGraphicFramePr>
            <a:graphicFrameLocks noGrp="1"/>
          </p:cNvGraphicFramePr>
          <p:nvPr/>
        </p:nvGraphicFramePr>
        <p:xfrm>
          <a:off x="411480" y="1750568"/>
          <a:ext cx="1136599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257031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Share KPI trees with 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Present the GDF KPI tree to donors, compare with metrics they request, and agree any additional KPIs to report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Integrate KPIs into 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Establish simple mechanisms within GDF's existing MIS to input and analyze the data required for KPIs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Complete performance-dialogue workshop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Run a two-hour workshop with GDF team leads on facilitating constructive performance dialogues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Embed KPIs in team performance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Assign reporting responsibilities, schedule review meetings, complete one round of reviews, and refine based on feedback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17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Three steps ensure that emerging opportunities are incorporated into advocacy partners' plans and the Framework Document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adv_1"/>
          <p:cNvSpPr/>
          <p:nvPr/>
        </p:nvSpPr>
        <p:spPr>
          <a:xfrm>
            <a:off x="411480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I — Develop the sunflower</a:t>
            </a:r>
            <a:r>
              <a:rPr sz="1200" b="0" i="0">
                <a:solidFill>
                  <a:srgbClr val="1A2332"/>
                </a:solidFill>
                <a:latin typeface="Arial"/>
              </a:rPr>
              <a:t>Make advocacy every partner's business and increase information sharing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2E75B6"/>
                </a:solidFill>
                <a:latin typeface="Arial"/>
              </a:rPr>
              <a:t>Get more information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Extend the reach of TB advocacy beyond the Partnership</a:t>
            </a:r>
          </a:p>
        </p:txBody>
      </p:sp>
      <p:sp>
        <p:nvSpPr>
          <p:cNvPr id="5" name="card_adv_2"/>
          <p:cNvSpPr/>
          <p:nvPr/>
        </p:nvSpPr>
        <p:spPr>
          <a:xfrm>
            <a:off x="4277258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II — Filter the intelligence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Set up a process that filters information for validity, impact, global relevance, and feasibility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2E75B6"/>
                </a:solidFill>
                <a:latin typeface="Arial"/>
              </a:rPr>
              <a:t>Filter the information received</a:t>
            </a:r>
          </a:p>
        </p:txBody>
      </p:sp>
      <p:sp>
        <p:nvSpPr>
          <p:cNvPr id="6" name="card_adv_3"/>
          <p:cNvSpPr/>
          <p:nvPr/>
        </p:nvSpPr>
        <p:spPr>
          <a:xfrm>
            <a:off x="8143036" y="1521968"/>
            <a:ext cx="3637178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III — Keep the framework relevant</a:t>
            </a:r>
            <a:r>
              <a:rPr sz="1200" b="0" i="0">
                <a:solidFill>
                  <a:srgbClr val="1A2332"/>
                </a:solidFill>
                <a:latin typeface="Arial"/>
              </a:rPr>
              <a:t>For tactical opportunities, create new or adjusted objectives and define what success looks like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2E75B6"/>
                </a:solidFill>
                <a:latin typeface="Arial"/>
              </a:rPr>
              <a:t>Create or adjust objectives and plans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For other opportunities, draft adjustments into the Framework Document and seek AAC advice</a:t>
            </a:r>
          </a:p>
        </p:txBody>
      </p:sp>
      <p:sp>
        <p:nvSpPr>
          <p:cNvPr id="7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Workshops.</a:t>
            </a:r>
          </a:p>
        </p:txBody>
      </p:sp>
      <p:sp>
        <p:nvSpPr>
          <p:cNvPr id="8" name="meta_pagenum_18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Information from an active, extended network is filtered across four criteria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ta_eyebrow"/>
          <p:cNvSpPr txBox="1"/>
          <p:nvPr/>
        </p:nvSpPr>
        <p:spPr>
          <a:xfrm>
            <a:off x="411480" y="152196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E75B6"/>
                </a:solidFill>
                <a:latin typeface="Arial"/>
              </a:rPr>
              <a:t>PRELIMINARY</a:t>
            </a:r>
          </a:p>
        </p:txBody>
      </p:sp>
      <p:sp>
        <p:nvSpPr>
          <p:cNvPr id="5" name="card_filter_1"/>
          <p:cNvSpPr/>
          <p:nvPr/>
        </p:nvSpPr>
        <p:spPr>
          <a:xfrm>
            <a:off x="411480" y="1887728"/>
            <a:ext cx="2670733" cy="39644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 bIns="1270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Validity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E0F0"/>
                </a:solidFill>
                <a:latin typeface="Arial"/>
              </a:rPr>
              <a:t>Checked against a second source — is it accurate and true?</a:t>
            </a:r>
          </a:p>
        </p:txBody>
      </p:sp>
      <p:sp>
        <p:nvSpPr>
          <p:cNvPr id="6" name="card_filter_2"/>
          <p:cNvSpPr/>
          <p:nvPr/>
        </p:nvSpPr>
        <p:spPr>
          <a:xfrm>
            <a:off x="3310813" y="1887728"/>
            <a:ext cx="2670733" cy="39644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 bIns="1270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Global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E0F0"/>
                </a:solidFill>
                <a:latin typeface="Arial"/>
              </a:rPr>
              <a:t>Filtered for global relevance beyond local or national boundaries</a:t>
            </a:r>
          </a:p>
        </p:txBody>
      </p:sp>
      <p:sp>
        <p:nvSpPr>
          <p:cNvPr id="7" name="card_filter_3"/>
          <p:cNvSpPr/>
          <p:nvPr/>
        </p:nvSpPr>
        <p:spPr>
          <a:xfrm>
            <a:off x="6210147" y="1887728"/>
            <a:ext cx="2670733" cy="39644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 bIns="1270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Impact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E0F0"/>
                </a:solidFill>
                <a:latin typeface="Arial"/>
              </a:rPr>
              <a:t>Can it affect policy, donors, or public opinion?</a:t>
            </a:r>
          </a:p>
        </p:txBody>
      </p:sp>
      <p:sp>
        <p:nvSpPr>
          <p:cNvPr id="8" name="card_filter_4"/>
          <p:cNvSpPr/>
          <p:nvPr/>
        </p:nvSpPr>
        <p:spPr>
          <a:xfrm>
            <a:off x="9109481" y="1887728"/>
            <a:ext cx="2670733" cy="39644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27000" bIns="1270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Feasibility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E0F0"/>
                </a:solidFill>
                <a:latin typeface="Arial"/>
              </a:rPr>
              <a:t>Can it realistically become sufficiently impactful activity?</a:t>
            </a:r>
          </a:p>
        </p:txBody>
      </p:sp>
      <p:sp>
        <p:nvSpPr>
          <p:cNvPr id="9" name="meta_filter_out"/>
          <p:cNvSpPr txBox="1"/>
          <p:nvPr/>
        </p:nvSpPr>
        <p:spPr>
          <a:xfrm>
            <a:off x="411480" y="5980176"/>
            <a:ext cx="1136873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3864"/>
                </a:solidFill>
                <a:latin typeface="Arial"/>
              </a:rPr>
              <a:t>→ Filtered intelligence out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Workshops. Apply the filter at the start of advocacy meetings.</a:t>
            </a:r>
          </a:p>
        </p:txBody>
      </p:sp>
      <p:sp>
        <p:nvSpPr>
          <p:cNvPr id="11" name="meta_pagenum_19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High-level objectives are grouped into three areas — raising awareness, engaging TB networks, and supporting the Secretariat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mission_banner"/>
          <p:cNvSpPr/>
          <p:nvPr/>
        </p:nvSpPr>
        <p:spPr>
          <a:xfrm>
            <a:off x="411480" y="1521968"/>
            <a:ext cx="11368735" cy="64008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 bIns="127000">
            <a:noAutofit/>
          </a:bodyPr>
          <a:lstStyle/>
          <a:p>
            <a:pPr algn="l"/>
            <a:r>
              <a:rPr sz="1200" b="1" i="0">
                <a:solidFill>
                  <a:srgbClr val="D6E0F0"/>
                </a:solidFill>
                <a:latin typeface="Arial"/>
              </a:rPr>
              <a:t>Mission:  </a:t>
            </a:r>
            <a:r>
              <a:rPr sz="1200" b="1" i="0">
                <a:solidFill>
                  <a:srgbClr val="FFFFFF"/>
                </a:solidFill>
                <a:latin typeface="Arial"/>
              </a:rPr>
              <a:t>Inspire the world into action against tuberculosis (TB)</a:t>
            </a:r>
          </a:p>
        </p:txBody>
      </p:sp>
      <p:sp>
        <p:nvSpPr>
          <p:cNvPr id="5" name="card_cmb_1"/>
          <p:cNvSpPr/>
          <p:nvPr/>
        </p:nvSpPr>
        <p:spPr>
          <a:xfrm>
            <a:off x="411480" y="2390648"/>
            <a:ext cx="3637178" cy="373583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1 — Raise awareness about TB among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5B6"/>
                </a:solidFill>
                <a:latin typeface="Arial"/>
              </a:rPr>
              <a:t>A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The fourth estate (news media)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5B6"/>
                </a:solidFill>
                <a:latin typeface="Arial"/>
              </a:rPr>
              <a:t>B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Members of the public in donor and selected high-burden countries / BRIC+2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5B6"/>
                </a:solidFill>
                <a:latin typeface="Arial"/>
              </a:rPr>
              <a:t>C — </a:t>
            </a:r>
            <a:r>
              <a:rPr sz="1200" b="0" i="0">
                <a:solidFill>
                  <a:srgbClr val="1A2332"/>
                </a:solidFill>
                <a:latin typeface="Arial"/>
              </a:rPr>
              <a:t>Selected institutions</a:t>
            </a:r>
          </a:p>
        </p:txBody>
      </p:sp>
      <p:sp>
        <p:nvSpPr>
          <p:cNvPr id="6" name="card_cmb_2"/>
          <p:cNvSpPr/>
          <p:nvPr/>
        </p:nvSpPr>
        <p:spPr>
          <a:xfrm>
            <a:off x="4277258" y="2390648"/>
            <a:ext cx="3637178" cy="373583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2 — Engage TB networks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Engage, support, and foster a shared sense of purpose among partners and other members of TB networks.</a:t>
            </a:r>
          </a:p>
        </p:txBody>
      </p:sp>
      <p:sp>
        <p:nvSpPr>
          <p:cNvPr id="7" name="card_cmb_3"/>
          <p:cNvSpPr/>
          <p:nvPr/>
        </p:nvSpPr>
        <p:spPr>
          <a:xfrm>
            <a:off x="8143036" y="2390648"/>
            <a:ext cx="3637178" cy="373583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3 — Support the Secretariat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2332"/>
                </a:solidFill>
                <a:latin typeface="Arial"/>
              </a:rPr>
              <a:t>Provide coordinated support for the core work of the Secretariat.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Note: BRIC+2 = Brazil, Russia, India, China, Indonesia, South Africa. Source: Team discussion.</a:t>
            </a:r>
          </a:p>
        </p:txBody>
      </p:sp>
      <p:sp>
        <p:nvSpPr>
          <p:cNvPr id="9" name="meta_pagenum_20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For each high-level objective, audience groups, objectives, metrics, and targets are defined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ption_table_targets"/>
          <p:cNvSpPr txBox="1"/>
          <p:nvPr/>
        </p:nvSpPr>
        <p:spPr>
          <a:xfrm>
            <a:off x="411480" y="1521968"/>
            <a:ext cx="11368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Audience groups, objectives, metrics, and targets for CM&amp;B</a:t>
            </a:r>
          </a:p>
        </p:txBody>
      </p:sp>
      <p:graphicFrame>
        <p:nvGraphicFramePr>
          <p:cNvPr id="5" name="table_targets"/>
          <p:cNvGraphicFramePr>
            <a:graphicFrameLocks noGrp="1"/>
          </p:cNvGraphicFramePr>
          <p:nvPr/>
        </p:nvGraphicFramePr>
        <p:xfrm>
          <a:off x="411480" y="1750568"/>
          <a:ext cx="113659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017520"/>
                <a:gridCol w="3017520"/>
                <a:gridCol w="2862072"/>
              </a:tblGrid>
              <a:tr h="6583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Audience group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Objective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Students &amp; adults, donor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Raise awareness of the prevalence and threat of TB to grow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Total people reached through marketing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Online viral campaign: 30 million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Students &amp; adults, high-burden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Roll out a viral marketing / social-media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People reached via social channels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Social channels: 5 million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General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Raise awareness of TB as a top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% of population 18–65 acknowledging TB as a top-5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TV PSAs: 5M; Internet PSAs: 10M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News media (fourth estate)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Meet editors to encourage TB coverage; pitch MDR/XDR-TB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Number of editors engaged in ongoing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Arial"/>
                        </a:rPr>
                        <a:t>Target TBD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Team discussion.</a:t>
            </a:r>
          </a:p>
        </p:txBody>
      </p:sp>
      <p:sp>
        <p:nvSpPr>
          <p:cNvPr id="7" name="meta_pagenum_21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The CFCS mission is clarified and objectives are defined to deliver it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cfcs_mission"/>
          <p:cNvSpPr/>
          <p:nvPr/>
        </p:nvSpPr>
        <p:spPr>
          <a:xfrm>
            <a:off x="411480" y="1521968"/>
            <a:ext cx="5570067" cy="460451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52400" bIns="152400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6E0F0"/>
                </a:solidFill>
                <a:latin typeface="Arial"/>
              </a:rPr>
              <a:t>CFCS mission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To provide support to community-based organizations engaged in advocacy and social-mobilization activities seeking to raise awareness and empower communities to become part of the solution in the fight against TB.</a:t>
            </a:r>
          </a:p>
        </p:txBody>
      </p:sp>
      <p:sp>
        <p:nvSpPr>
          <p:cNvPr id="5" name="card_cfcs_objectives"/>
          <p:cNvSpPr/>
          <p:nvPr/>
        </p:nvSpPr>
        <p:spPr>
          <a:xfrm>
            <a:off x="6210147" y="1521968"/>
            <a:ext cx="5570067" cy="4604512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3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Objective 1 — Assist civil-society organizations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Provide small grants for projects that increase awareness and participation of local communities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Identify and stimulate high-quality, competitive applications</a:t>
            </a:r>
          </a:p>
          <a:p>
            <a:pPr algn="l" marL="167640" indent="-16764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Provide coaching and technical assistance to grant recipients</a:t>
            </a:r>
          </a:p>
          <a:p>
            <a:pPr algn="l" marL="167640" indent="-16764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Strengthen links between grant recipients and local authorities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Bring organizations together to exchange best practices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Objective 2 — Efficiently manage CFCS resources</a:t>
            </a:r>
          </a:p>
          <a:p>
            <a:pPr algn="l" marL="167640" indent="-16764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Develop selection criteria that ensure involvement of local health services</a:t>
            </a:r>
          </a:p>
          <a:p>
            <a:pPr algn="l" marL="167640" indent="-167640">
              <a:spcAft>
                <a:spcPts val="30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Hold grantees accountable to project milestones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Use simple evaluation processes that assess impact and integrate lessons</a:t>
            </a:r>
          </a:p>
        </p:txBody>
      </p:sp>
      <p:sp>
        <p:nvSpPr>
          <p:cNvPr id="6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Source: McKinsey analysis.</a:t>
            </a:r>
          </a:p>
        </p:txBody>
      </p:sp>
      <p:sp>
        <p:nvSpPr>
          <p:cNvPr id="7" name="meta_pagenum_22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2332"/>
                </a:solidFill>
                <a:latin typeface="Georgia"/>
              </a:rPr>
              <a:t>A team barometer survey shows working-group engagement across four dimensions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mdr_1"/>
          <p:cNvSpPr/>
          <p:nvPr/>
        </p:nvSpPr>
        <p:spPr>
          <a:xfrm>
            <a:off x="411480" y="1521968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Objectives and direction</a:t>
            </a:r>
            <a:r>
              <a:rPr sz="1200" b="0" i="0">
                <a:solidFill>
                  <a:srgbClr val="1A2332"/>
                </a:solidFill>
                <a:latin typeface="Arial"/>
              </a:rPr>
              <a:t>The objectives of the WG are clear and members are fully aligned on them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WG's leaders provide clear strategic direction</a:t>
            </a:r>
          </a:p>
        </p:txBody>
      </p:sp>
      <p:sp>
        <p:nvSpPr>
          <p:cNvPr id="5" name="card_mdr_2"/>
          <p:cNvSpPr/>
          <p:nvPr/>
        </p:nvSpPr>
        <p:spPr>
          <a:xfrm>
            <a:off x="6210147" y="1521968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Delivery against objectives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I believe the WG is making good progress toward achieving its objectives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The WG is having a meaningful impact in the fight against MDR-TB</a:t>
            </a:r>
          </a:p>
        </p:txBody>
      </p:sp>
      <p:sp>
        <p:nvSpPr>
          <p:cNvPr id="6" name="card_mdr_3"/>
          <p:cNvSpPr/>
          <p:nvPr/>
        </p:nvSpPr>
        <p:spPr>
          <a:xfrm>
            <a:off x="411480" y="3938524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Individual contributions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My subgroup meaningfully contributes to the overall objectives of the WG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After meetings, accountabilities and deadlines for actions are clear</a:t>
            </a:r>
          </a:p>
        </p:txBody>
      </p:sp>
      <p:sp>
        <p:nvSpPr>
          <p:cNvPr id="7" name="card_mdr_4"/>
          <p:cNvSpPr/>
          <p:nvPr/>
        </p:nvSpPr>
        <p:spPr>
          <a:xfrm>
            <a:off x="6210147" y="3938524"/>
            <a:ext cx="5570067" cy="2187956"/>
          </a:xfrm>
          <a:prstGeom prst="roundRect">
            <a:avLst/>
          </a:prstGeom>
          <a:solidFill>
            <a:srgbClr val="F2F4F8"/>
          </a:solidFill>
          <a:ln w="9525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>
            <a:noAutofit/>
          </a:bodyPr>
          <a:lstStyle/>
          <a:p>
            <a:pPr algn="l" marL="167640" indent="-167640">
              <a:spcAft>
                <a:spcPts val="400"/>
              </a:spcAft>
              <a:buFont typeface="Arial"/>
              <a:buChar char="•"/>
            </a:pPr>
            <a:r>
              <a:rPr sz="1200" b="1" i="0">
                <a:solidFill>
                  <a:srgbClr val="1F3864"/>
                </a:solidFill>
                <a:latin typeface="Arial"/>
              </a:rPr>
              <a:t>Mindsets and behaviors</a:t>
            </a:r>
            <a:r>
              <a:rPr sz="1200" b="0" i="0">
                <a:solidFill>
                  <a:srgbClr val="1A2332"/>
                </a:solidFill>
                <a:latin typeface="Arial"/>
              </a:rPr>
              <a:t>The culture within the WG is collaborative and constructive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1A2332"/>
                </a:solidFill>
                <a:latin typeface="Arial"/>
              </a:rPr>
              <a:t>Members are encouraged to voice their opinions, even if controversial</a:t>
            </a:r>
          </a:p>
        </p:txBody>
      </p:sp>
      <p:sp>
        <p:nvSpPr>
          <p:cNvPr id="8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Note: Scale 1 = strongly disagree to 5 = strongly agree. Source: Team survey.</a:t>
            </a:r>
          </a:p>
        </p:txBody>
      </p:sp>
      <p:sp>
        <p:nvSpPr>
          <p:cNvPr id="9" name="meta_pagenum_23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06A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11480" y="411480"/>
            <a:ext cx="10515600" cy="817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Georgia"/>
              </a:rPr>
              <a:t>The next ~10 weeks are focused on implementing the developed solutions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411480" y="1357376"/>
            <a:ext cx="1463040" cy="0"/>
          </a:xfrm>
          <a:prstGeom prst="bentConnector3">
            <a:avLst/>
          </a:prstGeom>
          <a:ln w="317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today_echo"/>
          <p:cNvSpPr/>
          <p:nvPr/>
        </p:nvSpPr>
        <p:spPr>
          <a:xfrm>
            <a:off x="7617256" y="1521968"/>
            <a:ext cx="822960" cy="25603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5" name="card_phase_echo_1"/>
          <p:cNvSpPr/>
          <p:nvPr/>
        </p:nvSpPr>
        <p:spPr>
          <a:xfrm>
            <a:off x="411480" y="1887728"/>
            <a:ext cx="3637178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Diagnose</a:t>
            </a:r>
          </a:p>
        </p:txBody>
      </p:sp>
      <p:sp>
        <p:nvSpPr>
          <p:cNvPr id="6" name="card_phase_echo_2"/>
          <p:cNvSpPr/>
          <p:nvPr/>
        </p:nvSpPr>
        <p:spPr>
          <a:xfrm>
            <a:off x="4277258" y="1887728"/>
            <a:ext cx="3637178" cy="457200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7" name="card_phase_echo_3"/>
          <p:cNvSpPr/>
          <p:nvPr/>
        </p:nvSpPr>
        <p:spPr>
          <a:xfrm>
            <a:off x="8143036" y="1887728"/>
            <a:ext cx="3637178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Deliver</a:t>
            </a:r>
          </a:p>
        </p:txBody>
      </p:sp>
      <p:sp>
        <p:nvSpPr>
          <p:cNvPr id="8" name="card_deliver_actions"/>
          <p:cNvSpPr/>
          <p:nvPr/>
        </p:nvSpPr>
        <p:spPr>
          <a:xfrm>
            <a:off x="411480" y="2573528"/>
            <a:ext cx="11368735" cy="3552952"/>
          </a:xfrm>
          <a:prstGeom prst="roundRect">
            <a:avLst/>
          </a:prstGeom>
          <a:solidFill>
            <a:srgbClr val="2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52400" bIns="152400">
            <a:noAutofit/>
          </a:bodyPr>
          <a:lstStyle/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FFFFFF"/>
                </a:solidFill>
                <a:latin typeface="Arial"/>
              </a:rPr>
              <a:t>Deliver-phase actions</a:t>
            </a:r>
            <a:r>
              <a:rPr sz="1200" b="0" i="0">
                <a:solidFill>
                  <a:srgbClr val="FFFFFF"/>
                </a:solidFill>
                <a:latin typeface="Arial"/>
              </a:rPr>
              <a:t>Implementation within project teams begins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Problem-solving sessions on findings, lessons learned, and implications are conducted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Workshops to share achievements with other Partnership bodies are conducted</a:t>
            </a:r>
          </a:p>
          <a:p>
            <a:pPr algn="l" marL="167640" indent="-167640">
              <a:spcAft>
                <a:spcPts val="600"/>
              </a:spcAft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The report is produced and findings are published</a:t>
            </a:r>
          </a:p>
          <a:p>
            <a:pPr algn="l" marL="167640" indent="-167640">
              <a:spcAft>
                <a:spcPts val="0"/>
              </a:spcAft>
              <a:buFont typeface="Arial"/>
              <a:buChar char="•"/>
            </a:pPr>
            <a:r>
              <a:rPr sz="1200" b="0" i="0">
                <a:solidFill>
                  <a:srgbClr val="FFFFFF"/>
                </a:solidFill>
                <a:latin typeface="Arial"/>
              </a:rPr>
              <a:t>Progress is presented to the Coordinating Board in March 2010</a:t>
            </a:r>
          </a:p>
        </p:txBody>
      </p:sp>
      <p:sp>
        <p:nvSpPr>
          <p:cNvPr id="9" name="background_accent_bar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source"/>
          <p:cNvSpPr txBox="1"/>
          <p:nvPr/>
        </p:nvSpPr>
        <p:spPr>
          <a:xfrm>
            <a:off x="411480" y="63550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EC8"/>
                </a:solidFill>
                <a:latin typeface="Arial"/>
              </a:rPr>
              <a:t>Source: McKinsey analysis.</a:t>
            </a:r>
          </a:p>
        </p:txBody>
      </p:sp>
      <p:sp>
        <p:nvSpPr>
          <p:cNvPr id="11" name="meta_pagenum_24"/>
          <p:cNvSpPr txBox="1"/>
          <p:nvPr/>
        </p:nvSpPr>
        <p:spPr>
          <a:xfrm>
            <a:off x="11475720" y="635508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AAEC8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