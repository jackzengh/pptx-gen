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Sheet1!$A$2:$A$8</c:f>
              <c:strCache>
                <c:ptCount val="7"/>
                <c:pt idx="0">
                  <c:v>Direct</c:v>
                </c:pt>
                <c:pt idx="1">
                  <c:v>Suppliers</c:v>
                </c:pt>
                <c:pt idx="2">
                  <c:v>Community (suppliers)</c:v>
                </c:pt>
                <c:pt idx="3">
                  <c:v>Dealers</c:v>
                </c:pt>
                <c:pt idx="4">
                  <c:v>Community (dealer suppliers)</c:v>
                </c:pt>
                <c:pt idx="5">
                  <c:v>Dealer add</c:v>
                </c:pt>
                <c:pt idx="6">
                  <c:v>Total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37</c:v>
                </c:pt>
                <c:pt idx="2">
                  <c:v>214</c:v>
                </c:pt>
                <c:pt idx="3">
                  <c:v>352</c:v>
                </c:pt>
                <c:pt idx="4">
                  <c:v>425</c:v>
                </c:pt>
                <c:pt idx="5">
                  <c:v>464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2E9E7B"/>
            </a:solidFill>
          </c:spPr>
          <c:dPt>
            <c:idx val="0"/>
            <c:spPr>
              <a:solidFill>
                <a:srgbClr val="2E9E7B"/>
              </a:solidFill>
            </c:spPr>
          </c:dPt>
          <c:dPt>
            <c:idx val="1"/>
            <c:spPr>
              <a:solidFill>
                <a:srgbClr val="2E9E7B"/>
              </a:solidFill>
            </c:spPr>
          </c:dPt>
          <c:dPt>
            <c:idx val="2"/>
            <c:spPr>
              <a:solidFill>
                <a:srgbClr val="2E9E7B"/>
              </a:solidFill>
            </c:spPr>
          </c:dPt>
          <c:dPt>
            <c:idx val="3"/>
            <c:spPr>
              <a:solidFill>
                <a:srgbClr val="2E9E7B"/>
              </a:solidFill>
            </c:spPr>
          </c:dPt>
          <c:dPt>
            <c:idx val="4"/>
            <c:spPr>
              <a:solidFill>
                <a:srgbClr val="2E9E7B"/>
              </a:solidFill>
            </c:spPr>
          </c:dPt>
          <c:dPt>
            <c:idx val="5"/>
            <c:spPr>
              <a:solidFill>
                <a:srgbClr val="2E9E7B"/>
              </a:solidFill>
            </c:spPr>
          </c:dPt>
          <c:dPt>
            <c:idx val="6"/>
            <c:spPr>
              <a:solidFill>
                <a:srgbClr val="124634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Direct</c:v>
                </c:pt>
                <c:pt idx="1">
                  <c:v>Suppliers</c:v>
                </c:pt>
                <c:pt idx="2">
                  <c:v>Community (suppliers)</c:v>
                </c:pt>
                <c:pt idx="3">
                  <c:v>Dealers</c:v>
                </c:pt>
                <c:pt idx="4">
                  <c:v>Community (dealer suppliers)</c:v>
                </c:pt>
                <c:pt idx="5">
                  <c:v>Dealer add</c:v>
                </c:pt>
                <c:pt idx="6">
                  <c:v>Total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37</c:v>
                </c:pt>
                <c:pt idx="1">
                  <c:v>177</c:v>
                </c:pt>
                <c:pt idx="2">
                  <c:v>138</c:v>
                </c:pt>
                <c:pt idx="3">
                  <c:v>73</c:v>
                </c:pt>
                <c:pt idx="4">
                  <c:v>39</c:v>
                </c:pt>
                <c:pt idx="5">
                  <c:v>16</c:v>
                </c:pt>
                <c:pt idx="6">
                  <c:v>480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US jobs (thousands)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Sheet1!$A$2:$A$8</c:f>
              <c:strCache>
                <c:ptCount val="7"/>
                <c:pt idx="0">
                  <c:v>Direct</c:v>
                </c:pt>
                <c:pt idx="1">
                  <c:v>Suppliers</c:v>
                </c:pt>
                <c:pt idx="2">
                  <c:v>Community (suppliers)</c:v>
                </c:pt>
                <c:pt idx="3">
                  <c:v>Dealers</c:v>
                </c:pt>
                <c:pt idx="4">
                  <c:v>Community (dealer suppliers)</c:v>
                </c:pt>
                <c:pt idx="5">
                  <c:v>Dealer add</c:v>
                </c:pt>
                <c:pt idx="6">
                  <c:v>Total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87</c:v>
                </c:pt>
                <c:pt idx="2">
                  <c:v>425</c:v>
                </c:pt>
                <c:pt idx="3">
                  <c:v>603</c:v>
                </c:pt>
                <c:pt idx="4">
                  <c:v>781</c:v>
                </c:pt>
                <c:pt idx="5">
                  <c:v>879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2E9E7B"/>
            </a:solidFill>
          </c:spPr>
          <c:dPt>
            <c:idx val="0"/>
            <c:spPr>
              <a:solidFill>
                <a:srgbClr val="2E9E7B"/>
              </a:solidFill>
            </c:spPr>
          </c:dPt>
          <c:dPt>
            <c:idx val="1"/>
            <c:spPr>
              <a:solidFill>
                <a:srgbClr val="2E9E7B"/>
              </a:solidFill>
            </c:spPr>
          </c:dPt>
          <c:dPt>
            <c:idx val="2"/>
            <c:spPr>
              <a:solidFill>
                <a:srgbClr val="2E9E7B"/>
              </a:solidFill>
            </c:spPr>
          </c:dPt>
          <c:dPt>
            <c:idx val="3"/>
            <c:spPr>
              <a:solidFill>
                <a:srgbClr val="2E9E7B"/>
              </a:solidFill>
            </c:spPr>
          </c:dPt>
          <c:dPt>
            <c:idx val="4"/>
            <c:spPr>
              <a:solidFill>
                <a:srgbClr val="2E9E7B"/>
              </a:solidFill>
            </c:spPr>
          </c:dPt>
          <c:dPt>
            <c:idx val="5"/>
            <c:spPr>
              <a:solidFill>
                <a:srgbClr val="2E9E7B"/>
              </a:solidFill>
            </c:spPr>
          </c:dPt>
          <c:dPt>
            <c:idx val="6"/>
            <c:spPr>
              <a:solidFill>
                <a:srgbClr val="124634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Direct</c:v>
                </c:pt>
                <c:pt idx="1">
                  <c:v>Suppliers</c:v>
                </c:pt>
                <c:pt idx="2">
                  <c:v>Community (suppliers)</c:v>
                </c:pt>
                <c:pt idx="3">
                  <c:v>Dealers</c:v>
                </c:pt>
                <c:pt idx="4">
                  <c:v>Community (dealer suppliers)</c:v>
                </c:pt>
                <c:pt idx="5">
                  <c:v>Dealer add</c:v>
                </c:pt>
                <c:pt idx="6">
                  <c:v>Total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87</c:v>
                </c:pt>
                <c:pt idx="1">
                  <c:v>338</c:v>
                </c:pt>
                <c:pt idx="2">
                  <c:v>271</c:v>
                </c:pt>
                <c:pt idx="3">
                  <c:v>178</c:v>
                </c:pt>
                <c:pt idx="4">
                  <c:v>98</c:v>
                </c:pt>
                <c:pt idx="5">
                  <c:v>40</c:v>
                </c:pt>
                <c:pt idx="6">
                  <c:v>1010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US jobs (thousands)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Direct</c:v>
                </c:pt>
                <c:pt idx="1">
                  <c:v>Suppliers</c:v>
                </c:pt>
                <c:pt idx="2">
                  <c:v>Dealers (Sales)</c:v>
                </c:pt>
                <c:pt idx="3">
                  <c:v>Dealers (After-sales)</c:v>
                </c:pt>
                <c:pt idx="4">
                  <c:v>Community</c:v>
                </c:pt>
                <c:pt idx="5">
                  <c:v>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11</c:v>
                </c:pt>
                <c:pt idx="2">
                  <c:v>28</c:v>
                </c:pt>
                <c:pt idx="3">
                  <c:v>31</c:v>
                </c:pt>
                <c:pt idx="4">
                  <c:v>36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2E9E7B"/>
            </a:solidFill>
          </c:spPr>
          <c:dPt>
            <c:idx val="0"/>
            <c:spPr>
              <a:solidFill>
                <a:srgbClr val="2E9E7B"/>
              </a:solidFill>
            </c:spPr>
          </c:dPt>
          <c:dPt>
            <c:idx val="1"/>
            <c:spPr>
              <a:solidFill>
                <a:srgbClr val="2E9E7B"/>
              </a:solidFill>
            </c:spPr>
          </c:dPt>
          <c:dPt>
            <c:idx val="2"/>
            <c:spPr>
              <a:solidFill>
                <a:srgbClr val="2E9E7B"/>
              </a:solidFill>
            </c:spPr>
          </c:dPt>
          <c:dPt>
            <c:idx val="3"/>
            <c:spPr>
              <a:solidFill>
                <a:srgbClr val="2E9E7B"/>
              </a:solidFill>
            </c:spPr>
          </c:dPt>
          <c:dPt>
            <c:idx val="4"/>
            <c:spPr>
              <a:solidFill>
                <a:srgbClr val="2E9E7B"/>
              </a:solidFill>
            </c:spPr>
          </c:dPt>
          <c:dPt>
            <c:idx val="5"/>
            <c:spPr>
              <a:solidFill>
                <a:srgbClr val="124634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Direct</c:v>
                </c:pt>
                <c:pt idx="1">
                  <c:v>Suppliers</c:v>
                </c:pt>
                <c:pt idx="2">
                  <c:v>Dealers (Sales)</c:v>
                </c:pt>
                <c:pt idx="3">
                  <c:v>Dealers (After-sales)</c:v>
                </c:pt>
                <c:pt idx="4">
                  <c:v>Community</c:v>
                </c:pt>
                <c:pt idx="5">
                  <c:v>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17</c:v>
                </c:pt>
                <c:pt idx="2">
                  <c:v>3</c:v>
                </c:pt>
                <c:pt idx="3">
                  <c:v>5</c:v>
                </c:pt>
                <c:pt idx="4">
                  <c:v>13</c:v>
                </c:pt>
                <c:pt idx="5">
                  <c:v>49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US GDP ($B)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Direct</c:v>
                </c:pt>
                <c:pt idx="1">
                  <c:v>Suppliers</c:v>
                </c:pt>
                <c:pt idx="2">
                  <c:v>Dealers (Sales)</c:v>
                </c:pt>
                <c:pt idx="3">
                  <c:v>Dealers (After-sales)</c:v>
                </c:pt>
                <c:pt idx="4">
                  <c:v>Community</c:v>
                </c:pt>
                <c:pt idx="5">
                  <c:v>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19</c:v>
                </c:pt>
                <c:pt idx="2">
                  <c:v>51</c:v>
                </c:pt>
                <c:pt idx="3">
                  <c:v>58</c:v>
                </c:pt>
                <c:pt idx="4">
                  <c:v>71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2E9E7B"/>
            </a:solidFill>
          </c:spPr>
          <c:dPt>
            <c:idx val="0"/>
            <c:spPr>
              <a:solidFill>
                <a:srgbClr val="2E9E7B"/>
              </a:solidFill>
            </c:spPr>
          </c:dPt>
          <c:dPt>
            <c:idx val="1"/>
            <c:spPr>
              <a:solidFill>
                <a:srgbClr val="2E9E7B"/>
              </a:solidFill>
            </c:spPr>
          </c:dPt>
          <c:dPt>
            <c:idx val="2"/>
            <c:spPr>
              <a:solidFill>
                <a:srgbClr val="2E9E7B"/>
              </a:solidFill>
            </c:spPr>
          </c:dPt>
          <c:dPt>
            <c:idx val="3"/>
            <c:spPr>
              <a:solidFill>
                <a:srgbClr val="2E9E7B"/>
              </a:solidFill>
            </c:spPr>
          </c:dPt>
          <c:dPt>
            <c:idx val="4"/>
            <c:spPr>
              <a:solidFill>
                <a:srgbClr val="2E9E7B"/>
              </a:solidFill>
            </c:spPr>
          </c:dPt>
          <c:dPt>
            <c:idx val="5"/>
            <c:spPr>
              <a:solidFill>
                <a:srgbClr val="124634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Direct</c:v>
                </c:pt>
                <c:pt idx="1">
                  <c:v>Suppliers</c:v>
                </c:pt>
                <c:pt idx="2">
                  <c:v>Dealers (Sales)</c:v>
                </c:pt>
                <c:pt idx="3">
                  <c:v>Dealers (After-sales)</c:v>
                </c:pt>
                <c:pt idx="4">
                  <c:v>Community</c:v>
                </c:pt>
                <c:pt idx="5">
                  <c:v>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32</c:v>
                </c:pt>
                <c:pt idx="2">
                  <c:v>7</c:v>
                </c:pt>
                <c:pt idx="3">
                  <c:v>13</c:v>
                </c:pt>
                <c:pt idx="4">
                  <c:v>29</c:v>
                </c:pt>
                <c:pt idx="5">
                  <c:v>100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US GDP ($B)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ln w="28575">
              <a:solidFill>
                <a:srgbClr val="2E9E7B"/>
              </a:solidFill>
            </a:ln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</c:v>
                </c:pt>
                <c:pt idx="1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ln w="15875">
              <a:solidFill>
                <a:srgbClr val="AEB4BA"/>
              </a:solidFill>
            </a:ln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430</c:v>
                </c:pt>
                <c:pt idx="1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ln w="15875">
              <a:solidFill>
                <a:srgbClr val="AEB4BA"/>
              </a:solidFill>
            </a:ln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420</c:v>
                </c:pt>
                <c:pt idx="1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ln w="15875">
              <a:solidFill>
                <a:srgbClr val="AEB4BA"/>
              </a:solidFill>
            </a:ln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175</c:v>
                </c:pt>
                <c:pt idx="1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ln w="15875">
              <a:solidFill>
                <a:srgbClr val="AEB4BA"/>
              </a:solidFill>
            </a:ln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Thousands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868D95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AEB4BA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C4CBC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D6DBDD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1B2638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ECC"/>
            </a:solidFill>
          </a:ln>
        </c:spPr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</c:f>
              <c:numCache>
                <c:formatCode>[(560, 78), (110, 78), (120, 78), (30, 77), (250, 71), (110, 70), (180, 68), (440, 68), (430, 66), (30, 59), (75, 61), (75, 52)]</c:formatCode>
                <c:ptCount val="0"/>
              </c:numCache>
            </c:numRef>
          </c:xVal>
          <c:yVal>
            <c:numRef>
              <c:f>Sheet1!$B$2:$B$1</c:f>
              <c:numCache>
                <c:formatCode>[(560, 78), (110, 78), (120, 78), (30, 77), (250, 71), (110, 70), (180, 68), (440, 68), (430, 66), (30, 59), (75, 61), (75, 52)]</c:formatCode>
                <c:ptCount val="0"/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bub</c:v>
                </c:pt>
              </c:strCache>
            </c:strRef>
          </c:tx>
          <c:spPr>
            <a:solidFill>
              <a:srgbClr val="AEB4BA"/>
            </a:solidFill>
          </c:spPr>
          <c:invertIfNegative val="0"/>
          <c:xVal>
            <c:numRef>
              <c:f>Sheet1!$A$2:$A$1</c:f>
              <c:numCache>
                <c:formatCode>[(37, 1.8, 60), (38, 2.7, 12), (35, 1.5, 30), (35, 1.2, 80), (35, 0.8, 40), (36, 0.7, 90), (33, 0.7, 85), (8, 0.7, 35)]</c:formatCode>
                <c:ptCount val="0"/>
              </c:numCache>
            </c:numRef>
          </c:xVal>
          <c:yVal>
            <c:numRef>
              <c:f>Sheet1!$B$2:$B$1</c:f>
              <c:numCache>
                <c:formatCode>[(37, 1.8, 60), (38, 2.7, 12), (35, 1.5, 30), (35, 1.2, 80), (35, 0.8, 40), (36, 0.7, 90), (33, 0.7, 85), (8, 0.7, 35)]</c:formatCode>
                <c:ptCount val="0"/>
              </c:numCache>
            </c:numRef>
          </c:yVal>
          <c:bubbleSize>
            <c:numRef>
              <c:f>Sheet1!$C$2:$C$1</c:f>
              <c:numCache>
                <c:formatCode>[(37, 1.8, 60), (38, 2.7, 12), (35, 1.5, 30), (35, 1.2, 80), (35, 0.8, 40), (36, 0.7, 90), (33, 0.7, 85), (8, 0.7, 35)]</c:formatCode>
                <c:ptCount val="0"/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AEB4BA"/>
            </a:solidFill>
          </c:spPr>
          <c:dPt>
            <c:idx val="0"/>
            <c:spPr>
              <a:solidFill>
                <a:srgbClr val="AEB4BA"/>
              </a:solidFill>
            </c:spPr>
          </c:dPt>
          <c:dPt>
            <c:idx val="1"/>
            <c:spPr>
              <a:solidFill>
                <a:srgbClr val="2E9E7B"/>
              </a:solidFill>
            </c:spPr>
          </c:dPt>
          <c:dPt>
            <c:idx val="2"/>
            <c:spPr>
              <a:solidFill>
                <a:srgbClr val="AEB4BA"/>
              </a:solidFill>
            </c:spPr>
          </c:dPt>
          <c:dPt>
            <c:idx val="3"/>
            <c:spPr>
              <a:solidFill>
                <a:srgbClr val="AEB4BA"/>
              </a:solidFill>
            </c:spPr>
          </c:dPt>
          <c:dPt>
            <c:idx val="4"/>
            <c:spPr>
              <a:solidFill>
                <a:srgbClr val="AEB4BA"/>
              </a:solidFill>
            </c:spPr>
          </c:dPt>
          <c:dPt>
            <c:idx val="5"/>
            <c:spPr>
              <a:solidFill>
                <a:srgbClr val="AEB4BA"/>
              </a:solidFill>
            </c:spPr>
          </c:dPt>
          <c:dPt>
            <c:idx val="6"/>
            <c:spPr>
              <a:solidFill>
                <a:srgbClr val="AEB4BA"/>
              </a:solidFill>
            </c:spPr>
          </c:dPt>
          <c:dPt>
            <c:idx val="7"/>
            <c:spPr>
              <a:solidFill>
                <a:srgbClr val="AEB4BA"/>
              </a:solidFill>
            </c:spPr>
          </c:dPt>
          <c:dPt>
            <c:idx val="8"/>
            <c:spPr>
              <a:solidFill>
                <a:srgbClr val="AEB4BA"/>
              </a:solidFill>
            </c:spPr>
          </c:dPt>
          <c:dPt>
            <c:idx val="9"/>
            <c:spPr>
              <a:solidFill>
                <a:srgbClr val="AEB4BA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iPhone (US) 0.8x</c:v>
                </c:pt>
                <c:pt idx="1">
                  <c:v>Ford F-Series (US)</c:v>
                </c:pt>
                <c:pt idx="2">
                  <c:v>Android OS (US) 1.2x</c:v>
                </c:pt>
                <c:pt idx="3">
                  <c:v>Disney experiences 1.3x</c:v>
                </c:pt>
                <c:pt idx="4">
                  <c:v>US refrigerators 2.2x</c:v>
                </c:pt>
                <c:pt idx="5">
                  <c:v>Budweiser 2.8x</c:v>
                </c:pt>
                <c:pt idx="6">
                  <c:v>NFL 2.8x</c:v>
                </c:pt>
                <c:pt idx="7">
                  <c:v>MLB 3.8x</c:v>
                </c:pt>
                <c:pt idx="8">
                  <c:v>NBA 4.7x</c:v>
                </c:pt>
                <c:pt idx="9">
                  <c:v>NHL 8.5x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</c:v>
                </c:pt>
                <c:pt idx="1">
                  <c:v>42</c:v>
                </c:pt>
                <c:pt idx="2">
                  <c:v>36</c:v>
                </c:pt>
                <c:pt idx="3">
                  <c:v>32</c:v>
                </c:pt>
                <c:pt idx="4">
                  <c:v>19</c:v>
                </c:pt>
                <c:pt idx="5">
                  <c:v>15</c:v>
                </c:pt>
                <c:pt idx="6">
                  <c:v>15</c:v>
                </c:pt>
                <c:pt idx="7">
                  <c:v>11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Revenue ($B)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AEB4BA"/>
            </a:solidFill>
          </c:spPr>
          <c:dPt>
            <c:idx val="0"/>
            <c:spPr>
              <a:solidFill>
                <a:srgbClr val="2E9E7B"/>
              </a:solidFill>
            </c:spPr>
          </c:dPt>
          <c:dPt>
            <c:idx val="1"/>
            <c:spPr>
              <a:solidFill>
                <a:srgbClr val="AEB4BA"/>
              </a:solidFill>
            </c:spPr>
          </c:dPt>
          <c:dPt>
            <c:idx val="2"/>
            <c:spPr>
              <a:solidFill>
                <a:srgbClr val="AEB4BA"/>
              </a:solidFill>
            </c:spPr>
          </c:dPt>
          <c:dPt>
            <c:idx val="3"/>
            <c:spPr>
              <a:solidFill>
                <a:srgbClr val="AEB4BA"/>
              </a:solidFill>
            </c:spPr>
          </c:dPt>
          <c:dPt>
            <c:idx val="4"/>
            <c:spPr>
              <a:solidFill>
                <a:srgbClr val="AEB4BA"/>
              </a:solidFill>
            </c:spPr>
          </c:dPt>
          <c:dPt>
            <c:idx val="5"/>
            <c:spPr>
              <a:solidFill>
                <a:srgbClr val="AEB4BA"/>
              </a:solidFill>
            </c:spPr>
          </c:dPt>
          <c:dPt>
            <c:idx val="6"/>
            <c:spPr>
              <a:solidFill>
                <a:srgbClr val="AEB4BA"/>
              </a:solidFill>
            </c:spPr>
          </c:dPt>
          <c:dPt>
            <c:idx val="7"/>
            <c:spPr>
              <a:solidFill>
                <a:srgbClr val="AEB4BA"/>
              </a:solidFill>
            </c:spPr>
          </c:dPt>
          <c:dPt>
            <c:idx val="8"/>
            <c:spPr>
              <a:solidFill>
                <a:srgbClr val="AEB4BA"/>
              </a:solidFill>
            </c:spPr>
          </c:dPt>
          <c:dPt>
            <c:idx val="9"/>
            <c:spPr>
              <a:solidFill>
                <a:srgbClr val="AEB4BA"/>
              </a:solidFill>
            </c:spPr>
          </c:dPt>
          <c:dPt>
            <c:idx val="10"/>
            <c:spPr>
              <a:solidFill>
                <a:srgbClr val="AEB4BA"/>
              </a:solidFill>
            </c:spPr>
          </c:dPt>
          <c:dPt>
            <c:idx val="11"/>
            <c:spPr>
              <a:solidFill>
                <a:srgbClr val="AEB4BA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1B2638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Ford F-Series (US)</c:v>
                </c:pt>
                <c:pt idx="1">
                  <c:v>McDonald's (US) 1.0x</c:v>
                </c:pt>
                <c:pt idx="2">
                  <c:v>Nike 1.1x</c:v>
                </c:pt>
                <c:pt idx="3">
                  <c:v>John Deere 1.1x</c:v>
                </c:pt>
                <c:pt idx="4">
                  <c:v>Coca-Cola 1.1x</c:v>
                </c:pt>
                <c:pt idx="5">
                  <c:v>Starbucks 1.4x</c:v>
                </c:pt>
                <c:pt idx="6">
                  <c:v>Capital One 1.5x</c:v>
                </c:pt>
                <c:pt idx="7">
                  <c:v>Visa 1.8x</c:v>
                </c:pt>
                <c:pt idx="8">
                  <c:v>Tesla 2.0x</c:v>
                </c:pt>
                <c:pt idx="9">
                  <c:v>Netflix 2.1x</c:v>
                </c:pt>
                <c:pt idx="10">
                  <c:v>Uber 3.0x</c:v>
                </c:pt>
                <c:pt idx="11">
                  <c:v>Twitter 12.2x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40</c:v>
                </c:pt>
                <c:pt idx="2">
                  <c:v>39</c:v>
                </c:pt>
                <c:pt idx="3">
                  <c:v>39</c:v>
                </c:pt>
                <c:pt idx="4">
                  <c:v>37</c:v>
                </c:pt>
                <c:pt idx="5">
                  <c:v>31</c:v>
                </c:pt>
                <c:pt idx="6">
                  <c:v>28</c:v>
                </c:pt>
                <c:pt idx="7">
                  <c:v>23</c:v>
                </c:pt>
                <c:pt idx="8">
                  <c:v>21</c:v>
                </c:pt>
                <c:pt idx="9">
                  <c:v>20</c:v>
                </c:pt>
                <c:pt idx="10">
                  <c:v>14</c:v>
                </c:pt>
                <c:pt idx="1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B26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7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5B6677"/>
                    </a:solidFill>
                  </a:rPr>
                  <a:t>2019 revenue ($B)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67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erlay_image_credit"/>
          <p:cNvSpPr txBox="1"/>
          <p:nvPr/>
        </p:nvSpPr>
        <p:spPr>
          <a:xfrm>
            <a:off x="420624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20116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Economic Impact of Ford and the F-Series</a:t>
            </a:r>
          </a:p>
        </p:txBody>
      </p:sp>
      <p:cxnSp>
        <p:nvCxnSpPr>
          <p:cNvPr id="6" name="title_rule"/>
          <p:cNvCxnSpPr/>
          <p:nvPr/>
        </p:nvCxnSpPr>
        <p:spPr>
          <a:xfrm>
            <a:off x="502920" y="3611880"/>
            <a:ext cx="1463040" cy="0"/>
          </a:xfrm>
          <a:prstGeom prst="bentConnector3">
            <a:avLst/>
          </a:prstGeom>
          <a:ln w="381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"/>
          <p:cNvSpPr txBox="1"/>
          <p:nvPr/>
        </p:nvSpPr>
        <p:spPr>
          <a:xfrm>
            <a:off x="502920" y="3794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9F4EF"/>
                </a:solidFill>
                <a:latin typeface="Arial"/>
              </a:rPr>
              <a:t>September 2020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02920" y="6309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Ford  |  BCG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This study shows Ford's economic impact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6984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_summary"/>
          <p:cNvSpPr txBox="1"/>
          <p:nvPr/>
        </p:nvSpPr>
        <p:spPr>
          <a:xfrm>
            <a:off x="41148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Summary of the study</a:t>
            </a:r>
          </a:p>
        </p:txBody>
      </p:sp>
      <p:cxnSp>
        <p:nvCxnSpPr>
          <p:cNvPr id="5" name="rule_sum"/>
          <p:cNvCxnSpPr/>
          <p:nvPr/>
        </p:nvCxnSpPr>
        <p:spPr>
          <a:xfrm>
            <a:off x="411480" y="1527048"/>
            <a:ext cx="548640" cy="0"/>
          </a:xfrm>
          <a:prstGeom prst="bentConnector3">
            <a:avLst/>
          </a:prstGeom>
          <a:ln w="190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head_approach"/>
          <p:cNvSpPr txBox="1"/>
          <p:nvPr/>
        </p:nvSpPr>
        <p:spPr>
          <a:xfrm>
            <a:off x="6291072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Approach</a:t>
            </a:r>
          </a:p>
        </p:txBody>
      </p:sp>
      <p:cxnSp>
        <p:nvCxnSpPr>
          <p:cNvPr id="7" name="rule_app"/>
          <p:cNvCxnSpPr/>
          <p:nvPr/>
        </p:nvCxnSpPr>
        <p:spPr>
          <a:xfrm>
            <a:off x="6291072" y="1527048"/>
            <a:ext cx="548640" cy="0"/>
          </a:xfrm>
          <a:prstGeom prst="bentConnector3">
            <a:avLst/>
          </a:prstGeom>
          <a:ln w="190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dy_summary"/>
          <p:cNvSpPr txBox="1"/>
          <p:nvPr/>
        </p:nvSpPr>
        <p:spPr>
          <a:xfrm>
            <a:off x="411480" y="169164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companies.</a:t>
            </a:r>
          </a:p>
        </p:txBody>
      </p:sp>
      <p:sp>
        <p:nvSpPr>
          <p:cNvPr id="9" name="body_approach"/>
          <p:cNvSpPr txBox="1"/>
          <p:nvPr/>
        </p:nvSpPr>
        <p:spPr>
          <a:xfrm>
            <a:off x="6291072" y="16916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BCG evaluated the impact of the F-Series and Ford across four dimensions: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1.  Employment impact at a national and select regional levels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2.  Economic impact at a national and select regional levels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3.  Ford's current and historical US manufacturing presence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4.  Product usage illustrating how the F-Series and Ford support Americans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BCG analysis.</a:t>
            </a:r>
          </a:p>
        </p:txBody>
      </p:sp>
      <p:sp>
        <p:nvSpPr>
          <p:cNvPr id="11" name="meta_pagenum_2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548640"/>
            <a:ext cx="3291840" cy="2407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study shows key economic and employment impacts of Ford and the F-Series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502920" y="3065653"/>
            <a:ext cx="128016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ody_findings"/>
          <p:cNvSpPr txBox="1"/>
          <p:nvPr/>
        </p:nvSpPr>
        <p:spPr>
          <a:xfrm>
            <a:off x="4343400" y="1371600"/>
            <a:ext cx="74368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Georgia"/>
              </a:rPr>
              <a:t>Economic and employment impact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13 to 14 US jobs are supported for each direct Ford F-Series employee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This equates to ~500,000 total jobs attributable to the F-Series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F-Series contributes approximately ~$49 billion to US GDP, including multiplier effects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F-Series trucks are used by and support up to 13 million Americans in their daily work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300" b="1" i="0">
                <a:solidFill>
                  <a:srgbClr val="1B6B52"/>
                </a:solidFill>
                <a:latin typeface="Georgia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7"/>
                </a:solidFill>
                <a:latin typeface="Arial"/>
              </a:rPr>
              <a:t>Ford leads US pickup assembly and automotive innovation (detail on later slides).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6B52"/>
                </a:solidFill>
                <a:latin typeface="Georgia"/>
              </a:rPr>
              <a:t>Usage impact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Arial"/>
              </a:rPr>
              <a:t>The F-Series is among the most valuable and widely used US products (detail on later slides).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057900"/>
            <a:ext cx="105156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BCG analysis.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Note: Multiplier effects include after-sales services and community GDP impact from employee respending.</a:t>
            </a:r>
          </a:p>
        </p:txBody>
      </p:sp>
      <p:sp>
        <p:nvSpPr>
          <p:cNvPr id="7" name="meta_pagenum_3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Manufacturing leadership and unmatched usage anchor the F-Series' impact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_mfg"/>
          <p:cNvSpPr txBox="1"/>
          <p:nvPr/>
        </p:nvSpPr>
        <p:spPr>
          <a:xfrm>
            <a:off x="411480" y="144526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Georgia"/>
              </a:rPr>
              <a:t>Manufacturing impact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Ford assembled 2x as many full-size pickups in the US as any competitor in 2019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Ford is the leading US auto manufacturer, responsible for one in five vehicles assembled domestically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Ford is a leader in automotive innovation in terms of patent quality and recency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F-150 is the most American-made full-size pickup truck (external study)</a:t>
            </a:r>
          </a:p>
        </p:txBody>
      </p:sp>
      <p:sp>
        <p:nvSpPr>
          <p:cNvPr id="5" name="body_usage"/>
          <p:cNvSpPr txBox="1"/>
          <p:nvPr/>
        </p:nvSpPr>
        <p:spPr>
          <a:xfrm>
            <a:off x="6291072" y="144526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Georgia"/>
              </a:rPr>
              <a:t>Usage impact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F-Series is among the most valuable consumer products in the US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F-Series is the most popular vehicle on the road in the US today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F-Series is the highest-selling vehicle in the US over the last ten years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F-Series is the best-selling pickup truck in the world over the last ten years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The F-150 is the most popular vehicle on the road in 39 of 50 US states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Ford is the most popular pickup truck in 75% of commercial vocations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BCG analysis.</a:t>
            </a:r>
          </a:p>
        </p:txBody>
      </p:sp>
      <p:sp>
        <p:nvSpPr>
          <p:cNvPr id="7" name="meta_pagenum_4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report shows employment, GDP, manufacturing, and usage impacts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tile_0"/>
          <p:cNvSpPr/>
          <p:nvPr/>
        </p:nvSpPr>
        <p:spPr>
          <a:xfrm>
            <a:off x="540867" y="1719580"/>
            <a:ext cx="2606040" cy="3291840"/>
          </a:xfrm>
          <a:prstGeom prst="rect">
            <a:avLst/>
          </a:prstGeom>
          <a:solidFill>
            <a:srgbClr val="124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tilenum_0"/>
          <p:cNvSpPr/>
          <p:nvPr/>
        </p:nvSpPr>
        <p:spPr>
          <a:xfrm>
            <a:off x="650595" y="1829308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body_tilecap_0"/>
          <p:cNvSpPr txBox="1"/>
          <p:nvPr/>
        </p:nvSpPr>
        <p:spPr>
          <a:xfrm>
            <a:off x="540867" y="517601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Employment impact</a:t>
            </a:r>
          </a:p>
        </p:txBody>
      </p:sp>
      <p:sp>
        <p:nvSpPr>
          <p:cNvPr id="7" name="background_tile_1"/>
          <p:cNvSpPr/>
          <p:nvPr/>
        </p:nvSpPr>
        <p:spPr>
          <a:xfrm>
            <a:off x="3375507" y="1719580"/>
            <a:ext cx="2606040" cy="3291840"/>
          </a:xfrm>
          <a:prstGeom prst="rect">
            <a:avLst/>
          </a:prstGeom>
          <a:solidFill>
            <a:srgbClr val="124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tilenum_1"/>
          <p:cNvSpPr/>
          <p:nvPr/>
        </p:nvSpPr>
        <p:spPr>
          <a:xfrm>
            <a:off x="3485235" y="1829308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body_tilecap_1"/>
          <p:cNvSpPr txBox="1"/>
          <p:nvPr/>
        </p:nvSpPr>
        <p:spPr>
          <a:xfrm>
            <a:off x="3375507" y="517601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GDP impact</a:t>
            </a:r>
          </a:p>
        </p:txBody>
      </p:sp>
      <p:sp>
        <p:nvSpPr>
          <p:cNvPr id="10" name="background_tile_2"/>
          <p:cNvSpPr/>
          <p:nvPr/>
        </p:nvSpPr>
        <p:spPr>
          <a:xfrm>
            <a:off x="6210147" y="1719580"/>
            <a:ext cx="2606040" cy="3291840"/>
          </a:xfrm>
          <a:prstGeom prst="rect">
            <a:avLst/>
          </a:prstGeom>
          <a:solidFill>
            <a:srgbClr val="124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lay_tilenum_2"/>
          <p:cNvSpPr/>
          <p:nvPr/>
        </p:nvSpPr>
        <p:spPr>
          <a:xfrm>
            <a:off x="6319875" y="1829308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body_tilecap_2"/>
          <p:cNvSpPr txBox="1"/>
          <p:nvPr/>
        </p:nvSpPr>
        <p:spPr>
          <a:xfrm>
            <a:off x="6210147" y="517601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Manufacturing impact</a:t>
            </a:r>
          </a:p>
        </p:txBody>
      </p:sp>
      <p:sp>
        <p:nvSpPr>
          <p:cNvPr id="13" name="background_tile_3"/>
          <p:cNvSpPr/>
          <p:nvPr/>
        </p:nvSpPr>
        <p:spPr>
          <a:xfrm>
            <a:off x="9044787" y="1719580"/>
            <a:ext cx="2606040" cy="3291840"/>
          </a:xfrm>
          <a:prstGeom prst="rect">
            <a:avLst/>
          </a:prstGeom>
          <a:solidFill>
            <a:srgbClr val="124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lay_tilenum_3"/>
          <p:cNvSpPr/>
          <p:nvPr/>
        </p:nvSpPr>
        <p:spPr>
          <a:xfrm>
            <a:off x="9154515" y="1829308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body_tilecap_3"/>
          <p:cNvSpPr txBox="1"/>
          <p:nvPr/>
        </p:nvSpPr>
        <p:spPr>
          <a:xfrm>
            <a:off x="9044787" y="517601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16" name="overlay_image_credit"/>
          <p:cNvSpPr txBox="1"/>
          <p:nvPr/>
        </p:nvSpPr>
        <p:spPr>
          <a:xfrm>
            <a:off x="420624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Images: Ford.</a:t>
            </a:r>
          </a:p>
        </p:txBody>
      </p:sp>
      <p:sp>
        <p:nvSpPr>
          <p:cNvPr id="17" name="meta_pagenum_5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548640"/>
            <a:ext cx="3291840" cy="1953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F-Series holds a vast employment footprint across the US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502920" y="2611628"/>
            <a:ext cx="128016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nav"/>
          <p:cNvSpPr txBox="1"/>
          <p:nvPr/>
        </p:nvSpPr>
        <p:spPr>
          <a:xfrm>
            <a:off x="502920" y="38404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Usage impact</a:t>
            </a:r>
          </a:p>
        </p:txBody>
      </p:sp>
      <p:sp>
        <p:nvSpPr>
          <p:cNvPr id="6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438912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meta_pagenum_6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11480" y="4114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68580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drives ~500,000 American jobs, ~13-14 for every direct Ford employee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55498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"/>
          <p:cNvSpPr txBox="1"/>
          <p:nvPr/>
        </p:nvSpPr>
        <p:spPr>
          <a:xfrm>
            <a:off x="411480" y="17195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US jobs attributable to the F-Series (thousands)</a:t>
            </a:r>
            <a:r>
              <a:rPr sz="900" b="0" i="0">
                <a:solidFill>
                  <a:srgbClr val="5B6677"/>
                </a:solidFill>
                <a:latin typeface="Arial"/>
              </a:rPr>
              <a:t>Mfg &amp; Corporate: 9-10x manufacturing multiple  |  Dealers: job creation  |  13-14x total multiple</a:t>
            </a:r>
          </a:p>
        </p:txBody>
      </p:sp>
      <p:graphicFrame>
        <p:nvGraphicFramePr>
          <p:cNvPr id="6" name="chart_fseries_jobs"/>
          <p:cNvGraphicFramePr>
            <a:graphicFrameLocks noGrp="1"/>
          </p:cNvGraphicFramePr>
          <p:nvPr/>
        </p:nvGraphicFramePr>
        <p:xfrm>
          <a:off x="411480" y="2231644"/>
          <a:ext cx="64008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jobs"/>
          <p:cNvSpPr/>
          <p:nvPr/>
        </p:nvSpPr>
        <p:spPr>
          <a:xfrm>
            <a:off x="7269480" y="2231644"/>
            <a:ext cx="4510735" cy="361188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image_credit"/>
          <p:cNvSpPr txBox="1"/>
          <p:nvPr/>
        </p:nvSpPr>
        <p:spPr>
          <a:xfrm>
            <a:off x="7452360" y="236880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BLS (2019); F-Series supplier spending, P&amp;L, plant costs &amp; headcounts (2019); RIMS II ratios; Ford government relations; public dealer reports; BCG analysis.</a:t>
            </a:r>
          </a:p>
        </p:txBody>
      </p:sp>
      <p:sp>
        <p:nvSpPr>
          <p:cNvPr id="10" name="meta_pagenum_7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11480" y="4114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68580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USA drives ~1 million American jobs, ~11-12 for every direct Ford employee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55498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"/>
          <p:cNvSpPr txBox="1"/>
          <p:nvPr/>
        </p:nvSpPr>
        <p:spPr>
          <a:xfrm>
            <a:off x="411480" y="17195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US jobs attributable to Ford USA (thousands)</a:t>
            </a:r>
            <a:r>
              <a:rPr sz="900" b="0" i="0">
                <a:solidFill>
                  <a:srgbClr val="5B6677"/>
                </a:solidFill>
                <a:latin typeface="Arial"/>
              </a:rPr>
              <a:t>Mfg &amp; Corporate: 8-9x manufacturing multiple  |  Dealers: job creation  |  11-12x total multiple</a:t>
            </a:r>
          </a:p>
        </p:txBody>
      </p:sp>
      <p:graphicFrame>
        <p:nvGraphicFramePr>
          <p:cNvPr id="6" name="chart_ford_jobs"/>
          <p:cNvGraphicFramePr>
            <a:graphicFrameLocks noGrp="1"/>
          </p:cNvGraphicFramePr>
          <p:nvPr/>
        </p:nvGraphicFramePr>
        <p:xfrm>
          <a:off x="411480" y="2231644"/>
          <a:ext cx="64008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fordjobs"/>
          <p:cNvSpPr/>
          <p:nvPr/>
        </p:nvSpPr>
        <p:spPr>
          <a:xfrm>
            <a:off x="7269480" y="2231644"/>
            <a:ext cx="4510735" cy="361188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image_credit"/>
          <p:cNvSpPr txBox="1"/>
          <p:nvPr/>
        </p:nvSpPr>
        <p:spPr>
          <a:xfrm>
            <a:off x="7452360" y="236880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BLS (2019); Ford US supplier spending, P&amp;L (2019); RIMS II ratios; Ford government relations; public dealer reports; BCG analysis.</a:t>
            </a:r>
          </a:p>
        </p:txBody>
      </p:sp>
      <p:sp>
        <p:nvSpPr>
          <p:cNvPr id="10" name="meta_pagenum_8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548640"/>
            <a:ext cx="3291840" cy="14992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Ford and the F-Series drive tens of billions in US GDP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502920" y="2157603"/>
            <a:ext cx="128016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nav"/>
          <p:cNvSpPr txBox="1"/>
          <p:nvPr/>
        </p:nvSpPr>
        <p:spPr>
          <a:xfrm>
            <a:off x="502920" y="38404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Usage impact</a:t>
            </a:r>
          </a:p>
        </p:txBody>
      </p:sp>
      <p:sp>
        <p:nvSpPr>
          <p:cNvPr id="6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438912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meta_pagenum_9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11480" y="4114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68580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drives ~$49 billion in US GDP through production and multiplier effects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55498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"/>
          <p:cNvSpPr txBox="1"/>
          <p:nvPr/>
        </p:nvSpPr>
        <p:spPr>
          <a:xfrm>
            <a:off x="411480" y="1719580"/>
            <a:ext cx="11368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US GDP contribution of the F-Series ($billions)</a:t>
            </a:r>
            <a:r>
              <a:rPr sz="900" b="0" i="0">
                <a:solidFill>
                  <a:srgbClr val="5B6677"/>
                </a:solidFill>
                <a:latin typeface="Arial"/>
              </a:rPr>
              <a:t>Product GDP: manufacturing &amp; sales ($31B)  |  Multiplier: after-sales &amp; respending ($18B)</a:t>
            </a:r>
          </a:p>
        </p:txBody>
      </p:sp>
      <p:graphicFrame>
        <p:nvGraphicFramePr>
          <p:cNvPr id="6" name="chart_fseries_gdp"/>
          <p:cNvGraphicFramePr>
            <a:graphicFrameLocks noGrp="1"/>
          </p:cNvGraphicFramePr>
          <p:nvPr/>
        </p:nvGraphicFramePr>
        <p:xfrm>
          <a:off x="411480" y="2231644"/>
          <a:ext cx="113687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ody_catdesc"/>
          <p:cNvSpPr txBox="1"/>
          <p:nvPr/>
        </p:nvSpPr>
        <p:spPr>
          <a:xfrm>
            <a:off x="411480" y="5294884"/>
            <a:ext cx="11368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Direct: Ford activities such as R&amp;D and vehicle assembly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Suppliers: part manufacturing and professional services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 (Sales): retail sale of F-Series trucks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 (After-sales): repairs, servicing, financing, insurance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Community: employee respending on food, health care, etc.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BLS (2019); F-Series supplier spending, P&amp;L, plant costs (2019); RIMS II ratios; Ford government relations; public dealer reports; BCG analysis.</a:t>
            </a:r>
          </a:p>
        </p:txBody>
      </p:sp>
      <p:sp>
        <p:nvSpPr>
          <p:cNvPr id="9" name="meta_pagenum_10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11480" y="4114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68580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USA drives ~$100 billion in US GDP through production and multiplier effects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55498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"/>
          <p:cNvSpPr txBox="1"/>
          <p:nvPr/>
        </p:nvSpPr>
        <p:spPr>
          <a:xfrm>
            <a:off x="411480" y="1719580"/>
            <a:ext cx="11368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US GDP contribution of Ford USA ($billions)</a:t>
            </a:r>
            <a:r>
              <a:rPr sz="900" b="0" i="0">
                <a:solidFill>
                  <a:srgbClr val="5B6677"/>
                </a:solidFill>
                <a:latin typeface="Arial"/>
              </a:rPr>
              <a:t>Product GDP: manufacturing &amp; sales ($58B)  |  Multiplier: after-sales &amp; respending ($42B)</a:t>
            </a:r>
          </a:p>
        </p:txBody>
      </p:sp>
      <p:graphicFrame>
        <p:nvGraphicFramePr>
          <p:cNvPr id="6" name="chart_ford_gdp"/>
          <p:cNvGraphicFramePr>
            <a:graphicFrameLocks noGrp="1"/>
          </p:cNvGraphicFramePr>
          <p:nvPr/>
        </p:nvGraphicFramePr>
        <p:xfrm>
          <a:off x="411480" y="2231644"/>
          <a:ext cx="113687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ody_catdesc"/>
          <p:cNvSpPr txBox="1"/>
          <p:nvPr/>
        </p:nvSpPr>
        <p:spPr>
          <a:xfrm>
            <a:off x="411480" y="5294884"/>
            <a:ext cx="11368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Direct: Ford activities such as R&amp;D and vehicle assembly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Suppliers: part manufacturing and professional services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 (Sales): retail sale of Ford vehicles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 (After-sales): repairs, servicing, financing, insurance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Community: employee respending on food, health care, etc.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BLS (2019); Ford US supplier spending, P&amp;L (2019); RIMS II ratios; Ford government relations; public dealer reports; BCG analysis.</a:t>
            </a:r>
          </a:p>
        </p:txBody>
      </p:sp>
      <p:sp>
        <p:nvSpPr>
          <p:cNvPr id="9" name="meta_pagenum_11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548640"/>
            <a:ext cx="3291840" cy="2407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Ford leads US automotive manufacturing in volume and innovation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502920" y="3065653"/>
            <a:ext cx="128016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nav"/>
          <p:cNvSpPr txBox="1"/>
          <p:nvPr/>
        </p:nvSpPr>
        <p:spPr>
          <a:xfrm>
            <a:off x="502920" y="38404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Usage impact</a:t>
            </a:r>
          </a:p>
        </p:txBody>
      </p:sp>
      <p:sp>
        <p:nvSpPr>
          <p:cNvPr id="6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438912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meta_pagenum_12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leads US full-size pickup assembly at twice the volume of any competitor in 2019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4452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Full-size pickup trucks assembled in the US (thousands)</a:t>
            </a:r>
            <a:r>
              <a:rPr sz="900" b="1" i="0">
                <a:solidFill>
                  <a:srgbClr val="1B6B52"/>
                </a:solidFill>
                <a:latin typeface="Arial"/>
              </a:rPr>
              <a:t>Ford leads at 2.1x the next competitor in 2019</a:t>
            </a:r>
          </a:p>
        </p:txBody>
      </p:sp>
      <p:graphicFrame>
        <p:nvGraphicFramePr>
          <p:cNvPr id="5" name="chart_mfg2x"/>
          <p:cNvGraphicFramePr>
            <a:graphicFrameLocks noGrp="1"/>
          </p:cNvGraphicFramePr>
          <p:nvPr/>
        </p:nvGraphicFramePr>
        <p:xfrm>
          <a:off x="411480" y="1957324"/>
          <a:ext cx="64008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ackground_image_mfg2x"/>
          <p:cNvSpPr/>
          <p:nvPr/>
        </p:nvSpPr>
        <p:spPr>
          <a:xfrm>
            <a:off x="7269480" y="1957324"/>
            <a:ext cx="4510735" cy="361188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7452360" y="209448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IHS Markit CYE 2019 US Light Vehicle Production data; BCG analysis. Note: GM pickup brands include Sierra and Silverado.</a:t>
            </a:r>
          </a:p>
        </p:txBody>
      </p:sp>
      <p:sp>
        <p:nvSpPr>
          <p:cNvPr id="9" name="meta_pagenum_13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is responsible for one in five vehicles assembled in the 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6984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234440"/>
            <a:ext cx="6537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% of US vehicle assembly, 2015-2019</a:t>
            </a:r>
          </a:p>
        </p:txBody>
      </p:sp>
      <p:graphicFrame>
        <p:nvGraphicFramePr>
          <p:cNvPr id="5" name="chart_oif"/>
          <p:cNvGraphicFramePr>
            <a:graphicFrameLocks noGrp="1"/>
          </p:cNvGraphicFramePr>
          <p:nvPr/>
        </p:nvGraphicFramePr>
        <p:xfrm>
          <a:off x="411480" y="1545336"/>
          <a:ext cx="6766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_table"/>
          <p:cNvSpPr txBox="1"/>
          <p:nvPr/>
        </p:nvSpPr>
        <p:spPr>
          <a:xfrm>
            <a:off x="411480" y="3511296"/>
            <a:ext cx="6537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Vehicles assembled in the US, 2019 (thousands)</a:t>
            </a:r>
          </a:p>
        </p:txBody>
      </p:sp>
      <p:graphicFrame>
        <p:nvGraphicFramePr>
          <p:cNvPr id="7" name="table_oif"/>
          <p:cNvGraphicFramePr>
            <a:graphicFrameLocks noGrp="1"/>
          </p:cNvGraphicFramePr>
          <p:nvPr/>
        </p:nvGraphicFramePr>
        <p:xfrm>
          <a:off x="411480" y="3785616"/>
          <a:ext cx="67665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20"/>
              </a:tblGrid>
              <a:tr h="2377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Maker</a:t>
                      </a:r>
                    </a:p>
                  </a:txBody>
                  <a:tcPr>
                    <a:solidFill>
                      <a:srgbClr val="1B6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Vehicles</a:t>
                      </a:r>
                    </a:p>
                  </a:txBody>
                  <a:tcPr>
                    <a:solidFill>
                      <a:srgbClr val="1B6B5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2,170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1,677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1,420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1,195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1,205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638"/>
                          </a:solidFill>
                        </a:rPr>
                        <a:t>2,926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8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8"/>
                          </a:solidFill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background_image_oif"/>
          <p:cNvSpPr/>
          <p:nvPr/>
        </p:nvSpPr>
        <p:spPr>
          <a:xfrm>
            <a:off x="7406640" y="1325880"/>
            <a:ext cx="4370832" cy="448056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lay_image_credit"/>
          <p:cNvSpPr txBox="1"/>
          <p:nvPr/>
        </p:nvSpPr>
        <p:spPr>
          <a:xfrm>
            <a:off x="7589520" y="14630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IHS Markit CYE 2019 US Light Vehicle Production data; BCG analysis. Note: Others includes BMW, Daimler, Hyundai, Kia, Tesla, VW, and others.</a:t>
            </a:r>
          </a:p>
        </p:txBody>
      </p:sp>
      <p:sp>
        <p:nvSpPr>
          <p:cNvPr id="11" name="meta_pagenum_14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An external study shows the F-150 is the most American-made full-size pickup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4452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Kogod Made in America Index vs vehicles sold, 2019 (thousands)</a:t>
            </a:r>
            <a:r>
              <a:rPr sz="900" b="1" i="0">
                <a:solidFill>
                  <a:srgbClr val="1B6B52"/>
                </a:solidFill>
                <a:latin typeface="Arial"/>
              </a:rPr>
              <a:t>The F-150 leads in vehicles sold and as the most American-made truck</a:t>
            </a:r>
          </a:p>
        </p:txBody>
      </p:sp>
      <p:graphicFrame>
        <p:nvGraphicFramePr>
          <p:cNvPr id="5" name="chart_am"/>
          <p:cNvGraphicFramePr>
            <a:graphicFrameLocks noGrp="1"/>
          </p:cNvGraphicFramePr>
          <p:nvPr/>
        </p:nvGraphicFramePr>
        <p:xfrm>
          <a:off x="411480" y="1957324"/>
          <a:ext cx="64008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ackground_image_am"/>
          <p:cNvSpPr/>
          <p:nvPr/>
        </p:nvSpPr>
        <p:spPr>
          <a:xfrm>
            <a:off x="7269480" y="1957324"/>
            <a:ext cx="4510735" cy="361188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7452360" y="209448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Made in America Auto Index (Kogod School of Business, American University); BCG analysis.</a:t>
            </a:r>
          </a:p>
        </p:txBody>
      </p:sp>
      <p:sp>
        <p:nvSpPr>
          <p:cNvPr id="9" name="meta_pagenum_15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is a leader in the automotive industry for combined quality and recency of patent filings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4452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Avg Competitive Impact (patent value) vs Freshness % (2017)</a:t>
            </a:r>
            <a:r>
              <a:rPr sz="900" b="1" i="0">
                <a:solidFill>
                  <a:srgbClr val="1B6B52"/>
                </a:solidFill>
                <a:latin typeface="Arial"/>
              </a:rPr>
              <a:t>Ford leads in both Competitive Impact and Freshness (bubble size = patent families)</a:t>
            </a:r>
          </a:p>
        </p:txBody>
      </p:sp>
      <p:graphicFrame>
        <p:nvGraphicFramePr>
          <p:cNvPr id="5" name="chart_patents"/>
          <p:cNvGraphicFramePr>
            <a:graphicFrameLocks noGrp="1"/>
          </p:cNvGraphicFramePr>
          <p:nvPr/>
        </p:nvGraphicFramePr>
        <p:xfrm>
          <a:off x="411480" y="1957324"/>
          <a:ext cx="64008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ackground_image_pat"/>
          <p:cNvSpPr/>
          <p:nvPr/>
        </p:nvSpPr>
        <p:spPr>
          <a:xfrm>
            <a:off x="7269480" y="1957324"/>
            <a:ext cx="4510735" cy="361188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7452360" y="209448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  <p:sp>
        <p:nvSpPr>
          <p:cNvPr id="9" name="meta_pagenum_16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11480" y="4114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ILLUSTRATIVE EXAMPLES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685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Ford's IP drives innovation across industries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41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ody_callout"/>
          <p:cNvSpPr txBox="1"/>
          <p:nvPr/>
        </p:nvSpPr>
        <p:spPr>
          <a:xfrm>
            <a:off x="411480" y="1508760"/>
            <a:ext cx="11368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638"/>
                </a:solidFill>
                <a:latin typeface="Arial"/>
              </a:rPr>
              <a:t>Ford patents are cited in innovative new products across industries, from agriculture to biopharma. From 2013 through 2017, Ford's patents were cited ~23,000 times across different industries.</a:t>
            </a:r>
          </a:p>
        </p:txBody>
      </p:sp>
      <p:sp>
        <p:nvSpPr>
          <p:cNvPr id="6" name="overlay_icon_0"/>
          <p:cNvSpPr/>
          <p:nvPr/>
        </p:nvSpPr>
        <p:spPr>
          <a:xfrm>
            <a:off x="411480" y="207568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_cell_0"/>
          <p:cNvSpPr txBox="1"/>
          <p:nvPr/>
        </p:nvSpPr>
        <p:spPr>
          <a:xfrm>
            <a:off x="411480" y="255117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Aircraft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Aircraft-operating-data monitor for integrated asset health</a:t>
            </a:r>
          </a:p>
        </p:txBody>
      </p:sp>
      <p:sp>
        <p:nvSpPr>
          <p:cNvPr id="8" name="overlay_icon_1"/>
          <p:cNvSpPr/>
          <p:nvPr/>
        </p:nvSpPr>
        <p:spPr>
          <a:xfrm>
            <a:off x="3310813" y="207568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cell_1"/>
          <p:cNvSpPr txBox="1"/>
          <p:nvPr/>
        </p:nvSpPr>
        <p:spPr>
          <a:xfrm>
            <a:off x="3310813" y="255117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Surgical robotics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Confidence-based robot-assisted surgery articulating arm system</a:t>
            </a:r>
          </a:p>
        </p:txBody>
      </p:sp>
      <p:sp>
        <p:nvSpPr>
          <p:cNvPr id="10" name="overlay_icon_2"/>
          <p:cNvSpPr/>
          <p:nvPr/>
        </p:nvSpPr>
        <p:spPr>
          <a:xfrm>
            <a:off x="6210146" y="207568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_cell_2"/>
          <p:cNvSpPr txBox="1"/>
          <p:nvPr/>
        </p:nvSpPr>
        <p:spPr>
          <a:xfrm>
            <a:off x="6210146" y="255117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Exercise machine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Exercise program based on real-world routes with video display</a:t>
            </a:r>
          </a:p>
        </p:txBody>
      </p:sp>
      <p:sp>
        <p:nvSpPr>
          <p:cNvPr id="12" name="overlay_icon_3"/>
          <p:cNvSpPr/>
          <p:nvPr/>
        </p:nvSpPr>
        <p:spPr>
          <a:xfrm>
            <a:off x="9109479" y="207568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_cell_3"/>
          <p:cNvSpPr txBox="1"/>
          <p:nvPr/>
        </p:nvSpPr>
        <p:spPr>
          <a:xfrm>
            <a:off x="9109479" y="255117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Vision technology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ML program analyzes body language for human-robot interaction</a:t>
            </a:r>
          </a:p>
        </p:txBody>
      </p:sp>
      <p:sp>
        <p:nvSpPr>
          <p:cNvPr id="14" name="overlay_icon_4"/>
          <p:cNvSpPr/>
          <p:nvPr/>
        </p:nvSpPr>
        <p:spPr>
          <a:xfrm>
            <a:off x="411480" y="404164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_cell_4"/>
          <p:cNvSpPr txBox="1"/>
          <p:nvPr/>
        </p:nvSpPr>
        <p:spPr>
          <a:xfrm>
            <a:off x="411480" y="451713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Medtech devices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Medical treatment device for stimulating neurons of a patient</a:t>
            </a:r>
          </a:p>
        </p:txBody>
      </p:sp>
      <p:sp>
        <p:nvSpPr>
          <p:cNvPr id="16" name="overlay_icon_5"/>
          <p:cNvSpPr/>
          <p:nvPr/>
        </p:nvSpPr>
        <p:spPr>
          <a:xfrm>
            <a:off x="3310813" y="404164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_cell_5"/>
          <p:cNvSpPr txBox="1"/>
          <p:nvPr/>
        </p:nvSpPr>
        <p:spPr>
          <a:xfrm>
            <a:off x="3310813" y="451713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Health care / pharmacy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Controlled release of peptide formulations to delivery devices</a:t>
            </a:r>
          </a:p>
        </p:txBody>
      </p:sp>
      <p:sp>
        <p:nvSpPr>
          <p:cNvPr id="18" name="overlay_icon_6"/>
          <p:cNvSpPr/>
          <p:nvPr/>
        </p:nvSpPr>
        <p:spPr>
          <a:xfrm>
            <a:off x="6210146" y="404164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_cell_6"/>
          <p:cNvSpPr txBox="1"/>
          <p:nvPr/>
        </p:nvSpPr>
        <p:spPr>
          <a:xfrm>
            <a:off x="6210146" y="451713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Audio technology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Voice-activated virtual assistant via a wireless earpiece</a:t>
            </a:r>
          </a:p>
        </p:txBody>
      </p:sp>
      <p:sp>
        <p:nvSpPr>
          <p:cNvPr id="20" name="overlay_icon_7"/>
          <p:cNvSpPr/>
          <p:nvPr/>
        </p:nvSpPr>
        <p:spPr>
          <a:xfrm>
            <a:off x="9109479" y="4041648"/>
            <a:ext cx="384048" cy="38404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dy_cell_7"/>
          <p:cNvSpPr txBox="1"/>
          <p:nvPr/>
        </p:nvSpPr>
        <p:spPr>
          <a:xfrm>
            <a:off x="9109479" y="4517136"/>
            <a:ext cx="267073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B2638"/>
                </a:solidFill>
                <a:latin typeface="Arial"/>
              </a:rPr>
              <a:t>Home automation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Detection and mitigation of harmful gases via home automation</a:t>
            </a:r>
          </a:p>
        </p:txBody>
      </p:sp>
      <p:sp>
        <p:nvSpPr>
          <p:cNvPr id="22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  <p:sp>
        <p:nvSpPr>
          <p:cNvPr id="23" name="meta_pagenum_17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548640"/>
            <a:ext cx="3291840" cy="1953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F-Series shows unmatched daily usage across American work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502920" y="2611628"/>
            <a:ext cx="128016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nav"/>
          <p:cNvSpPr txBox="1"/>
          <p:nvPr/>
        </p:nvSpPr>
        <p:spPr>
          <a:xfrm>
            <a:off x="502920" y="38404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93A1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6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2E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image_credit"/>
          <p:cNvSpPr txBox="1"/>
          <p:nvPr/>
        </p:nvSpPr>
        <p:spPr>
          <a:xfrm>
            <a:off x="4389120" y="3017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F4EF"/>
                </a:solidFill>
                <a:latin typeface="Arial"/>
              </a:rPr>
              <a:t>Image: Ford.</a:t>
            </a:r>
          </a:p>
        </p:txBody>
      </p:sp>
      <p:sp>
        <p:nvSpPr>
          <p:cNvPr id="8" name="meta_pagenum_18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dy_operand_0"/>
          <p:cNvSpPr txBox="1"/>
          <p:nvPr/>
        </p:nvSpPr>
        <p:spPr>
          <a:xfrm>
            <a:off x="411480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B6B52"/>
                </a:solidFill>
                <a:latin typeface="Georgia"/>
              </a:rPr>
              <a:t>~17M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F-Series on the road</a:t>
            </a:r>
          </a:p>
        </p:txBody>
      </p:sp>
      <p:sp>
        <p:nvSpPr>
          <p:cNvPr id="3" name="body_operand_1"/>
          <p:cNvSpPr txBox="1"/>
          <p:nvPr/>
        </p:nvSpPr>
        <p:spPr>
          <a:xfrm>
            <a:off x="1521822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B2638"/>
                </a:solidFill>
                <a:latin typeface="Georgia"/>
              </a:rPr>
              <a:t>x</a:t>
            </a:r>
          </a:p>
        </p:txBody>
      </p:sp>
      <p:sp>
        <p:nvSpPr>
          <p:cNvPr id="4" name="body_operand_2"/>
          <p:cNvSpPr txBox="1"/>
          <p:nvPr/>
        </p:nvSpPr>
        <p:spPr>
          <a:xfrm>
            <a:off x="2632164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B2638"/>
                </a:solidFill>
                <a:latin typeface="Georgia"/>
              </a:rPr>
              <a:t>26-35%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in commercial use</a:t>
            </a:r>
          </a:p>
        </p:txBody>
      </p:sp>
      <p:sp>
        <p:nvSpPr>
          <p:cNvPr id="5" name="body_operand_3"/>
          <p:cNvSpPr txBox="1"/>
          <p:nvPr/>
        </p:nvSpPr>
        <p:spPr>
          <a:xfrm>
            <a:off x="3742506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B2638"/>
                </a:solidFill>
                <a:latin typeface="Georgia"/>
              </a:rPr>
              <a:t>x</a:t>
            </a:r>
          </a:p>
        </p:txBody>
      </p:sp>
      <p:sp>
        <p:nvSpPr>
          <p:cNvPr id="6" name="body_operand_4"/>
          <p:cNvSpPr txBox="1"/>
          <p:nvPr/>
        </p:nvSpPr>
        <p:spPr>
          <a:xfrm>
            <a:off x="4852848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B2638"/>
                </a:solidFill>
                <a:latin typeface="Georgia"/>
              </a:rPr>
              <a:t>2.1-2.4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avg truck occupancy</a:t>
            </a:r>
          </a:p>
        </p:txBody>
      </p:sp>
      <p:sp>
        <p:nvSpPr>
          <p:cNvPr id="7" name="body_operand_5"/>
          <p:cNvSpPr txBox="1"/>
          <p:nvPr/>
        </p:nvSpPr>
        <p:spPr>
          <a:xfrm>
            <a:off x="5963190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B2638"/>
                </a:solidFill>
                <a:latin typeface="Georgia"/>
              </a:rPr>
              <a:t>=</a:t>
            </a:r>
          </a:p>
        </p:txBody>
      </p:sp>
      <p:sp>
        <p:nvSpPr>
          <p:cNvPr id="8" name="body_operand_6"/>
          <p:cNvSpPr txBox="1"/>
          <p:nvPr/>
        </p:nvSpPr>
        <p:spPr>
          <a:xfrm>
            <a:off x="7073532" y="1554480"/>
            <a:ext cx="10189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B6B52"/>
                </a:solidFill>
                <a:latin typeface="Georgia"/>
              </a:rPr>
              <a:t>13M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Americans at work</a:t>
            </a:r>
          </a:p>
        </p:txBody>
      </p:sp>
      <p:sp>
        <p:nvSpPr>
          <p:cNvPr id="9" name="body_result"/>
          <p:cNvSpPr txBox="1"/>
          <p:nvPr/>
        </p:nvSpPr>
        <p:spPr>
          <a:xfrm>
            <a:off x="411480" y="31546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6B52"/>
                </a:solidFill>
                <a:latin typeface="Georgia"/>
              </a:rPr>
              <a:t>Representing approximately 8% of the US labor force</a:t>
            </a:r>
          </a:p>
        </p:txBody>
      </p:sp>
      <p:sp>
        <p:nvSpPr>
          <p:cNvPr id="10" name="background_sidepanel"/>
          <p:cNvSpPr/>
          <p:nvPr/>
        </p:nvSpPr>
        <p:spPr>
          <a:xfrm>
            <a:off x="8412480" y="1371600"/>
            <a:ext cx="3367735" cy="4206240"/>
          </a:xfrm>
          <a:prstGeom prst="rect">
            <a:avLst/>
          </a:prstGeom>
          <a:solidFill>
            <a:srgbClr val="E2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ubhead_workers"/>
          <p:cNvSpPr txBox="1"/>
          <p:nvPr/>
        </p:nvSpPr>
        <p:spPr>
          <a:xfrm>
            <a:off x="8595360" y="1554480"/>
            <a:ext cx="30019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2638"/>
                </a:solidFill>
                <a:latin typeface="Georgia"/>
              </a:rPr>
              <a:t>Workers supported by the F-Series</a:t>
            </a:r>
          </a:p>
        </p:txBody>
      </p:sp>
      <p:sp>
        <p:nvSpPr>
          <p:cNvPr id="12" name="body_workers"/>
          <p:cNvSpPr txBox="1"/>
          <p:nvPr/>
        </p:nvSpPr>
        <p:spPr>
          <a:xfrm>
            <a:off x="8595360" y="2011680"/>
            <a:ext cx="300197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Construction workers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Farmers and ranchers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Independent contractors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Delivery service people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1B2638"/>
                </a:solidFill>
                <a:latin typeface="Arial"/>
              </a:rPr>
              <a:t>Emergency vehicle drivers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Expert interviews; BCG analysis. Note: 16.6M F-Series in operation (IHS Markit VIO, US, 4/1/20).</a:t>
            </a:r>
          </a:p>
        </p:txBody>
      </p:sp>
      <p:sp>
        <p:nvSpPr>
          <p:cNvPr id="14" name="meta_pagenum_19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is among the largest US consumer products, bigger than Android and major sports leagues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445260"/>
            <a:ext cx="11368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Revenue ($billions)</a:t>
            </a:r>
            <a:r>
              <a:rPr sz="900" b="1" i="0">
                <a:solidFill>
                  <a:srgbClr val="1B6B52"/>
                </a:solidFill>
                <a:latin typeface="Arial"/>
              </a:rPr>
              <a:t>Major sports leagues' combined revenue ~$40 billion (NFL+MLB+NBA+NHL)</a:t>
            </a:r>
          </a:p>
        </p:txBody>
      </p:sp>
      <p:graphicFrame>
        <p:nvGraphicFramePr>
          <p:cNvPr id="5" name="chart_consumer"/>
          <p:cNvGraphicFramePr>
            <a:graphicFrameLocks noGrp="1"/>
          </p:cNvGraphicFramePr>
          <p:nvPr/>
        </p:nvGraphicFramePr>
        <p:xfrm>
          <a:off x="411480" y="1957324"/>
          <a:ext cx="11368735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Company financials; Google legal disclosures; Forbes; IDC; Euromonitor; Chicago Tribune; BCG analysis.</a:t>
            </a:r>
          </a:p>
        </p:txBody>
      </p:sp>
      <p:sp>
        <p:nvSpPr>
          <p:cNvPr id="7" name="meta_pagenum_20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alone exceeds the revenue of many recognizable companies in 2019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0668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"/>
          <p:cNvSpPr txBox="1"/>
          <p:nvPr/>
        </p:nvSpPr>
        <p:spPr>
          <a:xfrm>
            <a:off x="411480" y="1445260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B6677"/>
                </a:solidFill>
                <a:latin typeface="Arial"/>
              </a:rPr>
              <a:t>2019 revenue ($billions)</a:t>
            </a:r>
          </a:p>
        </p:txBody>
      </p:sp>
      <p:graphicFrame>
        <p:nvGraphicFramePr>
          <p:cNvPr id="5" name="chart_company"/>
          <p:cNvGraphicFramePr>
            <a:graphicFrameLocks noGrp="1"/>
          </p:cNvGraphicFramePr>
          <p:nvPr/>
        </p:nvGraphicFramePr>
        <p:xfrm>
          <a:off x="411480" y="1756156"/>
          <a:ext cx="1136873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11480" y="619963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Source: Company financial statements; BCG analysis. Note: F-Series North American total sales ~$49B; Starbucks includes franchise revenues.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30000" y="63276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