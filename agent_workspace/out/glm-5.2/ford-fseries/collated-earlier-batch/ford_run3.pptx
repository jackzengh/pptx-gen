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  <a:ln w="38100">
              <a:solidFill>
                <a:srgbClr val="2E9E7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640</c:v>
                </c:pt>
                <c:pt idx="1">
                  <c:v>800</c:v>
                </c:pt>
                <c:pt idx="2">
                  <c:v>880</c:v>
                </c:pt>
                <c:pt idx="3">
                  <c:v>1040</c:v>
                </c:pt>
                <c:pt idx="4">
                  <c:v>1055</c:v>
                </c:pt>
                <c:pt idx="5">
                  <c:v>1060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C4C4C4"/>
            </a:solidFill>
            <a:ln w="22225">
              <a:solidFill>
                <a:srgbClr val="C4C4C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430</c:v>
                </c:pt>
                <c:pt idx="1">
                  <c:v>470</c:v>
                </c:pt>
                <c:pt idx="2">
                  <c:v>510</c:v>
                </c:pt>
                <c:pt idx="3">
                  <c:v>540</c:v>
                </c:pt>
                <c:pt idx="4">
                  <c:v>490</c:v>
                </c:pt>
                <c:pt idx="5">
                  <c:v>490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B0B4B8"/>
            </a:solidFill>
            <a:ln w="22225">
              <a:solidFill>
                <a:srgbClr val="B0B4B8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420</c:v>
                </c:pt>
                <c:pt idx="1">
                  <c:v>450</c:v>
                </c:pt>
                <c:pt idx="2">
                  <c:v>470</c:v>
                </c:pt>
                <c:pt idx="3">
                  <c:v>500</c:v>
                </c:pt>
                <c:pt idx="4">
                  <c:v>485</c:v>
                </c:pt>
                <c:pt idx="5">
                  <c:v>480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CFD2D5"/>
            </a:solidFill>
            <a:ln w="22225">
              <a:solidFill>
                <a:srgbClr val="CFD2D5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175</c:v>
                </c:pt>
                <c:pt idx="1">
                  <c:v>150</c:v>
                </c:pt>
                <c:pt idx="2">
                  <c:v>135</c:v>
                </c:pt>
                <c:pt idx="3">
                  <c:v>140</c:v>
                </c:pt>
                <c:pt idx="4">
                  <c:v>135</c:v>
                </c:pt>
                <c:pt idx="5">
                  <c:v>130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Nissan</c:v>
                </c:pt>
              </c:strCache>
            </c:strRef>
          </c:tx>
          <c:spPr>
            <a:solidFill>
              <a:srgbClr val="DDDFE1"/>
            </a:solidFill>
            <a:ln w="22225">
              <a:solidFill>
                <a:srgbClr val="DDDFE1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2019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30</c:v>
                </c:pt>
                <c:pt idx="1">
                  <c:v>60</c:v>
                </c:pt>
                <c:pt idx="2">
                  <c:v>70</c:v>
                </c:pt>
                <c:pt idx="3">
                  <c:v>50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Ford</c:v>
                </c:pt>
              </c:strCache>
            </c:strRef>
          </c:tx>
          <c:spPr>
            <a:solidFill>
              <a:srgbClr val="2E9E7B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20</c:v>
                </c:pt>
                <c:pt idx="2">
                  <c:v>22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GM</c:v>
                </c:pt>
              </c:strCache>
            </c:strRef>
          </c:tx>
          <c:spPr>
            <a:solidFill>
              <a:srgbClr val="BDC1C5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19</c:v>
                </c:pt>
                <c:pt idx="3">
                  <c:v>18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FCA</c:v>
                </c:pt>
              </c:strCache>
            </c:strRef>
          </c:tx>
          <c:spPr>
            <a:solidFill>
              <a:srgbClr val="A8ADB2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11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Toyota</c:v>
                </c:pt>
              </c:strCache>
            </c:strRef>
          </c:tx>
          <c:spPr>
            <a:solidFill>
              <a:srgbClr val="93999E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12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Honda</c:v>
                </c:pt>
              </c:strCache>
            </c:strRef>
          </c:tx>
          <c:spPr>
            <a:solidFill>
              <a:srgbClr val="7E848A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53595F"/>
            </a:solidFill>
          </c:spPr>
          <c:cat>
            <c:strRef>
              <c:f>Sheet1!$A$2:$A$6</c:f>
              <c:strCach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strCache>
            </c: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26</c:v>
                </c:pt>
                <c:pt idx="3">
                  <c:v>25</c:v>
                </c:pt>
                <c:pt idx="4">
                  <c:v>28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ckground_image_cover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erlay_credit_image_cover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411480" y="146304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Economic Impact of Ford and the F-Series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411480" y="429768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FFFFFF"/>
                </a:solidFill>
                <a:latin typeface="Arial"/>
              </a:rPr>
              <a:t>September 2020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11480" y="57607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Ford  |  BCG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context"/>
          <p:cNvSpPr/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redit_image_context"/>
          <p:cNvSpPr txBox="1"/>
          <p:nvPr/>
        </p:nvSpPr>
        <p:spPr>
          <a:xfrm>
            <a:off x="614476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This study shows Ford's economic impact is broad across four dimensions</a:t>
            </a:r>
          </a:p>
        </p:txBody>
      </p:sp>
      <p:sp>
        <p:nvSpPr>
          <p:cNvPr id="7" name="subhead_summary"/>
          <p:cNvSpPr txBox="1"/>
          <p:nvPr/>
        </p:nvSpPr>
        <p:spPr>
          <a:xfrm>
            <a:off x="411480" y="182880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Summary of the study</a:t>
            </a:r>
          </a:p>
        </p:txBody>
      </p:sp>
      <p:cxnSp>
        <p:nvCxnSpPr>
          <p:cNvPr id="8" name="subhead_summary_rule"/>
          <p:cNvCxnSpPr/>
          <p:nvPr/>
        </p:nvCxnSpPr>
        <p:spPr>
          <a:xfrm>
            <a:off x="411480" y="2121408"/>
            <a:ext cx="64008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body_summary"/>
          <p:cNvSpPr txBox="1"/>
          <p:nvPr/>
        </p:nvSpPr>
        <p:spPr>
          <a:xfrm>
            <a:off x="411480" y="2240280"/>
            <a:ext cx="5212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BCG evaluated the importance of the F-Series and Ford to the US economy through the lenses of employment, GDP, and manufacturing impact, as well as through comparisons to other US products and companies</a:t>
            </a:r>
          </a:p>
        </p:txBody>
      </p:sp>
      <p:sp>
        <p:nvSpPr>
          <p:cNvPr id="10" name="subhead_approach"/>
          <p:cNvSpPr txBox="1"/>
          <p:nvPr/>
        </p:nvSpPr>
        <p:spPr>
          <a:xfrm>
            <a:off x="411480" y="352044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cxnSp>
        <p:nvCxnSpPr>
          <p:cNvPr id="11" name="subhead_approach_rule"/>
          <p:cNvCxnSpPr/>
          <p:nvPr/>
        </p:nvCxnSpPr>
        <p:spPr>
          <a:xfrm>
            <a:off x="411480" y="3813048"/>
            <a:ext cx="64008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body_approach"/>
          <p:cNvSpPr txBox="1"/>
          <p:nvPr/>
        </p:nvSpPr>
        <p:spPr>
          <a:xfrm>
            <a:off x="411480" y="39319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BCG evaluated the impact of the F-Series and Ford across four dimensions:</a:t>
            </a:r>
          </a:p>
        </p:txBody>
      </p:sp>
      <p:sp>
        <p:nvSpPr>
          <p:cNvPr id="13" name="list_dimensions"/>
          <p:cNvSpPr txBox="1"/>
          <p:nvPr/>
        </p:nvSpPr>
        <p:spPr>
          <a:xfrm>
            <a:off x="411480" y="443484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1.  Employment impact at a national and select regional levels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2.  Economic impact at a national and select regional levels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3.  Ford's current and historical US manufacturing presence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4.  Product usage illustrating how the F-Series and Ford support Americans</a:t>
            </a:r>
          </a:p>
        </p:txBody>
      </p:sp>
      <p:sp>
        <p:nvSpPr>
          <p:cNvPr id="14" name="meta_source"/>
          <p:cNvSpPr txBox="1"/>
          <p:nvPr/>
        </p:nvSpPr>
        <p:spPr>
          <a:xfrm>
            <a:off x="411480" y="6272784"/>
            <a:ext cx="521208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Source: BCG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2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Our study has uncovered several key economic and employment impacts of Ford and its F-Series production</a:t>
            </a:r>
          </a:p>
        </p:txBody>
      </p:sp>
      <p:sp>
        <p:nvSpPr>
          <p:cNvPr id="5" name="icon_0"/>
          <p:cNvSpPr/>
          <p:nvPr/>
        </p:nvSpPr>
        <p:spPr>
          <a:xfrm>
            <a:off x="4434840" y="640080"/>
            <a:ext cx="640080" cy="64008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iconlabel_0"/>
          <p:cNvSpPr txBox="1"/>
          <p:nvPr/>
        </p:nvSpPr>
        <p:spPr>
          <a:xfrm>
            <a:off x="4434840" y="135331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Economic and employment impact</a:t>
            </a:r>
          </a:p>
        </p:txBody>
      </p:sp>
      <p:sp>
        <p:nvSpPr>
          <p:cNvPr id="7" name="icon_1"/>
          <p:cNvSpPr/>
          <p:nvPr/>
        </p:nvSpPr>
        <p:spPr>
          <a:xfrm>
            <a:off x="4434840" y="2743200"/>
            <a:ext cx="640080" cy="640080"/>
          </a:xfrm>
          <a:prstGeom prst="rect">
            <a:avLst/>
          </a:prstGeom>
          <a:solidFill>
            <a:srgbClr val="CF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eta_iconlabel_1"/>
          <p:cNvSpPr txBox="1"/>
          <p:nvPr/>
        </p:nvSpPr>
        <p:spPr>
          <a:xfrm>
            <a:off x="4434840" y="345643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Manufacturing impact</a:t>
            </a:r>
          </a:p>
        </p:txBody>
      </p:sp>
      <p:sp>
        <p:nvSpPr>
          <p:cNvPr id="9" name="icon_2"/>
          <p:cNvSpPr/>
          <p:nvPr/>
        </p:nvSpPr>
        <p:spPr>
          <a:xfrm>
            <a:off x="4434840" y="4846320"/>
            <a:ext cx="640080" cy="640080"/>
          </a:xfrm>
          <a:prstGeom prst="rect">
            <a:avLst/>
          </a:prstGeom>
          <a:solidFill>
            <a:srgbClr val="CF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ta_iconlabel_2"/>
          <p:cNvSpPr txBox="1"/>
          <p:nvPr/>
        </p:nvSpPr>
        <p:spPr>
          <a:xfrm>
            <a:off x="4434840" y="555955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95959"/>
                </a:solidFill>
                <a:latin typeface="Arial"/>
              </a:rPr>
              <a:t>Usage impact</a:t>
            </a:r>
          </a:p>
        </p:txBody>
      </p:sp>
      <p:cxnSp>
        <p:nvCxnSpPr>
          <p:cNvPr id="11" name="divider_rule"/>
          <p:cNvCxnSpPr/>
          <p:nvPr/>
        </p:nvCxnSpPr>
        <p:spPr>
          <a:xfrm>
            <a:off x="5669280" y="640080"/>
            <a:ext cx="0" cy="5120640"/>
          </a:xfrm>
          <a:prstGeom prst="bentConnector3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a_callout_0"/>
          <p:cNvSpPr txBox="1"/>
          <p:nvPr/>
        </p:nvSpPr>
        <p:spPr>
          <a:xfrm>
            <a:off x="5852160" y="64008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13 to 14 US jobs are supported for each direct Ford F-Series employee¹</a:t>
            </a:r>
          </a:p>
        </p:txBody>
      </p:sp>
      <p:sp>
        <p:nvSpPr>
          <p:cNvPr id="13" name="meta_callout_1"/>
          <p:cNvSpPr txBox="1"/>
          <p:nvPr/>
        </p:nvSpPr>
        <p:spPr>
          <a:xfrm>
            <a:off x="5852160" y="173736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This equates to ~500,000 total jobs attributable to the F-Series</a:t>
            </a:r>
          </a:p>
        </p:txBody>
      </p:sp>
      <p:sp>
        <p:nvSpPr>
          <p:cNvPr id="14" name="meta_callout_2"/>
          <p:cNvSpPr txBox="1"/>
          <p:nvPr/>
        </p:nvSpPr>
        <p:spPr>
          <a:xfrm>
            <a:off x="5852160" y="283464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contributes approximately ~$49 billion to US GDP, including multiplier effects²</a:t>
            </a:r>
          </a:p>
        </p:txBody>
      </p:sp>
      <p:sp>
        <p:nvSpPr>
          <p:cNvPr id="15" name="meta_callout_3"/>
          <p:cNvSpPr txBox="1"/>
          <p:nvPr/>
        </p:nvSpPr>
        <p:spPr>
          <a:xfrm>
            <a:off x="5852160" y="411480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Arial"/>
              </a:rPr>
              <a:t>F-Series trucks are used by and support up to 13 million Americans in their daily work</a:t>
            </a:r>
          </a:p>
        </p:txBody>
      </p:sp>
      <p:sp>
        <p:nvSpPr>
          <p:cNvPr id="16" name="meta_source"/>
          <p:cNvSpPr txBox="1"/>
          <p:nvPr/>
        </p:nvSpPr>
        <p:spPr>
          <a:xfrm>
            <a:off x="4206240" y="6112764"/>
            <a:ext cx="694944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¹Includes dealership employment and impact on local communities.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²Multiplier effects include after-sales services and community GDP impact driven by employee respending.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3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133856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Manufacturing leadership and unmatched usage drive the F-Series' impact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con_mfg"/>
          <p:cNvSpPr/>
          <p:nvPr/>
        </p:nvSpPr>
        <p:spPr>
          <a:xfrm>
            <a:off x="411480" y="1600708"/>
            <a:ext cx="548640" cy="5486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eta_head_mfg"/>
          <p:cNvSpPr txBox="1"/>
          <p:nvPr/>
        </p:nvSpPr>
        <p:spPr>
          <a:xfrm>
            <a:off x="1097280" y="16464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Arial"/>
              </a:rPr>
              <a:t>Manufacturing impact</a:t>
            </a:r>
          </a:p>
        </p:txBody>
      </p:sp>
      <p:sp>
        <p:nvSpPr>
          <p:cNvPr id="7" name="body_mfg"/>
          <p:cNvSpPr txBox="1"/>
          <p:nvPr/>
        </p:nvSpPr>
        <p:spPr>
          <a:xfrm>
            <a:off x="411480" y="2377948"/>
            <a:ext cx="5394960" cy="2359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assembled 2x as many full-size pickups in the US as any competitor in 2019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the leading US auto manufacturer — responsible for one in five vehicles assembled domestically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a leader in automotive innovation in patent quality and recency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F-150 is the most American-made full-size pickup truck (per an external study)</a:t>
            </a:r>
          </a:p>
        </p:txBody>
      </p:sp>
      <p:sp>
        <p:nvSpPr>
          <p:cNvPr id="8" name="icon_usage"/>
          <p:cNvSpPr/>
          <p:nvPr/>
        </p:nvSpPr>
        <p:spPr>
          <a:xfrm>
            <a:off x="6355080" y="1600708"/>
            <a:ext cx="548640" cy="54864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meta_head_usage"/>
          <p:cNvSpPr txBox="1"/>
          <p:nvPr/>
        </p:nvSpPr>
        <p:spPr>
          <a:xfrm>
            <a:off x="7040880" y="164642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B6B52"/>
                </a:solidFill>
                <a:latin typeface="Arial"/>
              </a:rPr>
              <a:t>Usage impact</a:t>
            </a:r>
          </a:p>
        </p:txBody>
      </p:sp>
      <p:sp>
        <p:nvSpPr>
          <p:cNvPr id="10" name="body_usage"/>
          <p:cNvSpPr txBox="1"/>
          <p:nvPr/>
        </p:nvSpPr>
        <p:spPr>
          <a:xfrm>
            <a:off x="6355080" y="2377948"/>
            <a:ext cx="5394960" cy="2944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among the most valuable consumer products in the US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most popular vehicle on the road in the US today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highest-selling vehicle in the US over the last ten years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F-Series is the best-selling pickup in the world over the last ten years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The F-150 is the most popular vehicle in 39 of 50 US states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Ford is the most popular pickup in 75% of commercial vocations</a:t>
            </a:r>
          </a:p>
        </p:txBody>
      </p:sp>
      <p:cxnSp>
        <p:nvCxnSpPr>
          <p:cNvPr id="11" name="col_divider"/>
          <p:cNvCxnSpPr/>
          <p:nvPr/>
        </p:nvCxnSpPr>
        <p:spPr>
          <a:xfrm>
            <a:off x="6080760" y="1600708"/>
            <a:ext cx="0" cy="4572000"/>
          </a:xfrm>
          <a:prstGeom prst="bentConnector3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BCG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E7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4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This report shows Ford's US economic impact is broad across four dimensions</a:t>
            </a:r>
          </a:p>
        </p:txBody>
      </p:sp>
      <p:sp>
        <p:nvSpPr>
          <p:cNvPr id="4" name="background_tile_0"/>
          <p:cNvSpPr/>
          <p:nvPr/>
        </p:nvSpPr>
        <p:spPr>
          <a:xfrm>
            <a:off x="411480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lenum_0"/>
          <p:cNvSpPr/>
          <p:nvPr/>
        </p:nvSpPr>
        <p:spPr>
          <a:xfrm>
            <a:off x="2522143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ilelabel_0"/>
          <p:cNvSpPr txBox="1"/>
          <p:nvPr/>
        </p:nvSpPr>
        <p:spPr>
          <a:xfrm>
            <a:off x="411480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Employment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7" name="background_tile_1"/>
          <p:cNvSpPr/>
          <p:nvPr/>
        </p:nvSpPr>
        <p:spPr>
          <a:xfrm>
            <a:off x="3345103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lenum_1"/>
          <p:cNvSpPr/>
          <p:nvPr/>
        </p:nvSpPr>
        <p:spPr>
          <a:xfrm>
            <a:off x="5455766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ilelabel_1"/>
          <p:cNvSpPr txBox="1"/>
          <p:nvPr/>
        </p:nvSpPr>
        <p:spPr>
          <a:xfrm>
            <a:off x="3345103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GDP impact</a:t>
            </a:r>
          </a:p>
        </p:txBody>
      </p:sp>
      <p:sp>
        <p:nvSpPr>
          <p:cNvPr id="10" name="background_tile_2"/>
          <p:cNvSpPr/>
          <p:nvPr/>
        </p:nvSpPr>
        <p:spPr>
          <a:xfrm>
            <a:off x="6278726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lenum_2"/>
          <p:cNvSpPr/>
          <p:nvPr/>
        </p:nvSpPr>
        <p:spPr>
          <a:xfrm>
            <a:off x="8389389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ilelabel_2"/>
          <p:cNvSpPr txBox="1"/>
          <p:nvPr/>
        </p:nvSpPr>
        <p:spPr>
          <a:xfrm>
            <a:off x="6278726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Manufacturing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13" name="background_tile_3"/>
          <p:cNvSpPr/>
          <p:nvPr/>
        </p:nvSpPr>
        <p:spPr>
          <a:xfrm>
            <a:off x="9212349" y="2103120"/>
            <a:ext cx="2567863" cy="237744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lenum_3"/>
          <p:cNvSpPr/>
          <p:nvPr/>
        </p:nvSpPr>
        <p:spPr>
          <a:xfrm>
            <a:off x="11323012" y="2148840"/>
            <a:ext cx="457200" cy="4572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ilelabel_3"/>
          <p:cNvSpPr txBox="1"/>
          <p:nvPr/>
        </p:nvSpPr>
        <p:spPr>
          <a:xfrm>
            <a:off x="9212349" y="4572000"/>
            <a:ext cx="2567863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  <p:sp>
        <p:nvSpPr>
          <p:cNvPr id="16" name="meta_image_credit"/>
          <p:cNvSpPr txBox="1"/>
          <p:nvPr/>
        </p:nvSpPr>
        <p:spPr>
          <a:xfrm>
            <a:off x="411480" y="6272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Images: Ford.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5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redit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and the F-Series drive hundreds of thousands of US jobs</a:t>
            </a:r>
          </a:p>
        </p:txBody>
      </p:sp>
      <p:sp>
        <p:nvSpPr>
          <p:cNvPr id="7" name="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6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drives ~500,000 American jobs, ~13–14 for every direct Ford employee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image_jobs"/>
          <p:cNvSpPr/>
          <p:nvPr/>
        </p:nvSpPr>
        <p:spPr>
          <a:xfrm>
            <a:off x="8595360" y="1600708"/>
            <a:ext cx="320040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credit_image_jobs"/>
          <p:cNvSpPr txBox="1"/>
          <p:nvPr/>
        </p:nvSpPr>
        <p:spPr>
          <a:xfrm>
            <a:off x="870508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8" name="chartpart_wf_jobs_bar_0"/>
          <p:cNvSpPr/>
          <p:nvPr/>
        </p:nvSpPr>
        <p:spPr>
          <a:xfrm>
            <a:off x="411480" y="4807399"/>
            <a:ext cx="1173480" cy="22230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37</a:t>
            </a:r>
          </a:p>
        </p:txBody>
      </p:sp>
      <p:sp>
        <p:nvSpPr>
          <p:cNvPr id="9" name="chartpart_wf_jobs_cat_0"/>
          <p:cNvSpPr txBox="1"/>
          <p:nvPr/>
        </p:nvSpPr>
        <p:spPr>
          <a:xfrm>
            <a:off x="41148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10" name="chartpart_wf_jobs_bar_1"/>
          <p:cNvSpPr/>
          <p:nvPr/>
        </p:nvSpPr>
        <p:spPr>
          <a:xfrm>
            <a:off x="1749552" y="3743916"/>
            <a:ext cx="1173480" cy="1063482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177</a:t>
            </a:r>
          </a:p>
        </p:txBody>
      </p:sp>
      <p:sp>
        <p:nvSpPr>
          <p:cNvPr id="11" name="chartpart_wf_jobs_cat_1"/>
          <p:cNvSpPr txBox="1"/>
          <p:nvPr/>
        </p:nvSpPr>
        <p:spPr>
          <a:xfrm>
            <a:off x="1749552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2" name="chartpart_wf_jobs_bar_2"/>
          <p:cNvSpPr/>
          <p:nvPr/>
        </p:nvSpPr>
        <p:spPr>
          <a:xfrm>
            <a:off x="3087624" y="2872701"/>
            <a:ext cx="1173480" cy="87121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145</a:t>
            </a:r>
          </a:p>
        </p:txBody>
      </p:sp>
      <p:sp>
        <p:nvSpPr>
          <p:cNvPr id="13" name="chartpart_wf_jobs_cat_2"/>
          <p:cNvSpPr txBox="1"/>
          <p:nvPr/>
        </p:nvSpPr>
        <p:spPr>
          <a:xfrm>
            <a:off x="3087624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chartpart_wf_jobs_bar_3"/>
          <p:cNvSpPr/>
          <p:nvPr/>
        </p:nvSpPr>
        <p:spPr>
          <a:xfrm>
            <a:off x="4425696" y="2434089"/>
            <a:ext cx="1173480" cy="43861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73</a:t>
            </a:r>
          </a:p>
        </p:txBody>
      </p:sp>
      <p:sp>
        <p:nvSpPr>
          <p:cNvPr id="15" name="chartpart_wf_jobs_cat_3"/>
          <p:cNvSpPr txBox="1"/>
          <p:nvPr/>
        </p:nvSpPr>
        <p:spPr>
          <a:xfrm>
            <a:off x="4425696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</a:t>
            </a:r>
          </a:p>
        </p:txBody>
      </p:sp>
      <p:sp>
        <p:nvSpPr>
          <p:cNvPr id="16" name="chartpart_wf_jobs_bar_4"/>
          <p:cNvSpPr/>
          <p:nvPr/>
        </p:nvSpPr>
        <p:spPr>
          <a:xfrm>
            <a:off x="5763768" y="2103628"/>
            <a:ext cx="1173480" cy="33046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55</a:t>
            </a:r>
          </a:p>
        </p:txBody>
      </p:sp>
      <p:sp>
        <p:nvSpPr>
          <p:cNvPr id="17" name="chartpart_wf_jobs_cat_4"/>
          <p:cNvSpPr txBox="1"/>
          <p:nvPr/>
        </p:nvSpPr>
        <p:spPr>
          <a:xfrm>
            <a:off x="5763768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(dealers)</a:t>
            </a:r>
          </a:p>
        </p:txBody>
      </p:sp>
      <p:sp>
        <p:nvSpPr>
          <p:cNvPr id="18" name="chartpart_wf_jobs_total"/>
          <p:cNvSpPr/>
          <p:nvPr/>
        </p:nvSpPr>
        <p:spPr>
          <a:xfrm>
            <a:off x="7101840" y="2103628"/>
            <a:ext cx="117348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487</a:t>
            </a:r>
          </a:p>
        </p:txBody>
      </p:sp>
      <p:sp>
        <p:nvSpPr>
          <p:cNvPr id="19" name="chartpart_wf_jobs_total_cat"/>
          <p:cNvSpPr txBox="1"/>
          <p:nvPr/>
        </p:nvSpPr>
        <p:spPr>
          <a:xfrm>
            <a:off x="710184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20" name="chartpart_wf_jobs_axis"/>
          <p:cNvCxnSpPr/>
          <p:nvPr/>
        </p:nvCxnSpPr>
        <p:spPr>
          <a:xfrm>
            <a:off x="411480" y="5029708"/>
            <a:ext cx="78638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jobs_dot_0"/>
          <p:cNvCxnSpPr/>
          <p:nvPr/>
        </p:nvCxnSpPr>
        <p:spPr>
          <a:xfrm>
            <a:off x="998220" y="4807399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jobs_dot_1"/>
          <p:cNvCxnSpPr/>
          <p:nvPr/>
        </p:nvCxnSpPr>
        <p:spPr>
          <a:xfrm>
            <a:off x="2336292" y="3743916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part_wf_jobs_dot_2"/>
          <p:cNvCxnSpPr/>
          <p:nvPr/>
        </p:nvCxnSpPr>
        <p:spPr>
          <a:xfrm>
            <a:off x="3674364" y="2872701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part_wf_jobs_dot_3"/>
          <p:cNvCxnSpPr/>
          <p:nvPr/>
        </p:nvCxnSpPr>
        <p:spPr>
          <a:xfrm>
            <a:off x="5012436" y="2434089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jobs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jobs attributable to the F-Series (thousands)</a:t>
            </a:r>
          </a:p>
        </p:txBody>
      </p:sp>
      <p:cxnSp>
        <p:nvCxnSpPr>
          <p:cNvPr id="26" name="chartpart_wf_jobs_brk_0"/>
          <p:cNvCxnSpPr/>
          <p:nvPr/>
        </p:nvCxnSpPr>
        <p:spPr>
          <a:xfrm>
            <a:off x="411480" y="2048764"/>
            <a:ext cx="384962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jobs_brklabel_0"/>
          <p:cNvSpPr txBox="1"/>
          <p:nvPr/>
        </p:nvSpPr>
        <p:spPr>
          <a:xfrm>
            <a:off x="411480" y="1737868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Mfg &amp; Corporate: 9–10x</a:t>
            </a:r>
          </a:p>
        </p:txBody>
      </p:sp>
      <p:cxnSp>
        <p:nvCxnSpPr>
          <p:cNvPr id="28" name="chartpart_wf_jobs_brk_1"/>
          <p:cNvCxnSpPr/>
          <p:nvPr/>
        </p:nvCxnSpPr>
        <p:spPr>
          <a:xfrm>
            <a:off x="4425696" y="2048764"/>
            <a:ext cx="251155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rtpart_wf_jobs_brklabel_1"/>
          <p:cNvSpPr txBox="1"/>
          <p:nvPr/>
        </p:nvSpPr>
        <p:spPr>
          <a:xfrm>
            <a:off x="4425696" y="1737868"/>
            <a:ext cx="2511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Dealers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F-Series supplier spending (2019); F-Series P&amp;L (2019); RIMS II ratios (2012 and 2017); Ford government relations (2019); public dealer reports;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Dealers attributable to F-Series sales are based on state-level F-Series sales volume.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7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USA drives ~1 million American jobs, ~11–12 for every direct Ford employee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ckground_image_fjobs"/>
          <p:cNvSpPr/>
          <p:nvPr/>
        </p:nvSpPr>
        <p:spPr>
          <a:xfrm>
            <a:off x="8595360" y="1600708"/>
            <a:ext cx="320040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erlay_credit_image_fjobs"/>
          <p:cNvSpPr txBox="1"/>
          <p:nvPr/>
        </p:nvSpPr>
        <p:spPr>
          <a:xfrm>
            <a:off x="870508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8" name="chartpart_wf_fjobs_bar_0"/>
          <p:cNvSpPr/>
          <p:nvPr/>
        </p:nvSpPr>
        <p:spPr>
          <a:xfrm>
            <a:off x="411480" y="4784695"/>
            <a:ext cx="1173480" cy="24501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87</a:t>
            </a:r>
          </a:p>
        </p:txBody>
      </p:sp>
      <p:sp>
        <p:nvSpPr>
          <p:cNvPr id="9" name="chartpart_wf_fjobs_cat_0"/>
          <p:cNvSpPr txBox="1"/>
          <p:nvPr/>
        </p:nvSpPr>
        <p:spPr>
          <a:xfrm>
            <a:off x="41148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10" name="chartpart_wf_fjobs_bar_1"/>
          <p:cNvSpPr/>
          <p:nvPr/>
        </p:nvSpPr>
        <p:spPr>
          <a:xfrm>
            <a:off x="1749552" y="3832804"/>
            <a:ext cx="1173480" cy="9518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338</a:t>
            </a:r>
          </a:p>
        </p:txBody>
      </p:sp>
      <p:sp>
        <p:nvSpPr>
          <p:cNvPr id="11" name="chartpart_wf_fjobs_cat_1"/>
          <p:cNvSpPr txBox="1"/>
          <p:nvPr/>
        </p:nvSpPr>
        <p:spPr>
          <a:xfrm>
            <a:off x="1749552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2" name="chartpart_wf_fjobs_bar_2"/>
          <p:cNvSpPr/>
          <p:nvPr/>
        </p:nvSpPr>
        <p:spPr>
          <a:xfrm>
            <a:off x="3087624" y="3021725"/>
            <a:ext cx="1173480" cy="811078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288</a:t>
            </a:r>
          </a:p>
        </p:txBody>
      </p:sp>
      <p:sp>
        <p:nvSpPr>
          <p:cNvPr id="13" name="chartpart_wf_fjobs_cat_2"/>
          <p:cNvSpPr txBox="1"/>
          <p:nvPr/>
        </p:nvSpPr>
        <p:spPr>
          <a:xfrm>
            <a:off x="3087624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(suppliers)</a:t>
            </a:r>
          </a:p>
        </p:txBody>
      </p:sp>
      <p:sp>
        <p:nvSpPr>
          <p:cNvPr id="14" name="chartpart_wf_fjobs_bar_3"/>
          <p:cNvSpPr/>
          <p:nvPr/>
        </p:nvSpPr>
        <p:spPr>
          <a:xfrm>
            <a:off x="4425696" y="2520433"/>
            <a:ext cx="1173480" cy="501291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178</a:t>
            </a:r>
          </a:p>
        </p:txBody>
      </p:sp>
      <p:sp>
        <p:nvSpPr>
          <p:cNvPr id="15" name="chartpart_wf_fjobs_cat_3"/>
          <p:cNvSpPr txBox="1"/>
          <p:nvPr/>
        </p:nvSpPr>
        <p:spPr>
          <a:xfrm>
            <a:off x="4425696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</a:t>
            </a:r>
          </a:p>
        </p:txBody>
      </p:sp>
      <p:sp>
        <p:nvSpPr>
          <p:cNvPr id="16" name="chartpart_wf_fjobs_bar_4"/>
          <p:cNvSpPr/>
          <p:nvPr/>
        </p:nvSpPr>
        <p:spPr>
          <a:xfrm>
            <a:off x="5763768" y="2103628"/>
            <a:ext cx="1173480" cy="41680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148</a:t>
            </a:r>
          </a:p>
        </p:txBody>
      </p:sp>
      <p:sp>
        <p:nvSpPr>
          <p:cNvPr id="17" name="chartpart_wf_fjobs_cat_4"/>
          <p:cNvSpPr txBox="1"/>
          <p:nvPr/>
        </p:nvSpPr>
        <p:spPr>
          <a:xfrm>
            <a:off x="5763768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(dealers)</a:t>
            </a:r>
          </a:p>
        </p:txBody>
      </p:sp>
      <p:sp>
        <p:nvSpPr>
          <p:cNvPr id="18" name="chartpart_wf_fjobs_total"/>
          <p:cNvSpPr/>
          <p:nvPr/>
        </p:nvSpPr>
        <p:spPr>
          <a:xfrm>
            <a:off x="7101840" y="2103628"/>
            <a:ext cx="117348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1039</a:t>
            </a:r>
          </a:p>
        </p:txBody>
      </p:sp>
      <p:sp>
        <p:nvSpPr>
          <p:cNvPr id="19" name="chartpart_wf_fjobs_total_cat"/>
          <p:cNvSpPr txBox="1"/>
          <p:nvPr/>
        </p:nvSpPr>
        <p:spPr>
          <a:xfrm>
            <a:off x="7101840" y="5084572"/>
            <a:ext cx="117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20" name="chartpart_wf_fjobs_axis"/>
          <p:cNvCxnSpPr/>
          <p:nvPr/>
        </p:nvCxnSpPr>
        <p:spPr>
          <a:xfrm>
            <a:off x="411480" y="5029708"/>
            <a:ext cx="78638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fjobs_dot_0"/>
          <p:cNvCxnSpPr/>
          <p:nvPr/>
        </p:nvCxnSpPr>
        <p:spPr>
          <a:xfrm>
            <a:off x="998220" y="4784695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fjobs_dot_1"/>
          <p:cNvCxnSpPr/>
          <p:nvPr/>
        </p:nvCxnSpPr>
        <p:spPr>
          <a:xfrm>
            <a:off x="2336292" y="3832804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part_wf_fjobs_dot_2"/>
          <p:cNvCxnSpPr/>
          <p:nvPr/>
        </p:nvCxnSpPr>
        <p:spPr>
          <a:xfrm>
            <a:off x="3674364" y="3021725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part_wf_fjobs_dot_3"/>
          <p:cNvCxnSpPr/>
          <p:nvPr/>
        </p:nvCxnSpPr>
        <p:spPr>
          <a:xfrm>
            <a:off x="5012436" y="2520433"/>
            <a:ext cx="133807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fjobs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jobs attributable to Ford USA (thousands)</a:t>
            </a:r>
          </a:p>
        </p:txBody>
      </p:sp>
      <p:cxnSp>
        <p:nvCxnSpPr>
          <p:cNvPr id="26" name="chartpart_wf_fjobs_brk_0"/>
          <p:cNvCxnSpPr/>
          <p:nvPr/>
        </p:nvCxnSpPr>
        <p:spPr>
          <a:xfrm>
            <a:off x="411480" y="2048764"/>
            <a:ext cx="384962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fjobs_brklabel_0"/>
          <p:cNvSpPr txBox="1"/>
          <p:nvPr/>
        </p:nvSpPr>
        <p:spPr>
          <a:xfrm>
            <a:off x="411480" y="1737868"/>
            <a:ext cx="384962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Mfg &amp; Corporate: 8–9x</a:t>
            </a:r>
          </a:p>
        </p:txBody>
      </p:sp>
      <p:cxnSp>
        <p:nvCxnSpPr>
          <p:cNvPr id="28" name="chartpart_wf_fjobs_brk_1"/>
          <p:cNvCxnSpPr/>
          <p:nvPr/>
        </p:nvCxnSpPr>
        <p:spPr>
          <a:xfrm>
            <a:off x="4425696" y="2048764"/>
            <a:ext cx="251155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hartpart_wf_fjobs_brklabel_1"/>
          <p:cNvSpPr txBox="1"/>
          <p:nvPr/>
        </p:nvSpPr>
        <p:spPr>
          <a:xfrm>
            <a:off x="4425696" y="1737868"/>
            <a:ext cx="2511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Dealers</a:t>
            </a:r>
          </a:p>
        </p:txBody>
      </p:sp>
      <p:sp>
        <p:nvSpPr>
          <p:cNvPr id="30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Ford US supplier spending (2019); Ford US P&amp;L (2019); RIMS II ratios (2012 and 2017); Ford government relations (2019); public dealer reports; BCG analysis; image: Ford.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8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redit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and the F-Series drive tens of billions in US GDP</a:t>
            </a:r>
          </a:p>
        </p:txBody>
      </p:sp>
      <p:sp>
        <p:nvSpPr>
          <p:cNvPr id="7" name="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9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F-SERIES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drives ~$49 billion in US GDP through production and multiplier effects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artpart_wf_gdp_bar_0"/>
          <p:cNvSpPr/>
          <p:nvPr/>
        </p:nvSpPr>
        <p:spPr>
          <a:xfrm>
            <a:off x="411480" y="4372833"/>
            <a:ext cx="1752600" cy="65687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~11</a:t>
            </a:r>
          </a:p>
        </p:txBody>
      </p:sp>
      <p:sp>
        <p:nvSpPr>
          <p:cNvPr id="7" name="chartpart_wf_gdp_cat_0"/>
          <p:cNvSpPr txBox="1"/>
          <p:nvPr/>
        </p:nvSpPr>
        <p:spPr>
          <a:xfrm>
            <a:off x="41148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gdp_bar_1"/>
          <p:cNvSpPr/>
          <p:nvPr/>
        </p:nvSpPr>
        <p:spPr>
          <a:xfrm>
            <a:off x="2328672" y="3357663"/>
            <a:ext cx="1752600" cy="101517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~17</a:t>
            </a:r>
          </a:p>
        </p:txBody>
      </p:sp>
      <p:sp>
        <p:nvSpPr>
          <p:cNvPr id="9" name="chartpart_wf_gdp_cat_1"/>
          <p:cNvSpPr txBox="1"/>
          <p:nvPr/>
        </p:nvSpPr>
        <p:spPr>
          <a:xfrm>
            <a:off x="2328672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0" name="chartpart_wf_gdp_bar_2"/>
          <p:cNvSpPr/>
          <p:nvPr/>
        </p:nvSpPr>
        <p:spPr>
          <a:xfrm>
            <a:off x="4245864" y="3178515"/>
            <a:ext cx="1752600" cy="179147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~3</a:t>
            </a:r>
          </a:p>
        </p:txBody>
      </p:sp>
      <p:sp>
        <p:nvSpPr>
          <p:cNvPr id="11" name="chartpart_wf_gdp_cat_2"/>
          <p:cNvSpPr txBox="1"/>
          <p:nvPr/>
        </p:nvSpPr>
        <p:spPr>
          <a:xfrm>
            <a:off x="4245864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(Sales)¹</a:t>
            </a:r>
          </a:p>
        </p:txBody>
      </p:sp>
      <p:sp>
        <p:nvSpPr>
          <p:cNvPr id="12" name="chartpart_wf_gdp_bar_3"/>
          <p:cNvSpPr/>
          <p:nvPr/>
        </p:nvSpPr>
        <p:spPr>
          <a:xfrm>
            <a:off x="6163056" y="2879935"/>
            <a:ext cx="1752600" cy="298579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~5</a:t>
            </a:r>
          </a:p>
        </p:txBody>
      </p:sp>
      <p:sp>
        <p:nvSpPr>
          <p:cNvPr id="13" name="chartpart_wf_gdp_cat_3"/>
          <p:cNvSpPr txBox="1"/>
          <p:nvPr/>
        </p:nvSpPr>
        <p:spPr>
          <a:xfrm>
            <a:off x="6163056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(After-sales)²</a:t>
            </a:r>
          </a:p>
        </p:txBody>
      </p:sp>
      <p:sp>
        <p:nvSpPr>
          <p:cNvPr id="14" name="chartpart_wf_gdp_bar_4"/>
          <p:cNvSpPr/>
          <p:nvPr/>
        </p:nvSpPr>
        <p:spPr>
          <a:xfrm>
            <a:off x="8080248" y="2103628"/>
            <a:ext cx="1752600" cy="776306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~13</a:t>
            </a:r>
          </a:p>
        </p:txBody>
      </p:sp>
      <p:sp>
        <p:nvSpPr>
          <p:cNvPr id="15" name="chartpart_wf_gdp_cat_4"/>
          <p:cNvSpPr txBox="1"/>
          <p:nvPr/>
        </p:nvSpPr>
        <p:spPr>
          <a:xfrm>
            <a:off x="8080248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impact</a:t>
            </a:r>
          </a:p>
        </p:txBody>
      </p:sp>
      <p:sp>
        <p:nvSpPr>
          <p:cNvPr id="16" name="chartpart_wf_gdp_total"/>
          <p:cNvSpPr/>
          <p:nvPr/>
        </p:nvSpPr>
        <p:spPr>
          <a:xfrm>
            <a:off x="9997440" y="2103628"/>
            <a:ext cx="175260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~49</a:t>
            </a:r>
          </a:p>
        </p:txBody>
      </p:sp>
      <p:sp>
        <p:nvSpPr>
          <p:cNvPr id="17" name="chartpart_wf_gdp_total_cat"/>
          <p:cNvSpPr txBox="1"/>
          <p:nvPr/>
        </p:nvSpPr>
        <p:spPr>
          <a:xfrm>
            <a:off x="999744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18" name="chartpart_wf_gd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hartpart_wf_gdp_dot_0"/>
          <p:cNvCxnSpPr/>
          <p:nvPr/>
        </p:nvCxnSpPr>
        <p:spPr>
          <a:xfrm>
            <a:off x="1287780" y="437283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hartpart_wf_gdp_dot_1"/>
          <p:cNvCxnSpPr/>
          <p:nvPr/>
        </p:nvCxnSpPr>
        <p:spPr>
          <a:xfrm>
            <a:off x="3204972" y="335766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gdp_dot_2"/>
          <p:cNvCxnSpPr/>
          <p:nvPr/>
        </p:nvCxnSpPr>
        <p:spPr>
          <a:xfrm>
            <a:off x="5122164" y="3178515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gdp_dot_3"/>
          <p:cNvCxnSpPr/>
          <p:nvPr/>
        </p:nvCxnSpPr>
        <p:spPr>
          <a:xfrm>
            <a:off x="7039356" y="2879935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part_wf_gdp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GDP contribution of the F-Series ($billions)</a:t>
            </a:r>
          </a:p>
        </p:txBody>
      </p:sp>
      <p:cxnSp>
        <p:nvCxnSpPr>
          <p:cNvPr id="24" name="chartpart_wf_gdp_brk_0"/>
          <p:cNvCxnSpPr/>
          <p:nvPr/>
        </p:nvCxnSpPr>
        <p:spPr>
          <a:xfrm>
            <a:off x="411480" y="2048764"/>
            <a:ext cx="558698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gdp_brklabel_0"/>
          <p:cNvSpPr txBox="1"/>
          <p:nvPr/>
        </p:nvSpPr>
        <p:spPr>
          <a:xfrm>
            <a:off x="411480" y="1737868"/>
            <a:ext cx="5586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Product GDP contribution ($31B)</a:t>
            </a:r>
          </a:p>
        </p:txBody>
      </p:sp>
      <p:cxnSp>
        <p:nvCxnSpPr>
          <p:cNvPr id="26" name="chartpart_wf_gdp_brk_1"/>
          <p:cNvCxnSpPr/>
          <p:nvPr/>
        </p:nvCxnSpPr>
        <p:spPr>
          <a:xfrm>
            <a:off x="6163056" y="2048764"/>
            <a:ext cx="366979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gdp_brklabel_1"/>
          <p:cNvSpPr txBox="1"/>
          <p:nvPr/>
        </p:nvSpPr>
        <p:spPr>
          <a:xfrm>
            <a:off x="6163056" y="1737868"/>
            <a:ext cx="3669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Multiplier effect ($18B)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F-Series supplier spending (2019); F-Series P&amp;L (2019); RIMS II ratios (2012 and 2017); Ford government relations (2019); public dealer reports;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¹Based on vehicle sales accounting for ~35% of dealer gross profits. ²Excludes services and repairs by non-Ford dealers.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0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3" name="meta_eyebrow"/>
          <p:cNvSpPr txBox="1"/>
          <p:nvPr/>
        </p:nvSpPr>
        <p:spPr>
          <a:xfrm>
            <a:off x="411480" y="29260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FORD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USA drives ~$100 billion in US GDP through production and multiplier effects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hartpart_wf_fgdp_bar_0"/>
          <p:cNvSpPr/>
          <p:nvPr/>
        </p:nvSpPr>
        <p:spPr>
          <a:xfrm>
            <a:off x="411480" y="4473753"/>
            <a:ext cx="1752600" cy="55595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~19</a:t>
            </a:r>
          </a:p>
        </p:txBody>
      </p:sp>
      <p:sp>
        <p:nvSpPr>
          <p:cNvPr id="7" name="chartpart_wf_fgdp_cat_0"/>
          <p:cNvSpPr txBox="1"/>
          <p:nvPr/>
        </p:nvSpPr>
        <p:spPr>
          <a:xfrm>
            <a:off x="41148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Direct</a:t>
            </a:r>
          </a:p>
        </p:txBody>
      </p:sp>
      <p:sp>
        <p:nvSpPr>
          <p:cNvPr id="8" name="chartpart_wf_fgdp_bar_1"/>
          <p:cNvSpPr/>
          <p:nvPr/>
        </p:nvSpPr>
        <p:spPr>
          <a:xfrm>
            <a:off x="2328672" y="3537408"/>
            <a:ext cx="1752600" cy="93634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~32</a:t>
            </a:r>
          </a:p>
        </p:txBody>
      </p:sp>
      <p:sp>
        <p:nvSpPr>
          <p:cNvPr id="9" name="chartpart_wf_fgdp_cat_1"/>
          <p:cNvSpPr txBox="1"/>
          <p:nvPr/>
        </p:nvSpPr>
        <p:spPr>
          <a:xfrm>
            <a:off x="2328672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Suppliers</a:t>
            </a:r>
          </a:p>
        </p:txBody>
      </p:sp>
      <p:sp>
        <p:nvSpPr>
          <p:cNvPr id="10" name="chartpart_wf_fgdp_bar_2"/>
          <p:cNvSpPr/>
          <p:nvPr/>
        </p:nvSpPr>
        <p:spPr>
          <a:xfrm>
            <a:off x="4245864" y="3332582"/>
            <a:ext cx="1752600" cy="204825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~7</a:t>
            </a:r>
          </a:p>
        </p:txBody>
      </p:sp>
      <p:sp>
        <p:nvSpPr>
          <p:cNvPr id="11" name="chartpart_wf_fgdp_cat_2"/>
          <p:cNvSpPr txBox="1"/>
          <p:nvPr/>
        </p:nvSpPr>
        <p:spPr>
          <a:xfrm>
            <a:off x="4245864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(Sales)</a:t>
            </a:r>
          </a:p>
        </p:txBody>
      </p:sp>
      <p:sp>
        <p:nvSpPr>
          <p:cNvPr id="12" name="chartpart_wf_fgdp_bar_3"/>
          <p:cNvSpPr/>
          <p:nvPr/>
        </p:nvSpPr>
        <p:spPr>
          <a:xfrm>
            <a:off x="6163056" y="2952192"/>
            <a:ext cx="1752600" cy="38039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~13</a:t>
            </a:r>
          </a:p>
        </p:txBody>
      </p:sp>
      <p:sp>
        <p:nvSpPr>
          <p:cNvPr id="13" name="chartpart_wf_fgdp_cat_3"/>
          <p:cNvSpPr txBox="1"/>
          <p:nvPr/>
        </p:nvSpPr>
        <p:spPr>
          <a:xfrm>
            <a:off x="6163056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Dealers
(After-sales)</a:t>
            </a:r>
          </a:p>
        </p:txBody>
      </p:sp>
      <p:sp>
        <p:nvSpPr>
          <p:cNvPr id="14" name="chartpart_wf_fgdp_bar_4"/>
          <p:cNvSpPr/>
          <p:nvPr/>
        </p:nvSpPr>
        <p:spPr>
          <a:xfrm>
            <a:off x="8080248" y="2103628"/>
            <a:ext cx="1752600" cy="848563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~29</a:t>
            </a:r>
          </a:p>
        </p:txBody>
      </p:sp>
      <p:sp>
        <p:nvSpPr>
          <p:cNvPr id="15" name="chartpart_wf_fgdp_cat_4"/>
          <p:cNvSpPr txBox="1"/>
          <p:nvPr/>
        </p:nvSpPr>
        <p:spPr>
          <a:xfrm>
            <a:off x="8080248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33333"/>
                </a:solidFill>
                <a:latin typeface="Arial"/>
              </a:rPr>
              <a:t>Community
impact</a:t>
            </a:r>
          </a:p>
        </p:txBody>
      </p:sp>
      <p:sp>
        <p:nvSpPr>
          <p:cNvPr id="16" name="chartpart_wf_fgdp_total"/>
          <p:cNvSpPr/>
          <p:nvPr/>
        </p:nvSpPr>
        <p:spPr>
          <a:xfrm>
            <a:off x="9997440" y="2103628"/>
            <a:ext cx="1752600" cy="292608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~100</a:t>
            </a:r>
          </a:p>
        </p:txBody>
      </p:sp>
      <p:sp>
        <p:nvSpPr>
          <p:cNvPr id="17" name="chartpart_wf_fgdp_total_cat"/>
          <p:cNvSpPr txBox="1"/>
          <p:nvPr/>
        </p:nvSpPr>
        <p:spPr>
          <a:xfrm>
            <a:off x="9997440" y="5084572"/>
            <a:ext cx="1752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333333"/>
                </a:solidFill>
                <a:latin typeface="Arial"/>
              </a:rPr>
              <a:t>Total</a:t>
            </a:r>
          </a:p>
        </p:txBody>
      </p:sp>
      <p:cxnSp>
        <p:nvCxnSpPr>
          <p:cNvPr id="18" name="chartpart_wf_fgd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hartpart_wf_fgdp_dot_0"/>
          <p:cNvCxnSpPr/>
          <p:nvPr/>
        </p:nvCxnSpPr>
        <p:spPr>
          <a:xfrm>
            <a:off x="1287780" y="4473753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hartpart_wf_fgdp_dot_1"/>
          <p:cNvCxnSpPr/>
          <p:nvPr/>
        </p:nvCxnSpPr>
        <p:spPr>
          <a:xfrm>
            <a:off x="3204972" y="3537408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hartpart_wf_fgdp_dot_2"/>
          <p:cNvCxnSpPr/>
          <p:nvPr/>
        </p:nvCxnSpPr>
        <p:spPr>
          <a:xfrm>
            <a:off x="5122164" y="3332582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part_wf_fgdp_dot_3"/>
          <p:cNvCxnSpPr/>
          <p:nvPr/>
        </p:nvCxnSpPr>
        <p:spPr>
          <a:xfrm>
            <a:off x="7039356" y="2952192"/>
            <a:ext cx="1917192" cy="0"/>
          </a:xfrm>
          <a:prstGeom prst="bentConnector3">
            <a:avLst/>
          </a:prstGeom>
          <a:ln w="9525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part_wf_fgdp_yaxis"/>
          <p:cNvSpPr txBox="1"/>
          <p:nvPr/>
        </p:nvSpPr>
        <p:spPr>
          <a:xfrm>
            <a:off x="411480" y="186588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US GDP contribution of Ford USA ($billions)</a:t>
            </a:r>
          </a:p>
        </p:txBody>
      </p:sp>
      <p:cxnSp>
        <p:nvCxnSpPr>
          <p:cNvPr id="24" name="chartpart_wf_fgdp_brk_0"/>
          <p:cNvCxnSpPr/>
          <p:nvPr/>
        </p:nvCxnSpPr>
        <p:spPr>
          <a:xfrm>
            <a:off x="411480" y="2048764"/>
            <a:ext cx="5586984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part_wf_fgdp_brklabel_0"/>
          <p:cNvSpPr txBox="1"/>
          <p:nvPr/>
        </p:nvSpPr>
        <p:spPr>
          <a:xfrm>
            <a:off x="411480" y="1737868"/>
            <a:ext cx="5586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Product GDP contribution ($58B)</a:t>
            </a:r>
          </a:p>
        </p:txBody>
      </p:sp>
      <p:cxnSp>
        <p:nvCxnSpPr>
          <p:cNvPr id="26" name="chartpart_wf_fgdp_brk_1"/>
          <p:cNvCxnSpPr/>
          <p:nvPr/>
        </p:nvCxnSpPr>
        <p:spPr>
          <a:xfrm>
            <a:off x="6163056" y="2048764"/>
            <a:ext cx="3669792" cy="0"/>
          </a:xfrm>
          <a:prstGeom prst="bentConnector3">
            <a:avLst/>
          </a:prstGeom>
          <a:ln w="15875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part_wf_fgdp_brklabel_1"/>
          <p:cNvSpPr txBox="1"/>
          <p:nvPr/>
        </p:nvSpPr>
        <p:spPr>
          <a:xfrm>
            <a:off x="6163056" y="1737868"/>
            <a:ext cx="3669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B6B52"/>
                </a:solidFill>
                <a:latin typeface="Arial"/>
              </a:rPr>
              <a:t>Multiplier effect ($42B)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Bureau of Labor Statistics (2019); Ford US supplier spending (2019); Ford US P&amp;L (2019); RIMS II ratios (2012 and 2017); Ford government relations (2019); public dealer reports; BCG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1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redit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 leads US full-size pickup manufacturing by a wide margin</a:t>
            </a:r>
          </a:p>
        </p:txBody>
      </p:sp>
      <p:sp>
        <p:nvSpPr>
          <p:cNvPr id="7" name="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2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1139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leads US full-size pickup assembly, building twice as many as any competitor in 2019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81584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2x"/>
          <p:cNvSpPr txBox="1"/>
          <p:nvPr/>
        </p:nvSpPr>
        <p:spPr>
          <a:xfrm>
            <a:off x="411480" y="198043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Full-size pickup trucks assembled in the US (thousands)</a:t>
            </a:r>
          </a:p>
        </p:txBody>
      </p:sp>
      <p:graphicFrame>
        <p:nvGraphicFramePr>
          <p:cNvPr id="6" name="chart_2x"/>
          <p:cNvGraphicFramePr>
            <a:graphicFrameLocks noGrp="1"/>
          </p:cNvGraphicFramePr>
          <p:nvPr/>
        </p:nvGraphicFramePr>
        <p:xfrm>
          <a:off x="411480" y="2254758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background_image_2x"/>
          <p:cNvSpPr/>
          <p:nvPr/>
        </p:nvSpPr>
        <p:spPr>
          <a:xfrm>
            <a:off x="8412480" y="198043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erlay_credit_image_2x"/>
          <p:cNvSpPr txBox="1"/>
          <p:nvPr/>
        </p:nvSpPr>
        <p:spPr>
          <a:xfrm>
            <a:off x="8522208" y="563803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9" name="overlay_annot_2x"/>
          <p:cNvSpPr txBox="1"/>
          <p:nvPr/>
        </p:nvSpPr>
        <p:spPr>
          <a:xfrm>
            <a:off x="6400800" y="353491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E9E7B"/>
                </a:solidFill>
                <a:latin typeface="Arial"/>
              </a:rPr>
              <a:t>2.1x</a:t>
            </a:r>
          </a:p>
        </p:txBody>
      </p:sp>
      <p:sp>
        <p:nvSpPr>
          <p:cNvPr id="10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Based on IHS Markit CYE 2019 US Light Vehicle Production data (see IHS disclaimer);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GM pickup truck brands include Sierra and Silverado.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3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is responsible for one in five vehicles assembled in the US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17957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background_image_oif"/>
          <p:cNvSpPr/>
          <p:nvPr/>
        </p:nvSpPr>
        <p:spPr>
          <a:xfrm>
            <a:off x="411480" y="1344168"/>
            <a:ext cx="310896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erlay_credit_image_oif"/>
          <p:cNvSpPr txBox="1"/>
          <p:nvPr/>
        </p:nvSpPr>
        <p:spPr>
          <a:xfrm>
            <a:off x="521208" y="500176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7" name="caption_chart_oif"/>
          <p:cNvSpPr txBox="1"/>
          <p:nvPr/>
        </p:nvSpPr>
        <p:spPr>
          <a:xfrm>
            <a:off x="3794760" y="13441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% of US vehicle assembly</a:t>
            </a:r>
          </a:p>
        </p:txBody>
      </p:sp>
      <p:graphicFrame>
        <p:nvGraphicFramePr>
          <p:cNvPr id="8" name="chart_oif"/>
          <p:cNvGraphicFramePr>
            <a:graphicFrameLocks noGrp="1"/>
          </p:cNvGraphicFramePr>
          <p:nvPr/>
        </p:nvGraphicFramePr>
        <p:xfrm>
          <a:off x="3794760" y="1618488"/>
          <a:ext cx="4206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caption_table_oif"/>
          <p:cNvSpPr txBox="1"/>
          <p:nvPr/>
        </p:nvSpPr>
        <p:spPr>
          <a:xfrm>
            <a:off x="8275320" y="134416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Vehicles assembled (2019, thousands)</a:t>
            </a:r>
          </a:p>
        </p:txBody>
      </p:sp>
      <p:graphicFrame>
        <p:nvGraphicFramePr>
          <p:cNvPr id="10" name="table_oif"/>
          <p:cNvGraphicFramePr>
            <a:graphicFrameLocks noGrp="1"/>
          </p:cNvGraphicFramePr>
          <p:nvPr/>
        </p:nvGraphicFramePr>
        <p:xfrm>
          <a:off x="8275320" y="1618488"/>
          <a:ext cx="347472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</a:tblGrid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Maker</a:t>
                      </a:r>
                    </a:p>
                  </a:txBody>
                  <a:tcPr>
                    <a:solidFill>
                      <a:srgbClr val="2E9E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Vehicles</a:t>
                      </a:r>
                    </a:p>
                  </a:txBody>
                  <a:tcPr>
                    <a:solidFill>
                      <a:srgbClr val="2E9E7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2,170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1,677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FCA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1,420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Toyota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1,195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Honda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1,205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2,926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10,593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Based on IHS Markit CYE 2019 US Light Vehicle Production data; BCG analysis; image: Ford.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Others includes BMW, Daimler, Geely, Hyundai, Kia, Mercedes-Benz, Navistar, Renault-Nissan-Mitsubishi, Tesla, Volkswagen.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4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An external study confirms the F-150 is the most American-made full-size pickup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am"/>
          <p:cNvSpPr txBox="1"/>
          <p:nvPr/>
        </p:nvSpPr>
        <p:spPr>
          <a:xfrm>
            <a:off x="411480" y="160070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Kogod Made in America Index vs vehicles sold (2019, thousands)</a:t>
            </a:r>
          </a:p>
        </p:txBody>
      </p:sp>
      <p:sp>
        <p:nvSpPr>
          <p:cNvPr id="6" name="chartpart_plot_am"/>
          <p:cNvSpPr/>
          <p:nvPr/>
        </p:nvSpPr>
        <p:spPr>
          <a:xfrm>
            <a:off x="411480" y="1920748"/>
            <a:ext cx="694944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hartpart_plot_am_xaxis"/>
          <p:cNvCxnSpPr/>
          <p:nvPr/>
        </p:nvCxnSpPr>
        <p:spPr>
          <a:xfrm>
            <a:off x="411480" y="5304028"/>
            <a:ext cx="69494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hartpart_plot_am_yaxis"/>
          <p:cNvCxnSpPr/>
          <p:nvPr/>
        </p:nvCxnSpPr>
        <p:spPr>
          <a:xfrm>
            <a:off x="411480" y="1920748"/>
            <a:ext cx="0" cy="338328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part_pt_am_0"/>
          <p:cNvSpPr/>
          <p:nvPr/>
        </p:nvSpPr>
        <p:spPr>
          <a:xfrm>
            <a:off x="6797040" y="2045715"/>
            <a:ext cx="201168" cy="201168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artpart_ptlbl_am_0"/>
          <p:cNvSpPr txBox="1"/>
          <p:nvPr/>
        </p:nvSpPr>
        <p:spPr>
          <a:xfrm>
            <a:off x="7007352" y="2036571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B52"/>
                </a:solidFill>
                <a:latin typeface="Arial"/>
              </a:rPr>
              <a:t>F-150</a:t>
            </a:r>
          </a:p>
        </p:txBody>
      </p:sp>
      <p:sp>
        <p:nvSpPr>
          <p:cNvPr id="11" name="chartpart_pt_am_1"/>
          <p:cNvSpPr/>
          <p:nvPr/>
        </p:nvSpPr>
        <p:spPr>
          <a:xfrm>
            <a:off x="685800" y="2185923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ptlbl_am_1"/>
          <p:cNvSpPr txBox="1"/>
          <p:nvPr/>
        </p:nvSpPr>
        <p:spPr>
          <a:xfrm>
            <a:off x="868680" y="198475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Ridgeline</a:t>
            </a:r>
          </a:p>
        </p:txBody>
      </p:sp>
      <p:sp>
        <p:nvSpPr>
          <p:cNvPr id="13" name="chartpart_pt_am_2"/>
          <p:cNvSpPr/>
          <p:nvPr/>
        </p:nvSpPr>
        <p:spPr>
          <a:xfrm>
            <a:off x="1612392" y="2073147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part_ptlbl_am_2"/>
          <p:cNvSpPr txBox="1"/>
          <p:nvPr/>
        </p:nvSpPr>
        <p:spPr>
          <a:xfrm>
            <a:off x="1795272" y="2036571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Canyon</a:t>
            </a:r>
          </a:p>
        </p:txBody>
      </p:sp>
      <p:sp>
        <p:nvSpPr>
          <p:cNvPr id="15" name="chartpart_pt_am_3"/>
          <p:cNvSpPr/>
          <p:nvPr/>
        </p:nvSpPr>
        <p:spPr>
          <a:xfrm>
            <a:off x="1728216" y="2073147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part_ptlbl_am_3"/>
          <p:cNvSpPr txBox="1"/>
          <p:nvPr/>
        </p:nvSpPr>
        <p:spPr>
          <a:xfrm>
            <a:off x="1911096" y="2274315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Colorado</a:t>
            </a:r>
          </a:p>
        </p:txBody>
      </p:sp>
      <p:sp>
        <p:nvSpPr>
          <p:cNvPr id="17" name="chartpart_pt_am_4"/>
          <p:cNvSpPr/>
          <p:nvPr/>
        </p:nvSpPr>
        <p:spPr>
          <a:xfrm>
            <a:off x="3233928" y="286258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ptlbl_am_4"/>
          <p:cNvSpPr txBox="1"/>
          <p:nvPr/>
        </p:nvSpPr>
        <p:spPr>
          <a:xfrm>
            <a:off x="3416808" y="28260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Tacoma</a:t>
            </a:r>
          </a:p>
        </p:txBody>
      </p:sp>
      <p:sp>
        <p:nvSpPr>
          <p:cNvPr id="19" name="chartpart_pt_am_5"/>
          <p:cNvSpPr/>
          <p:nvPr/>
        </p:nvSpPr>
        <p:spPr>
          <a:xfrm>
            <a:off x="1612392" y="2975356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part_ptlbl_am_5"/>
          <p:cNvSpPr txBox="1"/>
          <p:nvPr/>
        </p:nvSpPr>
        <p:spPr>
          <a:xfrm>
            <a:off x="1795272" y="2938780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Tundra</a:t>
            </a:r>
          </a:p>
        </p:txBody>
      </p:sp>
      <p:sp>
        <p:nvSpPr>
          <p:cNvPr id="21" name="chartpart_pt_am_6"/>
          <p:cNvSpPr/>
          <p:nvPr/>
        </p:nvSpPr>
        <p:spPr>
          <a:xfrm>
            <a:off x="5434584" y="3200908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part_ptlbl_am_6"/>
          <p:cNvSpPr txBox="1"/>
          <p:nvPr/>
        </p:nvSpPr>
        <p:spPr>
          <a:xfrm>
            <a:off x="5617464" y="316433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Silverado</a:t>
            </a:r>
          </a:p>
        </p:txBody>
      </p:sp>
      <p:sp>
        <p:nvSpPr>
          <p:cNvPr id="23" name="chartpart_pt_am_7"/>
          <p:cNvSpPr/>
          <p:nvPr/>
        </p:nvSpPr>
        <p:spPr>
          <a:xfrm>
            <a:off x="5318760" y="342646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ptlbl_am_7"/>
          <p:cNvSpPr txBox="1"/>
          <p:nvPr/>
        </p:nvSpPr>
        <p:spPr>
          <a:xfrm>
            <a:off x="5501640" y="359105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Ram</a:t>
            </a:r>
          </a:p>
        </p:txBody>
      </p:sp>
      <p:sp>
        <p:nvSpPr>
          <p:cNvPr id="25" name="chartpart_pt_am_8"/>
          <p:cNvSpPr/>
          <p:nvPr/>
        </p:nvSpPr>
        <p:spPr>
          <a:xfrm>
            <a:off x="1207008" y="3990340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part_ptlbl_am_8"/>
          <p:cNvSpPr txBox="1"/>
          <p:nvPr/>
        </p:nvSpPr>
        <p:spPr>
          <a:xfrm>
            <a:off x="1389888" y="395376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Ranger</a:t>
            </a:r>
          </a:p>
        </p:txBody>
      </p:sp>
      <p:sp>
        <p:nvSpPr>
          <p:cNvPr id="27" name="chartpart_pt_am_9"/>
          <p:cNvSpPr/>
          <p:nvPr/>
        </p:nvSpPr>
        <p:spPr>
          <a:xfrm>
            <a:off x="1207008" y="5005324"/>
            <a:ext cx="146304" cy="146304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part_ptlbl_am_9"/>
          <p:cNvSpPr txBox="1"/>
          <p:nvPr/>
        </p:nvSpPr>
        <p:spPr>
          <a:xfrm>
            <a:off x="1389888" y="49687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Frontier</a:t>
            </a:r>
          </a:p>
        </p:txBody>
      </p:sp>
      <p:sp>
        <p:nvSpPr>
          <p:cNvPr id="29" name="background_image_am"/>
          <p:cNvSpPr/>
          <p:nvPr/>
        </p:nvSpPr>
        <p:spPr>
          <a:xfrm>
            <a:off x="8412480" y="160070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erlay_credit_image_am"/>
          <p:cNvSpPr txBox="1"/>
          <p:nvPr/>
        </p:nvSpPr>
        <p:spPr>
          <a:xfrm>
            <a:off x="852220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31" name="overlay_annot_am"/>
          <p:cNvSpPr txBox="1"/>
          <p:nvPr/>
        </p:nvSpPr>
        <p:spPr>
          <a:xfrm>
            <a:off x="8503920" y="1692148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The F-150 leads the industry both in number of vehicles sold and as the most American-made truck</a:t>
            </a:r>
          </a:p>
        </p:txBody>
      </p:sp>
      <p:sp>
        <p:nvSpPr>
          <p:cNvPr id="32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Made in America Auto Index (Kogod School of Business at American University); BCG analysis; image: Ford.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5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Ford is a leader in the automotive industry for combined quality and recency of patent filings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pat"/>
          <p:cNvSpPr txBox="1"/>
          <p:nvPr/>
        </p:nvSpPr>
        <p:spPr>
          <a:xfrm>
            <a:off x="411480" y="1600708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Average Competitive Impact (patent value) vs Freshness % (2017); bubble = patent families</a:t>
            </a:r>
          </a:p>
        </p:txBody>
      </p:sp>
      <p:sp>
        <p:nvSpPr>
          <p:cNvPr id="6" name="chartpart_plot_pat"/>
          <p:cNvSpPr/>
          <p:nvPr/>
        </p:nvSpPr>
        <p:spPr>
          <a:xfrm>
            <a:off x="411480" y="1920748"/>
            <a:ext cx="6949440" cy="33832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hartpart_plot_pat_xaxis"/>
          <p:cNvCxnSpPr/>
          <p:nvPr/>
        </p:nvCxnSpPr>
        <p:spPr>
          <a:xfrm>
            <a:off x="411480" y="5304028"/>
            <a:ext cx="694944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hartpart_plot_pat_yaxis"/>
          <p:cNvCxnSpPr/>
          <p:nvPr/>
        </p:nvCxnSpPr>
        <p:spPr>
          <a:xfrm>
            <a:off x="411480" y="1920748"/>
            <a:ext cx="0" cy="338328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part_bub_0"/>
          <p:cNvSpPr/>
          <p:nvPr/>
        </p:nvSpPr>
        <p:spPr>
          <a:xfrm>
            <a:off x="6513793" y="3022600"/>
            <a:ext cx="502920" cy="502920"/>
          </a:xfrm>
          <a:prstGeom prst="ellipse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artpart_bublbl_0"/>
          <p:cNvSpPr txBox="1"/>
          <p:nvPr/>
        </p:nvSpPr>
        <p:spPr>
          <a:xfrm>
            <a:off x="6308053" y="35438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B6B52"/>
                </a:solidFill>
                <a:latin typeface="Arial"/>
              </a:rPr>
              <a:t>Ford</a:t>
            </a:r>
          </a:p>
        </p:txBody>
      </p:sp>
      <p:sp>
        <p:nvSpPr>
          <p:cNvPr id="11" name="chartpart_bub_1"/>
          <p:cNvSpPr/>
          <p:nvPr/>
        </p:nvSpPr>
        <p:spPr>
          <a:xfrm>
            <a:off x="6881513" y="2176779"/>
            <a:ext cx="164592" cy="164592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bublbl_1"/>
          <p:cNvSpPr txBox="1"/>
          <p:nvPr/>
        </p:nvSpPr>
        <p:spPr>
          <a:xfrm>
            <a:off x="6506609" y="2359659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Tesla</a:t>
            </a:r>
          </a:p>
        </p:txBody>
      </p:sp>
      <p:sp>
        <p:nvSpPr>
          <p:cNvPr id="13" name="chartpart_bub_2"/>
          <p:cNvSpPr/>
          <p:nvPr/>
        </p:nvSpPr>
        <p:spPr>
          <a:xfrm>
            <a:off x="6230982" y="3475228"/>
            <a:ext cx="274320" cy="27432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part_bublbl_2"/>
          <p:cNvSpPr txBox="1"/>
          <p:nvPr/>
        </p:nvSpPr>
        <p:spPr>
          <a:xfrm>
            <a:off x="5910942" y="37678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FCA</a:t>
            </a:r>
          </a:p>
        </p:txBody>
      </p:sp>
      <p:sp>
        <p:nvSpPr>
          <p:cNvPr id="15" name="chartpart_bub_3"/>
          <p:cNvSpPr/>
          <p:nvPr/>
        </p:nvSpPr>
        <p:spPr>
          <a:xfrm>
            <a:off x="6093822" y="367639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part_bublbl_3"/>
          <p:cNvSpPr txBox="1"/>
          <p:nvPr/>
        </p:nvSpPr>
        <p:spPr>
          <a:xfrm>
            <a:off x="5910942" y="424332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GM</a:t>
            </a:r>
          </a:p>
        </p:txBody>
      </p:sp>
      <p:sp>
        <p:nvSpPr>
          <p:cNvPr id="17" name="chartpart_bub_4"/>
          <p:cNvSpPr/>
          <p:nvPr/>
        </p:nvSpPr>
        <p:spPr>
          <a:xfrm>
            <a:off x="6208122" y="4241800"/>
            <a:ext cx="320040" cy="3200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bublbl_4"/>
          <p:cNvSpPr txBox="1"/>
          <p:nvPr/>
        </p:nvSpPr>
        <p:spPr>
          <a:xfrm>
            <a:off x="5910942" y="458012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Honda</a:t>
            </a:r>
          </a:p>
        </p:txBody>
      </p:sp>
      <p:sp>
        <p:nvSpPr>
          <p:cNvPr id="19" name="chartpart_bub_5"/>
          <p:cNvSpPr/>
          <p:nvPr/>
        </p:nvSpPr>
        <p:spPr>
          <a:xfrm>
            <a:off x="6292378" y="424027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part_bublbl_5"/>
          <p:cNvSpPr txBox="1"/>
          <p:nvPr/>
        </p:nvSpPr>
        <p:spPr>
          <a:xfrm>
            <a:off x="6109498" y="48072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VW</a:t>
            </a:r>
          </a:p>
        </p:txBody>
      </p:sp>
      <p:sp>
        <p:nvSpPr>
          <p:cNvPr id="21" name="chartpart_bub_6"/>
          <p:cNvSpPr/>
          <p:nvPr/>
        </p:nvSpPr>
        <p:spPr>
          <a:xfrm>
            <a:off x="5696712" y="4240276"/>
            <a:ext cx="548640" cy="54864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part_bublbl_6"/>
          <p:cNvSpPr txBox="1"/>
          <p:nvPr/>
        </p:nvSpPr>
        <p:spPr>
          <a:xfrm>
            <a:off x="5513832" y="480720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Toyota</a:t>
            </a:r>
          </a:p>
        </p:txBody>
      </p:sp>
      <p:sp>
        <p:nvSpPr>
          <p:cNvPr id="23" name="chartpart_bub_7"/>
          <p:cNvSpPr/>
          <p:nvPr/>
        </p:nvSpPr>
        <p:spPr>
          <a:xfrm>
            <a:off x="869986" y="4377436"/>
            <a:ext cx="274320" cy="274320"/>
          </a:xfrm>
          <a:prstGeom prst="ellipse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bublbl_7"/>
          <p:cNvSpPr txBox="1"/>
          <p:nvPr/>
        </p:nvSpPr>
        <p:spPr>
          <a:xfrm>
            <a:off x="549946" y="467004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Nissan</a:t>
            </a:r>
          </a:p>
        </p:txBody>
      </p:sp>
      <p:sp>
        <p:nvSpPr>
          <p:cNvPr id="25" name="background_image_pat"/>
          <p:cNvSpPr/>
          <p:nvPr/>
        </p:nvSpPr>
        <p:spPr>
          <a:xfrm>
            <a:off x="8412480" y="1600708"/>
            <a:ext cx="3383280" cy="393192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erlay_credit_image_pat"/>
          <p:cNvSpPr txBox="1"/>
          <p:nvPr/>
        </p:nvSpPr>
        <p:spPr>
          <a:xfrm>
            <a:off x="8522208" y="52583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27" name="overlay_annot_pat"/>
          <p:cNvSpPr txBox="1"/>
          <p:nvPr/>
        </p:nvSpPr>
        <p:spPr>
          <a:xfrm>
            <a:off x="8503920" y="169214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Ford is a leader in both patent Competitive Impact and Freshness</a:t>
            </a:r>
          </a:p>
        </p:txBody>
      </p:sp>
      <p:sp>
        <p:nvSpPr>
          <p:cNvPr id="28" name="meta_source"/>
          <p:cNvSpPr txBox="1"/>
          <p:nvPr/>
        </p:nvSpPr>
        <p:spPr>
          <a:xfrm>
            <a:off x="3840480" y="62727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LexisNexis PatentSight; BCG Center for Growth &amp; Innovation Analytics; image: Ford.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6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54864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Ford's patents are driving innovation across many industries</a:t>
            </a:r>
          </a:p>
        </p:txBody>
      </p:sp>
      <p:sp>
        <p:nvSpPr>
          <p:cNvPr id="5" name="body_ip"/>
          <p:cNvSpPr txBox="1"/>
          <p:nvPr/>
        </p:nvSpPr>
        <p:spPr>
          <a:xfrm>
            <a:off x="365760" y="274320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Ford patents are cited in innovative new products across industries, from agriculture to biopharma. From 2013 through 2017, Ford's patents were cited</a:t>
            </a:r>
          </a:p>
        </p:txBody>
      </p:sp>
      <p:sp>
        <p:nvSpPr>
          <p:cNvPr id="6" name="stat_ip"/>
          <p:cNvSpPr txBox="1"/>
          <p:nvPr/>
        </p:nvSpPr>
        <p:spPr>
          <a:xfrm>
            <a:off x="365760" y="4297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~23,000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times across different industries</a:t>
            </a:r>
          </a:p>
        </p:txBody>
      </p:sp>
      <p:sp>
        <p:nvSpPr>
          <p:cNvPr id="7" name="meta_eyebrow_examples"/>
          <p:cNvSpPr txBox="1"/>
          <p:nvPr/>
        </p:nvSpPr>
        <p:spPr>
          <a:xfrm>
            <a:off x="4069080" y="4114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E9E7B"/>
                </a:solidFill>
                <a:latin typeface="Arial"/>
              </a:rPr>
              <a:t>ILLUSTRATIVE EXAMPLES</a:t>
            </a:r>
          </a:p>
        </p:txBody>
      </p:sp>
      <p:sp>
        <p:nvSpPr>
          <p:cNvPr id="8" name="chartpart_icon_ind_0"/>
          <p:cNvSpPr/>
          <p:nvPr/>
        </p:nvSpPr>
        <p:spPr>
          <a:xfrm>
            <a:off x="4434840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artpart_indhdr_0"/>
          <p:cNvSpPr txBox="1"/>
          <p:nvPr/>
        </p:nvSpPr>
        <p:spPr>
          <a:xfrm>
            <a:off x="4434840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Aircraft monitoring</a:t>
            </a:r>
          </a:p>
        </p:txBody>
      </p:sp>
      <p:sp>
        <p:nvSpPr>
          <p:cNvPr id="10" name="chartpart_inddesc_0"/>
          <p:cNvSpPr txBox="1"/>
          <p:nvPr/>
        </p:nvSpPr>
        <p:spPr>
          <a:xfrm>
            <a:off x="4434840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Aircraft-operating-data monitor provides integrated view of asset health</a:t>
            </a:r>
          </a:p>
        </p:txBody>
      </p:sp>
      <p:sp>
        <p:nvSpPr>
          <p:cNvPr id="11" name="chartpart_icon_ind_1"/>
          <p:cNvSpPr/>
          <p:nvPr/>
        </p:nvSpPr>
        <p:spPr>
          <a:xfrm>
            <a:off x="6327648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rtpart_indhdr_1"/>
          <p:cNvSpPr txBox="1"/>
          <p:nvPr/>
        </p:nvSpPr>
        <p:spPr>
          <a:xfrm>
            <a:off x="6327648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Surgical robotics</a:t>
            </a:r>
          </a:p>
        </p:txBody>
      </p:sp>
      <p:sp>
        <p:nvSpPr>
          <p:cNvPr id="13" name="chartpart_inddesc_1"/>
          <p:cNvSpPr txBox="1"/>
          <p:nvPr/>
        </p:nvSpPr>
        <p:spPr>
          <a:xfrm>
            <a:off x="6327648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Controlling articulating arm in a confidence-based robot-assisted surgery system</a:t>
            </a:r>
          </a:p>
        </p:txBody>
      </p:sp>
      <p:sp>
        <p:nvSpPr>
          <p:cNvPr id="14" name="chartpart_icon_ind_2"/>
          <p:cNvSpPr/>
          <p:nvPr/>
        </p:nvSpPr>
        <p:spPr>
          <a:xfrm>
            <a:off x="8220456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part_indhdr_2"/>
          <p:cNvSpPr txBox="1"/>
          <p:nvPr/>
        </p:nvSpPr>
        <p:spPr>
          <a:xfrm>
            <a:off x="8220456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Exercise machine</a:t>
            </a:r>
          </a:p>
        </p:txBody>
      </p:sp>
      <p:sp>
        <p:nvSpPr>
          <p:cNvPr id="16" name="chartpart_inddesc_2"/>
          <p:cNvSpPr txBox="1"/>
          <p:nvPr/>
        </p:nvSpPr>
        <p:spPr>
          <a:xfrm>
            <a:off x="8220456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Exercise program based on real-world routes with video and topographical simulation</a:t>
            </a:r>
          </a:p>
        </p:txBody>
      </p:sp>
      <p:sp>
        <p:nvSpPr>
          <p:cNvPr id="17" name="chartpart_icon_ind_3"/>
          <p:cNvSpPr/>
          <p:nvPr/>
        </p:nvSpPr>
        <p:spPr>
          <a:xfrm>
            <a:off x="10113264" y="91440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part_indhdr_3"/>
          <p:cNvSpPr txBox="1"/>
          <p:nvPr/>
        </p:nvSpPr>
        <p:spPr>
          <a:xfrm>
            <a:off x="10113264" y="150876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Vision technology</a:t>
            </a:r>
          </a:p>
        </p:txBody>
      </p:sp>
      <p:sp>
        <p:nvSpPr>
          <p:cNvPr id="19" name="chartpart_inddesc_3"/>
          <p:cNvSpPr txBox="1"/>
          <p:nvPr/>
        </p:nvSpPr>
        <p:spPr>
          <a:xfrm>
            <a:off x="10113264" y="205740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ML program analyzes body language to improve human-robot interaction</a:t>
            </a:r>
          </a:p>
        </p:txBody>
      </p:sp>
      <p:sp>
        <p:nvSpPr>
          <p:cNvPr id="20" name="chartpart_icon_ind_4"/>
          <p:cNvSpPr/>
          <p:nvPr/>
        </p:nvSpPr>
        <p:spPr>
          <a:xfrm>
            <a:off x="4434840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part_indhdr_4"/>
          <p:cNvSpPr txBox="1"/>
          <p:nvPr/>
        </p:nvSpPr>
        <p:spPr>
          <a:xfrm>
            <a:off x="4434840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Medtech devices</a:t>
            </a:r>
          </a:p>
        </p:txBody>
      </p:sp>
      <p:sp>
        <p:nvSpPr>
          <p:cNvPr id="22" name="chartpart_inddesc_4"/>
          <p:cNvSpPr txBox="1"/>
          <p:nvPr/>
        </p:nvSpPr>
        <p:spPr>
          <a:xfrm>
            <a:off x="4434840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Medical treatment device and method for stimulating neurons of a patient</a:t>
            </a:r>
          </a:p>
        </p:txBody>
      </p:sp>
      <p:sp>
        <p:nvSpPr>
          <p:cNvPr id="23" name="chartpart_icon_ind_5"/>
          <p:cNvSpPr/>
          <p:nvPr/>
        </p:nvSpPr>
        <p:spPr>
          <a:xfrm>
            <a:off x="6327648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part_indhdr_5"/>
          <p:cNvSpPr txBox="1"/>
          <p:nvPr/>
        </p:nvSpPr>
        <p:spPr>
          <a:xfrm>
            <a:off x="6327648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Health care / pharmacy</a:t>
            </a:r>
          </a:p>
        </p:txBody>
      </p:sp>
      <p:sp>
        <p:nvSpPr>
          <p:cNvPr id="25" name="chartpart_inddesc_5"/>
          <p:cNvSpPr txBox="1"/>
          <p:nvPr/>
        </p:nvSpPr>
        <p:spPr>
          <a:xfrm>
            <a:off x="6327648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Controlled release of peptide formulations to administration devices</a:t>
            </a:r>
          </a:p>
        </p:txBody>
      </p:sp>
      <p:sp>
        <p:nvSpPr>
          <p:cNvPr id="26" name="chartpart_icon_ind_6"/>
          <p:cNvSpPr/>
          <p:nvPr/>
        </p:nvSpPr>
        <p:spPr>
          <a:xfrm>
            <a:off x="8220456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part_indhdr_6"/>
          <p:cNvSpPr txBox="1"/>
          <p:nvPr/>
        </p:nvSpPr>
        <p:spPr>
          <a:xfrm>
            <a:off x="8220456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Audio technology</a:t>
            </a:r>
          </a:p>
        </p:txBody>
      </p:sp>
      <p:sp>
        <p:nvSpPr>
          <p:cNvPr id="28" name="chartpart_inddesc_6"/>
          <p:cNvSpPr txBox="1"/>
          <p:nvPr/>
        </p:nvSpPr>
        <p:spPr>
          <a:xfrm>
            <a:off x="8220456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Voice-activated virtual assistant delivering information via a wireless earpiece</a:t>
            </a:r>
          </a:p>
        </p:txBody>
      </p:sp>
      <p:sp>
        <p:nvSpPr>
          <p:cNvPr id="29" name="chartpart_icon_ind_7"/>
          <p:cNvSpPr/>
          <p:nvPr/>
        </p:nvSpPr>
        <p:spPr>
          <a:xfrm>
            <a:off x="10113264" y="3566160"/>
            <a:ext cx="502920" cy="50292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part_indhdr_7"/>
          <p:cNvSpPr txBox="1"/>
          <p:nvPr/>
        </p:nvSpPr>
        <p:spPr>
          <a:xfrm>
            <a:off x="10113264" y="416052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Home automation</a:t>
            </a:r>
          </a:p>
        </p:txBody>
      </p:sp>
      <p:sp>
        <p:nvSpPr>
          <p:cNvPr id="31" name="chartpart_inddesc_7"/>
          <p:cNvSpPr txBox="1"/>
          <p:nvPr/>
        </p:nvSpPr>
        <p:spPr>
          <a:xfrm>
            <a:off x="10113264" y="4709160"/>
            <a:ext cx="1783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Arial"/>
              </a:rPr>
              <a:t>Detection and mitigation of harmful gases via home automation integration</a:t>
            </a:r>
          </a:p>
        </p:txBody>
      </p:sp>
      <p:sp>
        <p:nvSpPr>
          <p:cNvPr id="32" name="meta_source"/>
          <p:cNvSpPr txBox="1"/>
          <p:nvPr/>
        </p:nvSpPr>
        <p:spPr>
          <a:xfrm>
            <a:off x="3840480" y="6272784"/>
            <a:ext cx="73152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LexisNexis PatentSight; BCG Center for Growth &amp; Innovation Analytics.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7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ackground_image_section"/>
          <p:cNvSpPr/>
          <p:nvPr/>
        </p:nvSpPr>
        <p:spPr>
          <a:xfrm>
            <a:off x="4023360" y="0"/>
            <a:ext cx="8168335" cy="6858000"/>
          </a:xfrm>
          <a:prstGeom prst="rect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erlay_credit_image_section"/>
          <p:cNvSpPr txBox="1"/>
          <p:nvPr/>
        </p:nvSpPr>
        <p:spPr>
          <a:xfrm>
            <a:off x="4133088" y="634593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Image: Ford.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411480" y="54864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F-Series drives the daily work of millions of Americans</a:t>
            </a:r>
          </a:p>
        </p:txBody>
      </p:sp>
      <p:sp>
        <p:nvSpPr>
          <p:cNvPr id="7" name="nav"/>
          <p:cNvSpPr txBox="1"/>
          <p:nvPr/>
        </p:nvSpPr>
        <p:spPr>
          <a:xfrm>
            <a:off x="411480" y="3840480"/>
            <a:ext cx="3291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Employment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GDP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 i="0">
                <a:solidFill>
                  <a:srgbClr val="CFE7DD"/>
                </a:solidFill>
                <a:latin typeface="Arial"/>
              </a:rPr>
              <a:t>Manufacturing impact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Usage impact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8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3" name="background_sidebar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11480" y="548640"/>
            <a:ext cx="7498079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F-Series trucks are used by and support up to 13 million Americans in their daily work</a:t>
            </a:r>
          </a:p>
        </p:txBody>
      </p:sp>
      <p:cxnSp>
        <p:nvCxnSpPr>
          <p:cNvPr id="5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qnum_0"/>
          <p:cNvSpPr txBox="1"/>
          <p:nvPr/>
        </p:nvSpPr>
        <p:spPr>
          <a:xfrm>
            <a:off x="41148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~17M¹</a:t>
            </a:r>
          </a:p>
        </p:txBody>
      </p:sp>
      <p:sp>
        <p:nvSpPr>
          <p:cNvPr id="7" name="eqcap_0"/>
          <p:cNvSpPr txBox="1"/>
          <p:nvPr/>
        </p:nvSpPr>
        <p:spPr>
          <a:xfrm>
            <a:off x="41148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F-Series on the road</a:t>
            </a:r>
          </a:p>
        </p:txBody>
      </p:sp>
      <p:sp>
        <p:nvSpPr>
          <p:cNvPr id="8" name="eqop_0"/>
          <p:cNvSpPr txBox="1"/>
          <p:nvPr/>
        </p:nvSpPr>
        <p:spPr>
          <a:xfrm>
            <a:off x="2606040" y="205790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9" name="eqnum_1"/>
          <p:cNvSpPr txBox="1"/>
          <p:nvPr/>
        </p:nvSpPr>
        <p:spPr>
          <a:xfrm>
            <a:off x="310896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26–35%</a:t>
            </a:r>
          </a:p>
        </p:txBody>
      </p:sp>
      <p:sp>
        <p:nvSpPr>
          <p:cNvPr id="10" name="eqcap_1"/>
          <p:cNvSpPr txBox="1"/>
          <p:nvPr/>
        </p:nvSpPr>
        <p:spPr>
          <a:xfrm>
            <a:off x="310896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estimated in commercial use</a:t>
            </a:r>
          </a:p>
        </p:txBody>
      </p:sp>
      <p:sp>
        <p:nvSpPr>
          <p:cNvPr id="11" name="eqop_1"/>
          <p:cNvSpPr txBox="1"/>
          <p:nvPr/>
        </p:nvSpPr>
        <p:spPr>
          <a:xfrm>
            <a:off x="5303520" y="2057908"/>
            <a:ext cx="502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eqnum_2"/>
          <p:cNvSpPr txBox="1"/>
          <p:nvPr/>
        </p:nvSpPr>
        <p:spPr>
          <a:xfrm>
            <a:off x="5806440" y="19664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2.1–2.4</a:t>
            </a:r>
          </a:p>
        </p:txBody>
      </p:sp>
      <p:sp>
        <p:nvSpPr>
          <p:cNvPr id="13" name="eqcap_2"/>
          <p:cNvSpPr txBox="1"/>
          <p:nvPr/>
        </p:nvSpPr>
        <p:spPr>
          <a:xfrm>
            <a:off x="5806440" y="2652268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average truck occupancy</a:t>
            </a:r>
          </a:p>
        </p:txBody>
      </p:sp>
      <p:cxnSp>
        <p:nvCxnSpPr>
          <p:cNvPr id="14" name="eq_rule"/>
          <p:cNvCxnSpPr/>
          <p:nvPr/>
        </p:nvCxnSpPr>
        <p:spPr>
          <a:xfrm>
            <a:off x="411480" y="3520948"/>
            <a:ext cx="7315200" cy="0"/>
          </a:xfrm>
          <a:prstGeom prst="bentConnector3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q_result"/>
          <p:cNvSpPr txBox="1"/>
          <p:nvPr/>
        </p:nvSpPr>
        <p:spPr>
          <a:xfrm>
            <a:off x="411480" y="370382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= 13M Americans in their daily work</a:t>
            </a:r>
          </a:p>
        </p:txBody>
      </p:sp>
      <p:sp>
        <p:nvSpPr>
          <p:cNvPr id="16" name="eq_laborforce"/>
          <p:cNvSpPr txBox="1"/>
          <p:nvPr/>
        </p:nvSpPr>
        <p:spPr>
          <a:xfrm>
            <a:off x="411480" y="452678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Representing approximately 8% of the US labor force</a:t>
            </a:r>
          </a:p>
        </p:txBody>
      </p:sp>
      <p:sp>
        <p:nvSpPr>
          <p:cNvPr id="17" name="sidebar_head"/>
          <p:cNvSpPr txBox="1"/>
          <p:nvPr/>
        </p:nvSpPr>
        <p:spPr>
          <a:xfrm>
            <a:off x="8549640" y="640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Arial"/>
              </a:rPr>
              <a:t>Workers supported by the F-Series</a:t>
            </a:r>
          </a:p>
        </p:txBody>
      </p:sp>
      <p:sp>
        <p:nvSpPr>
          <p:cNvPr id="18" name="sidebar_list"/>
          <p:cNvSpPr txBox="1"/>
          <p:nvPr/>
        </p:nvSpPr>
        <p:spPr>
          <a:xfrm>
            <a:off x="8549640" y="164592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Construction workers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Farmers and ranchers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Independent contractors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Delivery service people</a:t>
            </a:r>
          </a:p>
          <a:p>
            <a:pPr algn="l" marL="181610" indent="-18161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Emergency vehicle drivers</a:t>
            </a:r>
          </a:p>
        </p:txBody>
      </p:sp>
      <p:sp>
        <p:nvSpPr>
          <p:cNvPr id="19" name="meta_source"/>
          <p:cNvSpPr txBox="1"/>
          <p:nvPr/>
        </p:nvSpPr>
        <p:spPr>
          <a:xfrm>
            <a:off x="411480" y="622706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5F2EE"/>
                </a:solidFill>
                <a:latin typeface="Arial"/>
              </a:rPr>
              <a:t>Source: Expert interviews;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5F2EE"/>
                </a:solidFill>
                <a:latin typeface="Arial"/>
              </a:rPr>
              <a:t>¹16.6 million F-Series in operation based on IHS Markit Vehicles in Operation (VIO) as of 4/1/20.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19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is among the largest US consumer products — bigger than Android and combined major sports leagues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cp"/>
          <p:cNvSpPr txBox="1"/>
          <p:nvPr/>
        </p:nvSpPr>
        <p:spPr>
          <a:xfrm>
            <a:off x="411480" y="160070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Revenue ($billions)</a:t>
            </a:r>
          </a:p>
        </p:txBody>
      </p:sp>
      <p:sp>
        <p:nvSpPr>
          <p:cNvPr id="6" name="chartpart_cmp_cp_bar_0"/>
          <p:cNvSpPr/>
          <p:nvPr/>
        </p:nvSpPr>
        <p:spPr>
          <a:xfrm>
            <a:off x="411480" y="2057908"/>
            <a:ext cx="1035100" cy="29718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55</a:t>
            </a:r>
          </a:p>
        </p:txBody>
      </p:sp>
      <p:sp>
        <p:nvSpPr>
          <p:cNvPr id="7" name="chartpart_cmp_cp_cat_0"/>
          <p:cNvSpPr txBox="1"/>
          <p:nvPr/>
        </p:nvSpPr>
        <p:spPr>
          <a:xfrm>
            <a:off x="411480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iPhone
(US)</a:t>
            </a:r>
          </a:p>
        </p:txBody>
      </p:sp>
      <p:sp>
        <p:nvSpPr>
          <p:cNvPr id="8" name="chartpart_cmp_cp_mult_0"/>
          <p:cNvSpPr txBox="1"/>
          <p:nvPr/>
        </p:nvSpPr>
        <p:spPr>
          <a:xfrm>
            <a:off x="411480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0.8x</a:t>
            </a:r>
          </a:p>
        </p:txBody>
      </p:sp>
      <p:sp>
        <p:nvSpPr>
          <p:cNvPr id="9" name="chartpart_cmp_cp_bar_1"/>
          <p:cNvSpPr/>
          <p:nvPr/>
        </p:nvSpPr>
        <p:spPr>
          <a:xfrm>
            <a:off x="1556308" y="2760334"/>
            <a:ext cx="1035100" cy="2269374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10" name="chartpart_cmp_cp_cat_1"/>
          <p:cNvSpPr txBox="1"/>
          <p:nvPr/>
        </p:nvSpPr>
        <p:spPr>
          <a:xfrm>
            <a:off x="1556308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Ford
F-Series</a:t>
            </a:r>
          </a:p>
        </p:txBody>
      </p:sp>
      <p:sp>
        <p:nvSpPr>
          <p:cNvPr id="11" name="chartpart_cmp_cp_mult_1"/>
          <p:cNvSpPr txBox="1"/>
          <p:nvPr/>
        </p:nvSpPr>
        <p:spPr>
          <a:xfrm>
            <a:off x="1556308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—</a:t>
            </a:r>
          </a:p>
        </p:txBody>
      </p:sp>
      <p:sp>
        <p:nvSpPr>
          <p:cNvPr id="12" name="chartpart_cmp_cp_bar_2"/>
          <p:cNvSpPr/>
          <p:nvPr/>
        </p:nvSpPr>
        <p:spPr>
          <a:xfrm>
            <a:off x="2701136" y="3084530"/>
            <a:ext cx="1035100" cy="194517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36</a:t>
            </a:r>
          </a:p>
        </p:txBody>
      </p:sp>
      <p:sp>
        <p:nvSpPr>
          <p:cNvPr id="13" name="chartpart_cmp_cp_cat_2"/>
          <p:cNvSpPr txBox="1"/>
          <p:nvPr/>
        </p:nvSpPr>
        <p:spPr>
          <a:xfrm>
            <a:off x="2701136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Android
OS</a:t>
            </a:r>
          </a:p>
        </p:txBody>
      </p:sp>
      <p:sp>
        <p:nvSpPr>
          <p:cNvPr id="14" name="chartpart_cmp_cp_mult_2"/>
          <p:cNvSpPr txBox="1"/>
          <p:nvPr/>
        </p:nvSpPr>
        <p:spPr>
          <a:xfrm>
            <a:off x="2701136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1.2x</a:t>
            </a:r>
          </a:p>
        </p:txBody>
      </p:sp>
      <p:sp>
        <p:nvSpPr>
          <p:cNvPr id="15" name="chartpart_cmp_cp_bar_3"/>
          <p:cNvSpPr/>
          <p:nvPr/>
        </p:nvSpPr>
        <p:spPr>
          <a:xfrm>
            <a:off x="3845964" y="3300661"/>
            <a:ext cx="1035100" cy="1729047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32</a:t>
            </a:r>
          </a:p>
        </p:txBody>
      </p:sp>
      <p:sp>
        <p:nvSpPr>
          <p:cNvPr id="16" name="chartpart_cmp_cp_cat_3"/>
          <p:cNvSpPr txBox="1"/>
          <p:nvPr/>
        </p:nvSpPr>
        <p:spPr>
          <a:xfrm>
            <a:off x="3845964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Disney
exper.</a:t>
            </a:r>
          </a:p>
        </p:txBody>
      </p:sp>
      <p:sp>
        <p:nvSpPr>
          <p:cNvPr id="17" name="chartpart_cmp_cp_mult_3"/>
          <p:cNvSpPr txBox="1"/>
          <p:nvPr/>
        </p:nvSpPr>
        <p:spPr>
          <a:xfrm>
            <a:off x="3845964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1.3x</a:t>
            </a:r>
          </a:p>
        </p:txBody>
      </p:sp>
      <p:sp>
        <p:nvSpPr>
          <p:cNvPr id="18" name="chartpart_cmp_cp_bar_4"/>
          <p:cNvSpPr/>
          <p:nvPr/>
        </p:nvSpPr>
        <p:spPr>
          <a:xfrm>
            <a:off x="4990792" y="4003087"/>
            <a:ext cx="1035100" cy="102662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19</a:t>
            </a:r>
          </a:p>
        </p:txBody>
      </p:sp>
      <p:sp>
        <p:nvSpPr>
          <p:cNvPr id="19" name="chartpart_cmp_cp_cat_4"/>
          <p:cNvSpPr txBox="1"/>
          <p:nvPr/>
        </p:nvSpPr>
        <p:spPr>
          <a:xfrm>
            <a:off x="4990792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US
fridges</a:t>
            </a:r>
          </a:p>
        </p:txBody>
      </p:sp>
      <p:sp>
        <p:nvSpPr>
          <p:cNvPr id="20" name="chartpart_cmp_cp_mult_4"/>
          <p:cNvSpPr txBox="1"/>
          <p:nvPr/>
        </p:nvSpPr>
        <p:spPr>
          <a:xfrm>
            <a:off x="4990792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2.2x</a:t>
            </a:r>
          </a:p>
        </p:txBody>
      </p:sp>
      <p:sp>
        <p:nvSpPr>
          <p:cNvPr id="21" name="chartpart_cmp_cp_bar_5"/>
          <p:cNvSpPr/>
          <p:nvPr/>
        </p:nvSpPr>
        <p:spPr>
          <a:xfrm>
            <a:off x="6135620" y="4219218"/>
            <a:ext cx="1035100" cy="81049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22" name="chartpart_cmp_cp_cat_5"/>
          <p:cNvSpPr txBox="1"/>
          <p:nvPr/>
        </p:nvSpPr>
        <p:spPr>
          <a:xfrm>
            <a:off x="6135620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Budweiser</a:t>
            </a:r>
          </a:p>
        </p:txBody>
      </p:sp>
      <p:sp>
        <p:nvSpPr>
          <p:cNvPr id="23" name="chartpart_cmp_cp_mult_5"/>
          <p:cNvSpPr txBox="1"/>
          <p:nvPr/>
        </p:nvSpPr>
        <p:spPr>
          <a:xfrm>
            <a:off x="6135620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2.8x</a:t>
            </a:r>
          </a:p>
        </p:txBody>
      </p:sp>
      <p:sp>
        <p:nvSpPr>
          <p:cNvPr id="24" name="chartpart_cmp_cp_bar_6"/>
          <p:cNvSpPr/>
          <p:nvPr/>
        </p:nvSpPr>
        <p:spPr>
          <a:xfrm>
            <a:off x="7280448" y="4219218"/>
            <a:ext cx="1035100" cy="81049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25" name="chartpart_cmp_cp_cat_6"/>
          <p:cNvSpPr txBox="1"/>
          <p:nvPr/>
        </p:nvSpPr>
        <p:spPr>
          <a:xfrm>
            <a:off x="7280448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NFL</a:t>
            </a:r>
          </a:p>
        </p:txBody>
      </p:sp>
      <p:sp>
        <p:nvSpPr>
          <p:cNvPr id="26" name="chartpart_cmp_cp_mult_6"/>
          <p:cNvSpPr txBox="1"/>
          <p:nvPr/>
        </p:nvSpPr>
        <p:spPr>
          <a:xfrm>
            <a:off x="7280448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2.8x</a:t>
            </a:r>
          </a:p>
        </p:txBody>
      </p:sp>
      <p:sp>
        <p:nvSpPr>
          <p:cNvPr id="27" name="chartpart_cmp_cp_bar_7"/>
          <p:cNvSpPr/>
          <p:nvPr/>
        </p:nvSpPr>
        <p:spPr>
          <a:xfrm>
            <a:off x="8425276" y="4435348"/>
            <a:ext cx="1035100" cy="59436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11</a:t>
            </a:r>
          </a:p>
        </p:txBody>
      </p:sp>
      <p:sp>
        <p:nvSpPr>
          <p:cNvPr id="28" name="chartpart_cmp_cp_cat_7"/>
          <p:cNvSpPr txBox="1"/>
          <p:nvPr/>
        </p:nvSpPr>
        <p:spPr>
          <a:xfrm>
            <a:off x="8425276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MLB</a:t>
            </a:r>
          </a:p>
        </p:txBody>
      </p:sp>
      <p:sp>
        <p:nvSpPr>
          <p:cNvPr id="29" name="chartpart_cmp_cp_mult_7"/>
          <p:cNvSpPr txBox="1"/>
          <p:nvPr/>
        </p:nvSpPr>
        <p:spPr>
          <a:xfrm>
            <a:off x="8425276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3.8x</a:t>
            </a:r>
          </a:p>
        </p:txBody>
      </p:sp>
      <p:sp>
        <p:nvSpPr>
          <p:cNvPr id="30" name="chartpart_cmp_cp_bar_8"/>
          <p:cNvSpPr/>
          <p:nvPr/>
        </p:nvSpPr>
        <p:spPr>
          <a:xfrm>
            <a:off x="9570104" y="4543414"/>
            <a:ext cx="1035100" cy="48629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9</a:t>
            </a:r>
          </a:p>
        </p:txBody>
      </p:sp>
      <p:sp>
        <p:nvSpPr>
          <p:cNvPr id="31" name="chartpart_cmp_cp_cat_8"/>
          <p:cNvSpPr txBox="1"/>
          <p:nvPr/>
        </p:nvSpPr>
        <p:spPr>
          <a:xfrm>
            <a:off x="9570104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NBA</a:t>
            </a:r>
          </a:p>
        </p:txBody>
      </p:sp>
      <p:sp>
        <p:nvSpPr>
          <p:cNvPr id="32" name="chartpart_cmp_cp_mult_8"/>
          <p:cNvSpPr txBox="1"/>
          <p:nvPr/>
        </p:nvSpPr>
        <p:spPr>
          <a:xfrm>
            <a:off x="9570104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4.7x</a:t>
            </a:r>
          </a:p>
        </p:txBody>
      </p:sp>
      <p:sp>
        <p:nvSpPr>
          <p:cNvPr id="33" name="chartpart_cmp_cp_bar_9"/>
          <p:cNvSpPr/>
          <p:nvPr/>
        </p:nvSpPr>
        <p:spPr>
          <a:xfrm>
            <a:off x="10714932" y="4759545"/>
            <a:ext cx="1035100" cy="270163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34" name="chartpart_cmp_cp_cat_9"/>
          <p:cNvSpPr txBox="1"/>
          <p:nvPr/>
        </p:nvSpPr>
        <p:spPr>
          <a:xfrm>
            <a:off x="10714932" y="5075428"/>
            <a:ext cx="10351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NHL</a:t>
            </a:r>
          </a:p>
        </p:txBody>
      </p:sp>
      <p:sp>
        <p:nvSpPr>
          <p:cNvPr id="35" name="chartpart_cmp_cp_mult_9"/>
          <p:cNvSpPr txBox="1"/>
          <p:nvPr/>
        </p:nvSpPr>
        <p:spPr>
          <a:xfrm>
            <a:off x="10714932" y="5486908"/>
            <a:ext cx="10351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8.5x</a:t>
            </a:r>
          </a:p>
        </p:txBody>
      </p:sp>
      <p:cxnSp>
        <p:nvCxnSpPr>
          <p:cNvPr id="36" name="chartpart_cmp_cp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part_cmp_cp_multlabel"/>
          <p:cNvSpPr txBox="1"/>
          <p:nvPr/>
        </p:nvSpPr>
        <p:spPr>
          <a:xfrm>
            <a:off x="411480" y="1875028"/>
            <a:ext cx="113385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F-Series relative size → (multiplier row below)</a:t>
            </a:r>
          </a:p>
        </p:txBody>
      </p:sp>
      <p:sp>
        <p:nvSpPr>
          <p:cNvPr id="38" name="meta_source"/>
          <p:cNvSpPr txBox="1"/>
          <p:nvPr/>
        </p:nvSpPr>
        <p:spPr>
          <a:xfrm>
            <a:off x="411480" y="6272784"/>
            <a:ext cx="108200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Company financial statements; Google legal disclosures; Forbes; IDC; Euromonitor; Chicago Tribune; BCG analysis.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eta_pagenum_20"/>
          <p:cNvSpPr txBox="1"/>
          <p:nvPr/>
        </p:nvSpPr>
        <p:spPr>
          <a:xfrm>
            <a:off x="11414455" y="62727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11480" y="548640"/>
            <a:ext cx="10972800" cy="7594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333333"/>
                </a:solidFill>
                <a:latin typeface="Arial"/>
              </a:rPr>
              <a:t>The F-Series alone exceeded the 2019 revenue of many recognizable companies</a:t>
            </a:r>
          </a:p>
        </p:txBody>
      </p:sp>
      <p:cxnSp>
        <p:nvCxnSpPr>
          <p:cNvPr id="4" name="title_rule"/>
          <p:cNvCxnSpPr/>
          <p:nvPr/>
        </p:nvCxnSpPr>
        <p:spPr>
          <a:xfrm>
            <a:off x="411480" y="1436116"/>
            <a:ext cx="1463040" cy="0"/>
          </a:xfrm>
          <a:prstGeom prst="bentConnector3">
            <a:avLst/>
          </a:prstGeom>
          <a:ln w="31750">
            <a:solidFill>
              <a:srgbClr val="2E9E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ption_chart_co"/>
          <p:cNvSpPr txBox="1"/>
          <p:nvPr/>
        </p:nvSpPr>
        <p:spPr>
          <a:xfrm>
            <a:off x="411480" y="1600708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2019 revenue ($billions)</a:t>
            </a:r>
          </a:p>
        </p:txBody>
      </p:sp>
      <p:sp>
        <p:nvSpPr>
          <p:cNvPr id="6" name="chartpart_cmp_co_bar_0"/>
          <p:cNvSpPr/>
          <p:nvPr/>
        </p:nvSpPr>
        <p:spPr>
          <a:xfrm>
            <a:off x="411480" y="2057908"/>
            <a:ext cx="844296" cy="2971800"/>
          </a:xfrm>
          <a:prstGeom prst="rect">
            <a:avLst/>
          </a:prstGeom>
          <a:solidFill>
            <a:srgbClr val="2E9E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42</a:t>
            </a:r>
          </a:p>
        </p:txBody>
      </p:sp>
      <p:sp>
        <p:nvSpPr>
          <p:cNvPr id="7" name="chartpart_cmp_co_cat_0"/>
          <p:cNvSpPr txBox="1"/>
          <p:nvPr/>
        </p:nvSpPr>
        <p:spPr>
          <a:xfrm>
            <a:off x="41148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Ford
F-Series</a:t>
            </a:r>
          </a:p>
        </p:txBody>
      </p:sp>
      <p:sp>
        <p:nvSpPr>
          <p:cNvPr id="8" name="chartpart_cmp_co_mult_0"/>
          <p:cNvSpPr txBox="1"/>
          <p:nvPr/>
        </p:nvSpPr>
        <p:spPr>
          <a:xfrm>
            <a:off x="41148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5959"/>
                </a:solidFill>
                <a:latin typeface="Arial"/>
              </a:rPr>
              <a:t>—</a:t>
            </a:r>
          </a:p>
        </p:txBody>
      </p:sp>
      <p:sp>
        <p:nvSpPr>
          <p:cNvPr id="9" name="chartpart_cmp_co_bar_1"/>
          <p:cNvSpPr/>
          <p:nvPr/>
        </p:nvSpPr>
        <p:spPr>
          <a:xfrm>
            <a:off x="1365504" y="2199423"/>
            <a:ext cx="844296" cy="2830285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40</a:t>
            </a:r>
          </a:p>
        </p:txBody>
      </p:sp>
      <p:sp>
        <p:nvSpPr>
          <p:cNvPr id="10" name="chartpart_cmp_co_cat_1"/>
          <p:cNvSpPr txBox="1"/>
          <p:nvPr/>
        </p:nvSpPr>
        <p:spPr>
          <a:xfrm>
            <a:off x="136550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McDonald's</a:t>
            </a:r>
          </a:p>
        </p:txBody>
      </p:sp>
      <p:sp>
        <p:nvSpPr>
          <p:cNvPr id="11" name="chartpart_cmp_co_mult_1"/>
          <p:cNvSpPr txBox="1"/>
          <p:nvPr/>
        </p:nvSpPr>
        <p:spPr>
          <a:xfrm>
            <a:off x="136550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1.0x</a:t>
            </a:r>
          </a:p>
        </p:txBody>
      </p:sp>
      <p:sp>
        <p:nvSpPr>
          <p:cNvPr id="12" name="chartpart_cmp_co_bar_2"/>
          <p:cNvSpPr/>
          <p:nvPr/>
        </p:nvSpPr>
        <p:spPr>
          <a:xfrm>
            <a:off x="2319528" y="2270180"/>
            <a:ext cx="844296" cy="275952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13" name="chartpart_cmp_co_cat_2"/>
          <p:cNvSpPr txBox="1"/>
          <p:nvPr/>
        </p:nvSpPr>
        <p:spPr>
          <a:xfrm>
            <a:off x="2319528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Nike</a:t>
            </a:r>
          </a:p>
        </p:txBody>
      </p:sp>
      <p:sp>
        <p:nvSpPr>
          <p:cNvPr id="14" name="chartpart_cmp_co_mult_2"/>
          <p:cNvSpPr txBox="1"/>
          <p:nvPr/>
        </p:nvSpPr>
        <p:spPr>
          <a:xfrm>
            <a:off x="2319528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15" name="chartpart_cmp_co_bar_3"/>
          <p:cNvSpPr/>
          <p:nvPr/>
        </p:nvSpPr>
        <p:spPr>
          <a:xfrm>
            <a:off x="3273552" y="2270180"/>
            <a:ext cx="844296" cy="2759528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39</a:t>
            </a:r>
          </a:p>
        </p:txBody>
      </p:sp>
      <p:sp>
        <p:nvSpPr>
          <p:cNvPr id="16" name="chartpart_cmp_co_cat_3"/>
          <p:cNvSpPr txBox="1"/>
          <p:nvPr/>
        </p:nvSpPr>
        <p:spPr>
          <a:xfrm>
            <a:off x="3273552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John
Deere</a:t>
            </a:r>
          </a:p>
        </p:txBody>
      </p:sp>
      <p:sp>
        <p:nvSpPr>
          <p:cNvPr id="17" name="chartpart_cmp_co_mult_3"/>
          <p:cNvSpPr txBox="1"/>
          <p:nvPr/>
        </p:nvSpPr>
        <p:spPr>
          <a:xfrm>
            <a:off x="3273552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18" name="chartpart_cmp_co_bar_4"/>
          <p:cNvSpPr/>
          <p:nvPr/>
        </p:nvSpPr>
        <p:spPr>
          <a:xfrm>
            <a:off x="4227576" y="2411694"/>
            <a:ext cx="844296" cy="261801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37</a:t>
            </a:r>
          </a:p>
        </p:txBody>
      </p:sp>
      <p:sp>
        <p:nvSpPr>
          <p:cNvPr id="19" name="chartpart_cmp_co_cat_4"/>
          <p:cNvSpPr txBox="1"/>
          <p:nvPr/>
        </p:nvSpPr>
        <p:spPr>
          <a:xfrm>
            <a:off x="4227576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Coca-
Cola</a:t>
            </a:r>
          </a:p>
        </p:txBody>
      </p:sp>
      <p:sp>
        <p:nvSpPr>
          <p:cNvPr id="20" name="chartpart_cmp_co_mult_4"/>
          <p:cNvSpPr txBox="1"/>
          <p:nvPr/>
        </p:nvSpPr>
        <p:spPr>
          <a:xfrm>
            <a:off x="4227576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1.1x</a:t>
            </a:r>
          </a:p>
        </p:txBody>
      </p:sp>
      <p:sp>
        <p:nvSpPr>
          <p:cNvPr id="21" name="chartpart_cmp_co_bar_5"/>
          <p:cNvSpPr/>
          <p:nvPr/>
        </p:nvSpPr>
        <p:spPr>
          <a:xfrm>
            <a:off x="5181600" y="2836237"/>
            <a:ext cx="844296" cy="219347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31</a:t>
            </a:r>
          </a:p>
        </p:txBody>
      </p:sp>
      <p:sp>
        <p:nvSpPr>
          <p:cNvPr id="22" name="chartpart_cmp_co_cat_5"/>
          <p:cNvSpPr txBox="1"/>
          <p:nvPr/>
        </p:nvSpPr>
        <p:spPr>
          <a:xfrm>
            <a:off x="518160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Starbucks</a:t>
            </a:r>
          </a:p>
        </p:txBody>
      </p:sp>
      <p:sp>
        <p:nvSpPr>
          <p:cNvPr id="23" name="chartpart_cmp_co_mult_5"/>
          <p:cNvSpPr txBox="1"/>
          <p:nvPr/>
        </p:nvSpPr>
        <p:spPr>
          <a:xfrm>
            <a:off x="518160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1.4x</a:t>
            </a:r>
          </a:p>
        </p:txBody>
      </p:sp>
      <p:sp>
        <p:nvSpPr>
          <p:cNvPr id="24" name="chartpart_cmp_co_bar_6"/>
          <p:cNvSpPr/>
          <p:nvPr/>
        </p:nvSpPr>
        <p:spPr>
          <a:xfrm>
            <a:off x="6135624" y="3048508"/>
            <a:ext cx="844296" cy="19812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28</a:t>
            </a:r>
          </a:p>
        </p:txBody>
      </p:sp>
      <p:sp>
        <p:nvSpPr>
          <p:cNvPr id="25" name="chartpart_cmp_co_cat_6"/>
          <p:cNvSpPr txBox="1"/>
          <p:nvPr/>
        </p:nvSpPr>
        <p:spPr>
          <a:xfrm>
            <a:off x="613562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Capital
One</a:t>
            </a:r>
          </a:p>
        </p:txBody>
      </p:sp>
      <p:sp>
        <p:nvSpPr>
          <p:cNvPr id="26" name="chartpart_cmp_co_mult_6"/>
          <p:cNvSpPr txBox="1"/>
          <p:nvPr/>
        </p:nvSpPr>
        <p:spPr>
          <a:xfrm>
            <a:off x="613562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1.5x</a:t>
            </a:r>
          </a:p>
        </p:txBody>
      </p:sp>
      <p:sp>
        <p:nvSpPr>
          <p:cNvPr id="27" name="chartpart_cmp_co_bar_7"/>
          <p:cNvSpPr/>
          <p:nvPr/>
        </p:nvSpPr>
        <p:spPr>
          <a:xfrm>
            <a:off x="7089648" y="3402294"/>
            <a:ext cx="844296" cy="1627414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23</a:t>
            </a:r>
          </a:p>
        </p:txBody>
      </p:sp>
      <p:sp>
        <p:nvSpPr>
          <p:cNvPr id="28" name="chartpart_cmp_co_cat_7"/>
          <p:cNvSpPr txBox="1"/>
          <p:nvPr/>
        </p:nvSpPr>
        <p:spPr>
          <a:xfrm>
            <a:off x="7089648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Visa</a:t>
            </a:r>
          </a:p>
        </p:txBody>
      </p:sp>
      <p:sp>
        <p:nvSpPr>
          <p:cNvPr id="29" name="chartpart_cmp_co_mult_7"/>
          <p:cNvSpPr txBox="1"/>
          <p:nvPr/>
        </p:nvSpPr>
        <p:spPr>
          <a:xfrm>
            <a:off x="7089648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1.8x</a:t>
            </a:r>
          </a:p>
        </p:txBody>
      </p:sp>
      <p:sp>
        <p:nvSpPr>
          <p:cNvPr id="30" name="chartpart_cmp_co_bar_8"/>
          <p:cNvSpPr/>
          <p:nvPr/>
        </p:nvSpPr>
        <p:spPr>
          <a:xfrm>
            <a:off x="8043672" y="3543808"/>
            <a:ext cx="844296" cy="14859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21</a:t>
            </a:r>
          </a:p>
        </p:txBody>
      </p:sp>
      <p:sp>
        <p:nvSpPr>
          <p:cNvPr id="31" name="chartpart_cmp_co_cat_8"/>
          <p:cNvSpPr txBox="1"/>
          <p:nvPr/>
        </p:nvSpPr>
        <p:spPr>
          <a:xfrm>
            <a:off x="8043672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Tesla</a:t>
            </a:r>
          </a:p>
        </p:txBody>
      </p:sp>
      <p:sp>
        <p:nvSpPr>
          <p:cNvPr id="32" name="chartpart_cmp_co_mult_8"/>
          <p:cNvSpPr txBox="1"/>
          <p:nvPr/>
        </p:nvSpPr>
        <p:spPr>
          <a:xfrm>
            <a:off x="8043672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2.0x</a:t>
            </a:r>
          </a:p>
        </p:txBody>
      </p:sp>
      <p:sp>
        <p:nvSpPr>
          <p:cNvPr id="33" name="chartpart_cmp_co_bar_9"/>
          <p:cNvSpPr/>
          <p:nvPr/>
        </p:nvSpPr>
        <p:spPr>
          <a:xfrm>
            <a:off x="8997696" y="3614566"/>
            <a:ext cx="844296" cy="1415142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20</a:t>
            </a:r>
          </a:p>
        </p:txBody>
      </p:sp>
      <p:sp>
        <p:nvSpPr>
          <p:cNvPr id="34" name="chartpart_cmp_co_cat_9"/>
          <p:cNvSpPr txBox="1"/>
          <p:nvPr/>
        </p:nvSpPr>
        <p:spPr>
          <a:xfrm>
            <a:off x="8997696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Netflix</a:t>
            </a:r>
          </a:p>
        </p:txBody>
      </p:sp>
      <p:sp>
        <p:nvSpPr>
          <p:cNvPr id="35" name="chartpart_cmp_co_mult_9"/>
          <p:cNvSpPr txBox="1"/>
          <p:nvPr/>
        </p:nvSpPr>
        <p:spPr>
          <a:xfrm>
            <a:off x="8997696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2.1x</a:t>
            </a:r>
          </a:p>
        </p:txBody>
      </p:sp>
      <p:sp>
        <p:nvSpPr>
          <p:cNvPr id="36" name="chartpart_cmp_co_bar_10"/>
          <p:cNvSpPr/>
          <p:nvPr/>
        </p:nvSpPr>
        <p:spPr>
          <a:xfrm>
            <a:off x="9951720" y="4039108"/>
            <a:ext cx="844296" cy="990600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14</a:t>
            </a:r>
          </a:p>
        </p:txBody>
      </p:sp>
      <p:sp>
        <p:nvSpPr>
          <p:cNvPr id="37" name="chartpart_cmp_co_cat_10"/>
          <p:cNvSpPr txBox="1"/>
          <p:nvPr/>
        </p:nvSpPr>
        <p:spPr>
          <a:xfrm>
            <a:off x="9951720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Uber</a:t>
            </a:r>
          </a:p>
        </p:txBody>
      </p:sp>
      <p:sp>
        <p:nvSpPr>
          <p:cNvPr id="38" name="chartpart_cmp_co_mult_10"/>
          <p:cNvSpPr txBox="1"/>
          <p:nvPr/>
        </p:nvSpPr>
        <p:spPr>
          <a:xfrm>
            <a:off x="9951720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3.0x</a:t>
            </a:r>
          </a:p>
        </p:txBody>
      </p:sp>
      <p:sp>
        <p:nvSpPr>
          <p:cNvPr id="39" name="chartpart_cmp_co_bar_11"/>
          <p:cNvSpPr/>
          <p:nvPr/>
        </p:nvSpPr>
        <p:spPr>
          <a:xfrm>
            <a:off x="10905744" y="4817437"/>
            <a:ext cx="844296" cy="212271"/>
          </a:xfrm>
          <a:prstGeom prst="rect">
            <a:avLst/>
          </a:prstGeom>
          <a:solidFill>
            <a:srgbClr val="C4C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400" rIns="25400" tIns="12700" bIns="127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40" name="chartpart_cmp_co_cat_11"/>
          <p:cNvSpPr txBox="1"/>
          <p:nvPr/>
        </p:nvSpPr>
        <p:spPr>
          <a:xfrm>
            <a:off x="10905744" y="5075428"/>
            <a:ext cx="8442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333333"/>
                </a:solidFill>
                <a:latin typeface="Arial"/>
              </a:rPr>
              <a:t>Twitter</a:t>
            </a:r>
          </a:p>
        </p:txBody>
      </p:sp>
      <p:sp>
        <p:nvSpPr>
          <p:cNvPr id="41" name="chartpart_cmp_co_mult_11"/>
          <p:cNvSpPr txBox="1"/>
          <p:nvPr/>
        </p:nvSpPr>
        <p:spPr>
          <a:xfrm>
            <a:off x="10905744" y="5486908"/>
            <a:ext cx="84429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595959"/>
                </a:solidFill>
                <a:latin typeface="Arial"/>
              </a:rPr>
              <a:t>12.2x</a:t>
            </a:r>
          </a:p>
        </p:txBody>
      </p:sp>
      <p:cxnSp>
        <p:nvCxnSpPr>
          <p:cNvPr id="42" name="chartpart_cmp_co_axis"/>
          <p:cNvCxnSpPr/>
          <p:nvPr/>
        </p:nvCxnSpPr>
        <p:spPr>
          <a:xfrm>
            <a:off x="411480" y="5029708"/>
            <a:ext cx="11338560" cy="0"/>
          </a:xfrm>
          <a:prstGeom prst="bentConnector3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meta_source"/>
          <p:cNvSpPr txBox="1"/>
          <p:nvPr/>
        </p:nvSpPr>
        <p:spPr>
          <a:xfrm>
            <a:off x="411480" y="6227064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Source: Company financial statements; BCG analysis.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666666"/>
                </a:solidFill>
                <a:latin typeface="Arial"/>
              </a:rPr>
              <a:t>Note: F-Series North American total sales of ~$49 billion; figures from last fiscal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