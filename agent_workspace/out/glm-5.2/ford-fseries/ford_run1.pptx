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640</c:v>
                </c:pt>
                <c:pt idx="1">
                  <c:v>1060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9CA3AB"/>
            </a:solidFill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430</c:v>
                </c:pt>
                <c:pt idx="1">
                  <c:v>490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868D96"/>
            </a:solidFill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420</c:v>
                </c:pt>
                <c:pt idx="1">
                  <c:v>480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6E757E"/>
            </a:solidFill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175</c:v>
                </c:pt>
                <c:pt idx="1">
                  <c:v>130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Nissan</c:v>
                </c:pt>
              </c:strCache>
            </c:strRef>
          </c:tx>
          <c:spPr>
            <a:solidFill>
              <a:srgbClr val="565E67"/>
            </a:solidFill>
          </c:spPr>
          <c:cat>
            <c:strRef>
              <c:f>Sheet1!$A$2:$A$3</c:f>
              <c:strCache>
                <c:ptCount val="2"/>
                <c:pt idx="0">
                  <c:v>2010</c:v>
                </c:pt>
                <c:pt idx="1">
                  <c:v>2019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30</c:v>
                </c:pt>
                <c:pt idx="1">
                  <c:v>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20</c:v>
                </c:pt>
                <c:pt idx="2">
                  <c:v>22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9CA3AB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20</c:v>
                </c:pt>
                <c:pt idx="2">
                  <c:v>19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868D96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11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6E757E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Honda</c:v>
                </c:pt>
              </c:strCache>
            </c:strRef>
          </c:tx>
          <c:spPr>
            <a:solidFill>
              <a:srgbClr val="565E67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565E67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26</c:v>
                </c:pt>
                <c:pt idx="3">
                  <c:v>25</c:v>
                </c:pt>
                <c:pt idx="4">
                  <c:v>28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F-150</c:v>
                </c:pt>
              </c:strCache>
            </c:strRef>
          </c:tx>
          <c:spPr>
            <a:solidFill>
              <a:srgbClr val="2E9E7B"/>
            </a:solidFill>
            <a:ln w="28575">
              <a:solidFill>
                <a:srgbClr val="2E9E7B"/>
              </a:solidFill>
            </a:ln>
          </c:spPr>
          <c:marker>
            <c:size val="9"/>
            <c:spPr>
              <a:solidFill>
                <a:srgbClr val="2E9E7B"/>
              </a:solidFill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560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78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Competitors</c:v>
                </c:pt>
              </c:strCache>
            </c:strRef>
          </c:tx>
          <c:spPr>
            <a:solidFill>
              <a:srgbClr val="868D96"/>
            </a:solidFill>
            <a:ln w="28575">
              <a:solidFill>
                <a:srgbClr val="868D96"/>
              </a:solidFill>
            </a:ln>
          </c:spPr>
          <c:marker>
            <c:size val="9"/>
            <c:spPr>
              <a:solidFill>
                <a:srgbClr val="868D96"/>
              </a:solidFill>
            </c:spPr>
          </c:marker>
          <c:xVal>
            <c:numRef>
              <c:f>Sheet1!$A$5:$A$15</c:f>
              <c:numCache>
                <c:formatCode>General</c:formatCode>
                <c:ptCount val="11"/>
                <c:pt idx="0">
                  <c:v>110</c:v>
                </c:pt>
                <c:pt idx="1">
                  <c:v>120</c:v>
                </c:pt>
                <c:pt idx="2">
                  <c:v>30</c:v>
                </c:pt>
                <c:pt idx="3">
                  <c:v>250</c:v>
                </c:pt>
                <c:pt idx="4">
                  <c:v>110</c:v>
                </c:pt>
                <c:pt idx="5">
                  <c:v>180</c:v>
                </c:pt>
                <c:pt idx="6">
                  <c:v>440</c:v>
                </c:pt>
                <c:pt idx="7">
                  <c:v>430</c:v>
                </c:pt>
                <c:pt idx="8">
                  <c:v>30</c:v>
                </c:pt>
                <c:pt idx="9">
                  <c:v>75</c:v>
                </c:pt>
                <c:pt idx="10">
                  <c:v>75</c:v>
                </c:pt>
              </c:numCache>
            </c:numRef>
          </c:xVal>
          <c:yVal>
            <c:numRef>
              <c:f>Sheet1!$B$5:$B$15</c:f>
              <c:numCache>
                <c:formatCode>General</c:formatCode>
                <c:ptCount val="11"/>
                <c:pt idx="0">
                  <c:v>78</c:v>
                </c:pt>
                <c:pt idx="1">
                  <c:v>78</c:v>
                </c:pt>
                <c:pt idx="2">
                  <c:v>77</c:v>
                </c:pt>
                <c:pt idx="3">
                  <c:v>71</c:v>
                </c:pt>
                <c:pt idx="4">
                  <c:v>70</c:v>
                </c:pt>
                <c:pt idx="5">
                  <c:v>68</c:v>
                </c:pt>
                <c:pt idx="6">
                  <c:v>68</c:v>
                </c:pt>
                <c:pt idx="7">
                  <c:v>66</c:v>
                </c:pt>
                <c:pt idx="8">
                  <c:v>59</c:v>
                </c:pt>
                <c:pt idx="9">
                  <c:v>61</c:v>
                </c:pt>
                <c:pt idx="10">
                  <c:v>52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</c:spPr>
          <c:invertIfNegative val="0"/>
          <c:xVal>
            <c:numRef>
              <c:f>Sheet1!$A$2:$A$2</c:f>
              <c:numCache>
                <c:formatCode>General</c:formatCode>
                <c:ptCount val="1"/>
                <c:pt idx="0">
                  <c:v>37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1.8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60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Competitors</c:v>
                </c:pt>
              </c:strCache>
            </c:strRef>
          </c:tx>
          <c:spPr>
            <a:solidFill>
              <a:srgbClr val="868D96"/>
            </a:solidFill>
          </c:spPr>
          <c:invertIfNegative val="0"/>
          <c:xVal>
            <c:numRef>
              <c:f>Sheet1!$A$5:$A$11</c:f>
              <c:numCache>
                <c:formatCode>General</c:formatCode>
                <c:ptCount val="7"/>
                <c:pt idx="0">
                  <c:v>38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36</c:v>
                </c:pt>
                <c:pt idx="5">
                  <c:v>33</c:v>
                </c:pt>
                <c:pt idx="6">
                  <c:v>8</c:v>
                </c:pt>
              </c:numCache>
            </c:numRef>
          </c:xVal>
          <c:yVal>
            <c:numRef>
              <c:f>Sheet1!$B$5:$B$11</c:f>
              <c:numCache>
                <c:formatCode>General</c:formatCode>
                <c:ptCount val="7"/>
                <c:pt idx="0">
                  <c:v>2.7</c:v>
                </c:pt>
                <c:pt idx="1">
                  <c:v>1.5</c:v>
                </c:pt>
                <c:pt idx="2">
                  <c:v>1.2</c:v>
                </c:pt>
                <c:pt idx="3">
                  <c:v>0.8</c:v>
                </c:pt>
                <c:pt idx="4">
                  <c:v>0.7</c:v>
                </c:pt>
                <c:pt idx="5">
                  <c:v>0.7</c:v>
                </c:pt>
                <c:pt idx="6">
                  <c:v>0.7</c:v>
                </c:pt>
              </c:numCache>
            </c:numRef>
          </c:yVal>
          <c:bubbleSize>
            <c:numRef>
              <c:f>Sheet1!$C$5:$C$11</c:f>
              <c:numCache>
                <c:formatCode>General</c:formatCode>
                <c:ptCount val="7"/>
                <c:pt idx="0">
                  <c:v>12</c:v>
                </c:pt>
                <c:pt idx="1">
                  <c:v>30</c:v>
                </c:pt>
                <c:pt idx="2">
                  <c:v>80</c:v>
                </c:pt>
                <c:pt idx="3">
                  <c:v>40</c:v>
                </c:pt>
                <c:pt idx="4">
                  <c:v>70</c:v>
                </c:pt>
                <c:pt idx="5">
                  <c:v>75</c:v>
                </c:pt>
                <c:pt idx="6">
                  <c:v>20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cover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eyebrow_cover"/>
          <p:cNvSpPr txBox="1"/>
          <p:nvPr/>
        </p:nvSpPr>
        <p:spPr>
          <a:xfrm>
            <a:off x="502920" y="187451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6CFC2"/>
                </a:solidFill>
                <a:latin typeface="Arial"/>
              </a:rPr>
              <a:t>BCG  ·  SEPTEMBER 2020</a:t>
            </a:r>
          </a:p>
        </p:txBody>
      </p:sp>
      <p:sp>
        <p:nvSpPr>
          <p:cNvPr id="7" name="title_cover"/>
          <p:cNvSpPr txBox="1"/>
          <p:nvPr/>
        </p:nvSpPr>
        <p:spPr>
          <a:xfrm>
            <a:off x="502920" y="224028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 Economic Impact of Ford and the F-Series is the focus of this report</a:t>
            </a:r>
          </a:p>
        </p:txBody>
      </p:sp>
      <p:cxnSp>
        <p:nvCxnSpPr>
          <p:cNvPr id="8" name="title_cover_rule"/>
          <p:cNvCxnSpPr/>
          <p:nvPr/>
        </p:nvCxnSpPr>
        <p:spPr>
          <a:xfrm>
            <a:off x="502920" y="4526280"/>
            <a:ext cx="1463040" cy="0"/>
          </a:xfrm>
          <a:prstGeom prst="bentConnector3">
            <a:avLst/>
          </a:prstGeom>
          <a:ln w="3810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ubtitle_cover"/>
          <p:cNvSpPr txBox="1"/>
          <p:nvPr/>
        </p:nvSpPr>
        <p:spPr>
          <a:xfrm>
            <a:off x="502920" y="470916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9EDF3"/>
                </a:solidFill>
                <a:latin typeface="Arial"/>
              </a:rPr>
              <a:t>Jobs, GDP, manufacturing, and usage across the US economy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100" b="1" i="0">
                <a:solidFill>
                  <a:srgbClr val="A6CFC2"/>
                </a:solidFill>
                <a:latin typeface="Arial"/>
              </a:rPr>
              <a:t>Ford  |  BCG</a:t>
            </a:r>
          </a:p>
        </p:txBody>
      </p:sp>
      <p:sp>
        <p:nvSpPr>
          <p:cNvPr id="10" name="overlay_image_credit"/>
          <p:cNvSpPr txBox="1"/>
          <p:nvPr/>
        </p:nvSpPr>
        <p:spPr>
          <a:xfrm>
            <a:off x="480060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context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"/>
          <p:cNvSpPr txBox="1"/>
          <p:nvPr/>
        </p:nvSpPr>
        <p:spPr>
          <a:xfrm>
            <a:off x="502920" y="502920"/>
            <a:ext cx="3383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This report shows Ford's economic impact across four dimensions</a:t>
            </a:r>
          </a:p>
        </p:txBody>
      </p:sp>
      <p:cxnSp>
        <p:nvCxnSpPr>
          <p:cNvPr id="7" name="title_rule"/>
          <p:cNvCxnSpPr/>
          <p:nvPr/>
        </p:nvCxnSpPr>
        <p:spPr>
          <a:xfrm>
            <a:off x="502920" y="2514600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ackground_card_context"/>
          <p:cNvSpPr/>
          <p:nvPr/>
        </p:nvSpPr>
        <p:spPr>
          <a:xfrm>
            <a:off x="4343400" y="502920"/>
            <a:ext cx="7406640" cy="5669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_sub1"/>
          <p:cNvSpPr txBox="1"/>
          <p:nvPr/>
        </p:nvSpPr>
        <p:spPr>
          <a:xfrm>
            <a:off x="4617720" y="7772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Georgia"/>
              </a:rPr>
              <a:t>Summary of the study</a:t>
            </a:r>
          </a:p>
        </p:txBody>
      </p:sp>
      <p:cxnSp>
        <p:nvCxnSpPr>
          <p:cNvPr id="10" name="meta_sub1_rule"/>
          <p:cNvCxnSpPr/>
          <p:nvPr/>
        </p:nvCxnSpPr>
        <p:spPr>
          <a:xfrm>
            <a:off x="4617720" y="1133856"/>
            <a:ext cx="640080" cy="0"/>
          </a:xfrm>
          <a:prstGeom prst="bentConnector3">
            <a:avLst/>
          </a:prstGeom>
          <a:ln w="190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ody_summary"/>
          <p:cNvSpPr txBox="1"/>
          <p:nvPr/>
        </p:nvSpPr>
        <p:spPr>
          <a:xfrm>
            <a:off x="4617720" y="128016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638"/>
                </a:solidFill>
                <a:latin typeface="Arial"/>
              </a:rPr>
              <a:t>BCG evaluated the importance of the F-Series and Ford to the US economy through the lenses of employment, GDP, and manufacturing impact, as well as through comparisons to other US products and companies.</a:t>
            </a:r>
          </a:p>
        </p:txBody>
      </p:sp>
      <p:sp>
        <p:nvSpPr>
          <p:cNvPr id="12" name="body_sub2"/>
          <p:cNvSpPr txBox="1"/>
          <p:nvPr/>
        </p:nvSpPr>
        <p:spPr>
          <a:xfrm>
            <a:off x="4617720" y="246888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Georgia"/>
              </a:rPr>
              <a:t>Approach</a:t>
            </a:r>
          </a:p>
        </p:txBody>
      </p:sp>
      <p:cxnSp>
        <p:nvCxnSpPr>
          <p:cNvPr id="13" name="meta_sub2_rule"/>
          <p:cNvCxnSpPr/>
          <p:nvPr/>
        </p:nvCxnSpPr>
        <p:spPr>
          <a:xfrm>
            <a:off x="4617720" y="2825496"/>
            <a:ext cx="640080" cy="0"/>
          </a:xfrm>
          <a:prstGeom prst="bentConnector3">
            <a:avLst/>
          </a:prstGeom>
          <a:ln w="190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body_approach"/>
          <p:cNvSpPr txBox="1"/>
          <p:nvPr/>
        </p:nvSpPr>
        <p:spPr>
          <a:xfrm>
            <a:off x="4617720" y="29718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638"/>
                </a:solidFill>
                <a:latin typeface="Arial"/>
              </a:rPr>
              <a:t>BCG evaluated the impact of the F-Series and Ford across four dimensions:</a:t>
            </a:r>
          </a:p>
        </p:txBody>
      </p:sp>
      <p:sp>
        <p:nvSpPr>
          <p:cNvPr id="15" name="body_numbered"/>
          <p:cNvSpPr txBox="1"/>
          <p:nvPr/>
        </p:nvSpPr>
        <p:spPr>
          <a:xfrm>
            <a:off x="4617720" y="3429000"/>
            <a:ext cx="6858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1610" indent="-181610">
              <a:spcAft>
                <a:spcPts val="800"/>
              </a:spcAft>
              <a:buFont typeface="Arial"/>
              <a:buAutoNum type="arabicPeriod"/>
            </a:pPr>
            <a:r>
              <a:rPr sz="1300" b="0" i="0">
                <a:solidFill>
                  <a:srgbClr val="1B2638"/>
                </a:solidFill>
                <a:latin typeface="Arial"/>
              </a:rPr>
              <a:t>Employment impact at a national and select regional levels</a:t>
            </a:r>
          </a:p>
          <a:p>
            <a:pPr marL="181610" indent="-181610">
              <a:spcAft>
                <a:spcPts val="800"/>
              </a:spcAft>
              <a:buFont typeface="Arial"/>
              <a:buAutoNum type="arabicPeriod"/>
            </a:pPr>
            <a:r>
              <a:rPr sz="1300" b="0" i="0">
                <a:solidFill>
                  <a:srgbClr val="1B2638"/>
                </a:solidFill>
                <a:latin typeface="Arial"/>
              </a:rPr>
              <a:t>Economic impact at a national and select regional levels</a:t>
            </a:r>
          </a:p>
          <a:p>
            <a:pPr marL="181610" indent="-181610">
              <a:spcAft>
                <a:spcPts val="800"/>
              </a:spcAft>
              <a:buFont typeface="Arial"/>
              <a:buAutoNum type="arabicPeriod"/>
            </a:pPr>
            <a:r>
              <a:rPr sz="1300" b="0" i="0">
                <a:solidFill>
                  <a:srgbClr val="1B2638"/>
                </a:solidFill>
                <a:latin typeface="Arial"/>
              </a:rPr>
              <a:t>Ford's current and historical US manufacturing presence</a:t>
            </a:r>
          </a:p>
          <a:p>
            <a:pPr marL="181610" indent="-181610">
              <a:spcAft>
                <a:spcPts val="800"/>
              </a:spcAft>
              <a:buFont typeface="Arial"/>
              <a:buAutoNum type="arabicPeriod"/>
            </a:pPr>
            <a:r>
              <a:rPr sz="1300" b="0" i="0">
                <a:solidFill>
                  <a:srgbClr val="1B2638"/>
                </a:solidFill>
                <a:latin typeface="Arial"/>
              </a:rPr>
              <a:t>Product usage illustrating how the F-Series and Ford support Americans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BCG analysis.</a:t>
            </a:r>
          </a:p>
        </p:txBody>
      </p:sp>
      <p:sp>
        <p:nvSpPr>
          <p:cNvPr id="17" name="meta_pagenum_1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02920" y="50292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 study shows major economic and employment impacts of Ford and the F-Series</a:t>
            </a:r>
          </a:p>
        </p:txBody>
      </p:sp>
      <p:cxnSp>
        <p:nvCxnSpPr>
          <p:cNvPr id="6" name="title_rule"/>
          <p:cNvCxnSpPr/>
          <p:nvPr/>
        </p:nvCxnSpPr>
        <p:spPr>
          <a:xfrm>
            <a:off x="502920" y="2788920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body_side_intro"/>
          <p:cNvSpPr txBox="1"/>
          <p:nvPr/>
        </p:nvSpPr>
        <p:spPr>
          <a:xfrm>
            <a:off x="502920" y="301752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9EDF3"/>
                </a:solidFill>
                <a:latin typeface="Arial"/>
              </a:rPr>
              <a:t>Key economic and employment impacts across four dimensions of analysis.</a:t>
            </a:r>
          </a:p>
        </p:txBody>
      </p:sp>
      <p:sp>
        <p:nvSpPr>
          <p:cNvPr id="8" name="background_card_findings"/>
          <p:cNvSpPr/>
          <p:nvPr/>
        </p:nvSpPr>
        <p:spPr>
          <a:xfrm>
            <a:off x="4343400" y="502920"/>
            <a:ext cx="7406640" cy="5394960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_row_0"/>
          <p:cNvSpPr txBox="1"/>
          <p:nvPr/>
        </p:nvSpPr>
        <p:spPr>
          <a:xfrm>
            <a:off x="4617720" y="868680"/>
            <a:ext cx="6217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E  </a:t>
            </a:r>
            <a:r>
              <a:rPr sz="1300" b="1" i="0">
                <a:solidFill>
                  <a:srgbClr val="1B2638"/>
                </a:solidFill>
                <a:latin typeface="Arial"/>
              </a:rPr>
              <a:t>Economic and employment impact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9E7B"/>
                </a:solidFill>
                <a:latin typeface="Arial"/>
              </a:rPr>
              <a:t>13 to 14 </a:t>
            </a:r>
            <a:r>
              <a:rPr sz="1200" b="0" i="0">
                <a:solidFill>
                  <a:srgbClr val="1B2638"/>
                </a:solidFill>
                <a:latin typeface="Arial"/>
              </a:rPr>
              <a:t>US jobs are supported for each direct Ford F-Series employee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9E7B"/>
                </a:solidFill>
                <a:latin typeface="Arial"/>
              </a:rPr>
              <a:t>This equals ~500,000 </a:t>
            </a:r>
            <a:r>
              <a:rPr sz="1200" b="0" i="0">
                <a:solidFill>
                  <a:srgbClr val="1B2638"/>
                </a:solidFill>
                <a:latin typeface="Arial"/>
              </a:rPr>
              <a:t>total jobs attributable to the F-Series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9E7B"/>
                </a:solidFill>
                <a:latin typeface="Arial"/>
              </a:rPr>
              <a:t>The F-Series adds ~$49 billion </a:t>
            </a:r>
            <a:r>
              <a:rPr sz="1200" b="0" i="0">
                <a:solidFill>
                  <a:srgbClr val="1B2638"/>
                </a:solidFill>
                <a:latin typeface="Arial"/>
              </a:rPr>
              <a:t>to US GDP, including multiplier effects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E9E7B"/>
                </a:solidFill>
                <a:latin typeface="Arial"/>
              </a:rPr>
              <a:t>F-Series trucks support up to 13 million </a:t>
            </a:r>
            <a:r>
              <a:rPr sz="1200" b="0" i="0">
                <a:solidFill>
                  <a:srgbClr val="1B2638"/>
                </a:solidFill>
                <a:latin typeface="Arial"/>
              </a:rPr>
              <a:t>Americans in their daily work</a:t>
            </a:r>
          </a:p>
        </p:txBody>
      </p:sp>
      <p:sp>
        <p:nvSpPr>
          <p:cNvPr id="10" name="body_row_1"/>
          <p:cNvSpPr txBox="1"/>
          <p:nvPr/>
        </p:nvSpPr>
        <p:spPr>
          <a:xfrm>
            <a:off x="4617720" y="2560320"/>
            <a:ext cx="6217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M  </a:t>
            </a:r>
            <a:r>
              <a:rPr sz="1300" b="1" i="0">
                <a:solidFill>
                  <a:srgbClr val="1B2638"/>
                </a:solidFill>
                <a:latin typeface="Arial"/>
              </a:rPr>
              <a:t>Manufacturing impact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B6677"/>
                </a:solidFill>
                <a:latin typeface="Arial"/>
              </a:rPr>
              <a:t>Ford is the leading US auto manufacturer and a leader in innovation (detail on later slides)</a:t>
            </a:r>
          </a:p>
        </p:txBody>
      </p:sp>
      <p:sp>
        <p:nvSpPr>
          <p:cNvPr id="11" name="body_row_2"/>
          <p:cNvSpPr txBox="1"/>
          <p:nvPr/>
        </p:nvSpPr>
        <p:spPr>
          <a:xfrm>
            <a:off x="4617720" y="4251960"/>
            <a:ext cx="6217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U  </a:t>
            </a:r>
            <a:r>
              <a:rPr sz="1300" b="1" i="0">
                <a:solidFill>
                  <a:srgbClr val="1B2638"/>
                </a:solidFill>
                <a:latin typeface="Arial"/>
              </a:rPr>
              <a:t>Usage impact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B6677"/>
                </a:solidFill>
                <a:latin typeface="Arial"/>
              </a:rPr>
              <a:t>The F-Series is the most popular vehicle on the US road and the best-selling pickup worldwide (detail on later slides)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BCG analysis.  ¹Includes dealership employment and impact on local communities.  ²Multiplier effects include after-sales services and community GDP impact driven by employee respending.</a:t>
            </a:r>
          </a:p>
        </p:txBody>
      </p:sp>
      <p:sp>
        <p:nvSpPr>
          <p:cNvPr id="13" name="meta_pagenum_2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The F-Series leads US manufacturing and usage by wide margins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22529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meta_divider"/>
          <p:cNvCxnSpPr/>
          <p:nvPr/>
        </p:nvCxnSpPr>
        <p:spPr>
          <a:xfrm>
            <a:off x="5943600" y="1389888"/>
            <a:ext cx="0" cy="4937760"/>
          </a:xfrm>
          <a:prstGeom prst="bentConnector3">
            <a:avLst/>
          </a:prstGeom>
          <a:ln w="12700">
            <a:solidFill>
              <a:srgbClr val="9CA3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rd_col_M"/>
          <p:cNvSpPr/>
          <p:nvPr/>
        </p:nvSpPr>
        <p:spPr>
          <a:xfrm>
            <a:off x="411480" y="1527048"/>
            <a:ext cx="457200" cy="45720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M</a:t>
            </a:r>
          </a:p>
        </p:txBody>
      </p:sp>
      <p:sp>
        <p:nvSpPr>
          <p:cNvPr id="8" name="body_colh_M"/>
          <p:cNvSpPr txBox="1"/>
          <p:nvPr/>
        </p:nvSpPr>
        <p:spPr>
          <a:xfrm>
            <a:off x="1051560" y="152704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Georgia"/>
              </a:rPr>
              <a:t>Manufacturing impact</a:t>
            </a:r>
          </a:p>
        </p:txBody>
      </p:sp>
      <p:sp>
        <p:nvSpPr>
          <p:cNvPr id="9" name="body_col_M"/>
          <p:cNvSpPr txBox="1"/>
          <p:nvPr/>
        </p:nvSpPr>
        <p:spPr>
          <a:xfrm>
            <a:off x="1051560" y="2075688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Ford assembled 2x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as many full-size pickups in the US as any competitor in 2019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Ford is the leading US auto manufacturer —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one in five vehicles assembled domestically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Ford is a leader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in automotive innovation on patent quality and recency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The F-150 is the most American-made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full-size pickup truck (external study)</a:t>
            </a:r>
          </a:p>
        </p:txBody>
      </p:sp>
      <p:sp>
        <p:nvSpPr>
          <p:cNvPr id="10" name="card_col_U"/>
          <p:cNvSpPr/>
          <p:nvPr/>
        </p:nvSpPr>
        <p:spPr>
          <a:xfrm>
            <a:off x="6080760" y="1527048"/>
            <a:ext cx="457200" cy="45720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U</a:t>
            </a:r>
          </a:p>
        </p:txBody>
      </p:sp>
      <p:sp>
        <p:nvSpPr>
          <p:cNvPr id="11" name="body_colh_U"/>
          <p:cNvSpPr txBox="1"/>
          <p:nvPr/>
        </p:nvSpPr>
        <p:spPr>
          <a:xfrm>
            <a:off x="6720840" y="152704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Georgia"/>
              </a:rPr>
              <a:t>Usage impact</a:t>
            </a:r>
          </a:p>
        </p:txBody>
      </p:sp>
      <p:sp>
        <p:nvSpPr>
          <p:cNvPr id="12" name="body_col_U"/>
          <p:cNvSpPr txBox="1"/>
          <p:nvPr/>
        </p:nvSpPr>
        <p:spPr>
          <a:xfrm>
            <a:off x="6720840" y="2075688"/>
            <a:ext cx="4754880" cy="3383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The F-Series is among the most valuable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consumer products in the US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The F-Series is the most popular vehicle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on the road in the US today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...and the highest-selling vehicle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in the US over the last ten years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The best-selling pickup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truck in the world over the last ten years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The F-150 is the most popular vehicle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on the road in 39 of 50 US states</a:t>
            </a:r>
          </a:p>
          <a:p>
            <a:pPr algn="l" marL="167640" indent="-167640">
              <a:spcAft>
                <a:spcPts val="700"/>
              </a:spcAft>
              <a:buFont typeface="Arial"/>
              <a:buChar char="•"/>
            </a:pPr>
            <a:r>
              <a:rPr sz="1200" b="1" i="0">
                <a:solidFill>
                  <a:srgbClr val="1B2638"/>
                </a:solidFill>
                <a:latin typeface="Arial"/>
              </a:rPr>
              <a:t>Ford is the most popular pickup </a:t>
            </a:r>
            <a:r>
              <a:rPr sz="1200" b="0" i="0">
                <a:solidFill>
                  <a:srgbClr val="5B6677"/>
                </a:solidFill>
                <a:latin typeface="Arial"/>
              </a:rPr>
              <a:t>in 75% of commercial vocations</a:t>
            </a:r>
          </a:p>
        </p:txBody>
      </p:sp>
      <p:sp>
        <p:nvSpPr>
          <p:cNvPr id="13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BCG analysis.</a:t>
            </a:r>
          </a:p>
        </p:txBody>
      </p:sp>
      <p:sp>
        <p:nvSpPr>
          <p:cNvPr id="14" name="meta_pagenum_3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This report is organized across four impact dimensions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371600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tile_0"/>
          <p:cNvSpPr/>
          <p:nvPr/>
        </p:nvSpPr>
        <p:spPr>
          <a:xfrm>
            <a:off x="411480" y="2743200"/>
            <a:ext cx="2636443" cy="2743200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dy_tilenum_0"/>
          <p:cNvSpPr txBox="1"/>
          <p:nvPr/>
        </p:nvSpPr>
        <p:spPr>
          <a:xfrm>
            <a:off x="411480" y="3017520"/>
            <a:ext cx="1463040" cy="1097280"/>
          </a:xfrm>
          <a:prstGeom prst="rect">
            <a:avLst/>
          </a:prstGeom>
          <a:noFill/>
        </p:spPr>
        <p:txBody>
          <a:bodyPr wrap="square" lIns="1778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2E9E7B"/>
                </a:solidFill>
                <a:latin typeface="Georgia"/>
              </a:rPr>
              <a:t>1</a:t>
            </a:r>
          </a:p>
        </p:txBody>
      </p:sp>
      <p:sp>
        <p:nvSpPr>
          <p:cNvPr id="8" name="body_tilecap_0"/>
          <p:cNvSpPr txBox="1"/>
          <p:nvPr/>
        </p:nvSpPr>
        <p:spPr>
          <a:xfrm>
            <a:off x="411480" y="4663440"/>
            <a:ext cx="2194560" cy="640080"/>
          </a:xfrm>
          <a:prstGeom prst="rect">
            <a:avLst/>
          </a:prstGeom>
          <a:noFill/>
        </p:spPr>
        <p:txBody>
          <a:bodyPr wrap="square" lIns="1778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Arial"/>
              </a:rPr>
              <a:t>Employment impact</a:t>
            </a:r>
          </a:p>
        </p:txBody>
      </p:sp>
      <p:sp>
        <p:nvSpPr>
          <p:cNvPr id="9" name="background_tile_1"/>
          <p:cNvSpPr/>
          <p:nvPr/>
        </p:nvSpPr>
        <p:spPr>
          <a:xfrm>
            <a:off x="3322243" y="2743200"/>
            <a:ext cx="2636443" cy="2743200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tilenum_1"/>
          <p:cNvSpPr txBox="1"/>
          <p:nvPr/>
        </p:nvSpPr>
        <p:spPr>
          <a:xfrm>
            <a:off x="3322243" y="3017520"/>
            <a:ext cx="1463040" cy="1097280"/>
          </a:xfrm>
          <a:prstGeom prst="rect">
            <a:avLst/>
          </a:prstGeom>
          <a:noFill/>
        </p:spPr>
        <p:txBody>
          <a:bodyPr wrap="square" lIns="1778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2E9E7B"/>
                </a:solidFill>
                <a:latin typeface="Georgia"/>
              </a:rPr>
              <a:t>2</a:t>
            </a:r>
          </a:p>
        </p:txBody>
      </p:sp>
      <p:sp>
        <p:nvSpPr>
          <p:cNvPr id="11" name="body_tilecap_1"/>
          <p:cNvSpPr txBox="1"/>
          <p:nvPr/>
        </p:nvSpPr>
        <p:spPr>
          <a:xfrm>
            <a:off x="3322243" y="4663440"/>
            <a:ext cx="2194560" cy="640080"/>
          </a:xfrm>
          <a:prstGeom prst="rect">
            <a:avLst/>
          </a:prstGeom>
          <a:noFill/>
        </p:spPr>
        <p:txBody>
          <a:bodyPr wrap="square" lIns="1778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Arial"/>
              </a:rPr>
              <a:t>GDP impact</a:t>
            </a:r>
          </a:p>
        </p:txBody>
      </p:sp>
      <p:sp>
        <p:nvSpPr>
          <p:cNvPr id="12" name="background_tile_2"/>
          <p:cNvSpPr/>
          <p:nvPr/>
        </p:nvSpPr>
        <p:spPr>
          <a:xfrm>
            <a:off x="6233006" y="2743200"/>
            <a:ext cx="2636443" cy="2743200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dy_tilenum_2"/>
          <p:cNvSpPr txBox="1"/>
          <p:nvPr/>
        </p:nvSpPr>
        <p:spPr>
          <a:xfrm>
            <a:off x="6233006" y="3017520"/>
            <a:ext cx="1463040" cy="1097280"/>
          </a:xfrm>
          <a:prstGeom prst="rect">
            <a:avLst/>
          </a:prstGeom>
          <a:noFill/>
        </p:spPr>
        <p:txBody>
          <a:bodyPr wrap="square" lIns="1778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2E9E7B"/>
                </a:solidFill>
                <a:latin typeface="Georgia"/>
              </a:rPr>
              <a:t>3</a:t>
            </a:r>
          </a:p>
        </p:txBody>
      </p:sp>
      <p:sp>
        <p:nvSpPr>
          <p:cNvPr id="14" name="body_tilecap_2"/>
          <p:cNvSpPr txBox="1"/>
          <p:nvPr/>
        </p:nvSpPr>
        <p:spPr>
          <a:xfrm>
            <a:off x="6233006" y="4663440"/>
            <a:ext cx="2194560" cy="640080"/>
          </a:xfrm>
          <a:prstGeom prst="rect">
            <a:avLst/>
          </a:prstGeom>
          <a:noFill/>
        </p:spPr>
        <p:txBody>
          <a:bodyPr wrap="square" lIns="1778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Arial"/>
              </a:rPr>
              <a:t>Manufacturing impact</a:t>
            </a:r>
          </a:p>
        </p:txBody>
      </p:sp>
      <p:sp>
        <p:nvSpPr>
          <p:cNvPr id="15" name="background_tile_3"/>
          <p:cNvSpPr/>
          <p:nvPr/>
        </p:nvSpPr>
        <p:spPr>
          <a:xfrm>
            <a:off x="9143769" y="2743200"/>
            <a:ext cx="2636443" cy="2743200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_tilenum_3"/>
          <p:cNvSpPr txBox="1"/>
          <p:nvPr/>
        </p:nvSpPr>
        <p:spPr>
          <a:xfrm>
            <a:off x="9143769" y="3017520"/>
            <a:ext cx="1463040" cy="1097280"/>
          </a:xfrm>
          <a:prstGeom prst="rect">
            <a:avLst/>
          </a:prstGeom>
          <a:noFill/>
        </p:spPr>
        <p:txBody>
          <a:bodyPr wrap="square" lIns="1778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2E9E7B"/>
                </a:solidFill>
                <a:latin typeface="Georgia"/>
              </a:rPr>
              <a:t>4</a:t>
            </a:r>
          </a:p>
        </p:txBody>
      </p:sp>
      <p:sp>
        <p:nvSpPr>
          <p:cNvPr id="17" name="body_tilecap_3"/>
          <p:cNvSpPr txBox="1"/>
          <p:nvPr/>
        </p:nvSpPr>
        <p:spPr>
          <a:xfrm>
            <a:off x="9143769" y="4663440"/>
            <a:ext cx="2194560" cy="640080"/>
          </a:xfrm>
          <a:prstGeom prst="rect">
            <a:avLst/>
          </a:prstGeom>
          <a:noFill/>
        </p:spPr>
        <p:txBody>
          <a:bodyPr wrap="square" lIns="1778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2638"/>
                </a:solidFill>
                <a:latin typeface="Arial"/>
              </a:rPr>
              <a:t>Usage impact</a:t>
            </a:r>
          </a:p>
        </p:txBody>
      </p:sp>
      <p:sp>
        <p:nvSpPr>
          <p:cNvPr id="18" name="meta_pagenum_4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section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nav_eyebrow"/>
          <p:cNvSpPr txBox="1"/>
          <p:nvPr/>
        </p:nvSpPr>
        <p:spPr>
          <a:xfrm>
            <a:off x="502920" y="5486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6CFC2"/>
                </a:solidFill>
                <a:latin typeface="Arial"/>
              </a:rPr>
              <a:t>CONTENTS</a:t>
            </a:r>
          </a:p>
        </p:txBody>
      </p:sp>
      <p:sp>
        <p:nvSpPr>
          <p:cNvPr id="7" name="meta_nav_list"/>
          <p:cNvSpPr txBox="1"/>
          <p:nvPr/>
        </p:nvSpPr>
        <p:spPr>
          <a:xfrm>
            <a:off x="502920" y="100584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Employment impact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GDP impact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Manufacturing impact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Usage impact</a:t>
            </a:r>
          </a:p>
        </p:txBody>
      </p:sp>
      <p:cxnSp>
        <p:nvCxnSpPr>
          <p:cNvPr id="8" name="meta_nav_rule_0"/>
          <p:cNvCxnSpPr/>
          <p:nvPr/>
        </p:nvCxnSpPr>
        <p:spPr>
          <a:xfrm>
            <a:off x="502920" y="1344168"/>
            <a:ext cx="457200" cy="0"/>
          </a:xfrm>
          <a:prstGeom prst="bentConnector3">
            <a:avLst/>
          </a:prstGeom>
          <a:ln w="2540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"/>
          <p:cNvSpPr txBox="1"/>
          <p:nvPr/>
        </p:nvSpPr>
        <p:spPr>
          <a:xfrm>
            <a:off x="502920" y="4297680"/>
            <a:ext cx="3383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 F-Series anchors employment for hundreds of thousands of Americans</a:t>
            </a:r>
          </a:p>
        </p:txBody>
      </p:sp>
      <p:cxnSp>
        <p:nvCxnSpPr>
          <p:cNvPr id="10" name="title_rule"/>
          <p:cNvCxnSpPr/>
          <p:nvPr/>
        </p:nvCxnSpPr>
        <p:spPr>
          <a:xfrm>
            <a:off x="502920" y="5852160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erlay_image_credit"/>
          <p:cNvSpPr txBox="1"/>
          <p:nvPr/>
        </p:nvSpPr>
        <p:spPr>
          <a:xfrm>
            <a:off x="438912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  <p:sp>
        <p:nvSpPr>
          <p:cNvPr id="12" name="meta_pagenum_5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713232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The F-Series drives about 500,000 American jobs, 13-14 per direct employee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3446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artpart_wf_fsjobs_bar0"/>
          <p:cNvSpPr/>
          <p:nvPr/>
        </p:nvSpPr>
        <p:spPr>
          <a:xfrm>
            <a:off x="612648" y="5159573"/>
            <a:ext cx="603504" cy="26281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part_wf_fsjobs_val0"/>
          <p:cNvSpPr txBox="1"/>
          <p:nvPr/>
        </p:nvSpPr>
        <p:spPr>
          <a:xfrm>
            <a:off x="457200" y="4958405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~37</a:t>
            </a:r>
          </a:p>
        </p:txBody>
      </p:sp>
      <p:sp>
        <p:nvSpPr>
          <p:cNvPr id="7" name="chartpart_wf_fsjobs_cat0"/>
          <p:cNvSpPr txBox="1"/>
          <p:nvPr/>
        </p:nvSpPr>
        <p:spPr>
          <a:xfrm>
            <a:off x="45720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fsjobs_bar1"/>
          <p:cNvSpPr/>
          <p:nvPr/>
        </p:nvSpPr>
        <p:spPr>
          <a:xfrm>
            <a:off x="1618488" y="3902305"/>
            <a:ext cx="603504" cy="1257267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artpart_wf_fsjobs_val1"/>
          <p:cNvSpPr txBox="1"/>
          <p:nvPr/>
        </p:nvSpPr>
        <p:spPr>
          <a:xfrm>
            <a:off x="1463040" y="3701137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~177</a:t>
            </a:r>
          </a:p>
        </p:txBody>
      </p:sp>
      <p:sp>
        <p:nvSpPr>
          <p:cNvPr id="10" name="chartpart_wf_fsjobs_cat1"/>
          <p:cNvSpPr txBox="1"/>
          <p:nvPr/>
        </p:nvSpPr>
        <p:spPr>
          <a:xfrm>
            <a:off x="146304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Suppliers</a:t>
            </a:r>
          </a:p>
        </p:txBody>
      </p:sp>
      <p:sp>
        <p:nvSpPr>
          <p:cNvPr id="11" name="chartpart_wf_fsjobs_bar2"/>
          <p:cNvSpPr/>
          <p:nvPr/>
        </p:nvSpPr>
        <p:spPr>
          <a:xfrm>
            <a:off x="2624328" y="2872340"/>
            <a:ext cx="603504" cy="102996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wf_fsjobs_val2"/>
          <p:cNvSpPr txBox="1"/>
          <p:nvPr/>
        </p:nvSpPr>
        <p:spPr>
          <a:xfrm>
            <a:off x="2468880" y="26711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~138-153</a:t>
            </a:r>
          </a:p>
        </p:txBody>
      </p:sp>
      <p:sp>
        <p:nvSpPr>
          <p:cNvPr id="13" name="chartpart_wf_fsjobs_cat2"/>
          <p:cNvSpPr txBox="1"/>
          <p:nvPr/>
        </p:nvSpPr>
        <p:spPr>
          <a:xfrm>
            <a:off x="246888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chartpart_wf_fsjobs_bar3"/>
          <p:cNvSpPr/>
          <p:nvPr/>
        </p:nvSpPr>
        <p:spPr>
          <a:xfrm>
            <a:off x="3630168" y="2353806"/>
            <a:ext cx="603504" cy="51853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part_wf_fsjobs_val3"/>
          <p:cNvSpPr txBox="1"/>
          <p:nvPr/>
        </p:nvSpPr>
        <p:spPr>
          <a:xfrm>
            <a:off x="3474720" y="215263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~73</a:t>
            </a:r>
          </a:p>
        </p:txBody>
      </p:sp>
      <p:sp>
        <p:nvSpPr>
          <p:cNvPr id="16" name="chartpart_wf_fsjobs_cat3"/>
          <p:cNvSpPr txBox="1"/>
          <p:nvPr/>
        </p:nvSpPr>
        <p:spPr>
          <a:xfrm>
            <a:off x="347472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</a:t>
            </a:r>
          </a:p>
        </p:txBody>
      </p:sp>
      <p:sp>
        <p:nvSpPr>
          <p:cNvPr id="17" name="chartpart_wf_fsjobs_bar4"/>
          <p:cNvSpPr/>
          <p:nvPr/>
        </p:nvSpPr>
        <p:spPr>
          <a:xfrm>
            <a:off x="4636008" y="2055471"/>
            <a:ext cx="603504" cy="29833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wf_fsjobs_val4"/>
          <p:cNvSpPr txBox="1"/>
          <p:nvPr/>
        </p:nvSpPr>
        <p:spPr>
          <a:xfrm>
            <a:off x="4480560" y="1854303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~39-45</a:t>
            </a:r>
          </a:p>
        </p:txBody>
      </p:sp>
      <p:sp>
        <p:nvSpPr>
          <p:cNvPr id="19" name="chartpart_wf_fsjobs_cat4"/>
          <p:cNvSpPr txBox="1"/>
          <p:nvPr/>
        </p:nvSpPr>
        <p:spPr>
          <a:xfrm>
            <a:off x="448056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Community
(dealer sup.)</a:t>
            </a:r>
          </a:p>
        </p:txBody>
      </p:sp>
      <p:sp>
        <p:nvSpPr>
          <p:cNvPr id="20" name="chartpart_wf_fsjobs_bar5"/>
          <p:cNvSpPr/>
          <p:nvPr/>
        </p:nvSpPr>
        <p:spPr>
          <a:xfrm>
            <a:off x="5641848" y="1941820"/>
            <a:ext cx="603504" cy="11365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part_wf_fsjobs_val5"/>
          <p:cNvSpPr txBox="1"/>
          <p:nvPr/>
        </p:nvSpPr>
        <p:spPr>
          <a:xfrm>
            <a:off x="5486400" y="174065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~16</a:t>
            </a:r>
          </a:p>
        </p:txBody>
      </p:sp>
      <p:sp>
        <p:nvSpPr>
          <p:cNvPr id="22" name="chartpart_wf_fsjobs_cat5"/>
          <p:cNvSpPr txBox="1"/>
          <p:nvPr/>
        </p:nvSpPr>
        <p:spPr>
          <a:xfrm>
            <a:off x="548640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 add</a:t>
            </a:r>
          </a:p>
        </p:txBody>
      </p:sp>
      <p:sp>
        <p:nvSpPr>
          <p:cNvPr id="23" name="chartpart_wf_fsjobs_bar6"/>
          <p:cNvSpPr/>
          <p:nvPr/>
        </p:nvSpPr>
        <p:spPr>
          <a:xfrm>
            <a:off x="6647688" y="1941820"/>
            <a:ext cx="603504" cy="3480571"/>
          </a:xfrm>
          <a:prstGeom prst="rect">
            <a:avLst/>
          </a:prstGeom>
          <a:solidFill>
            <a:srgbClr val="10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wf_fsjobs_val6"/>
          <p:cNvSpPr txBox="1"/>
          <p:nvPr/>
        </p:nvSpPr>
        <p:spPr>
          <a:xfrm>
            <a:off x="6492240" y="174065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~480-500</a:t>
            </a:r>
          </a:p>
        </p:txBody>
      </p:sp>
      <p:sp>
        <p:nvSpPr>
          <p:cNvPr id="25" name="chartpart_wf_fsjobs_cat6"/>
          <p:cNvSpPr txBox="1"/>
          <p:nvPr/>
        </p:nvSpPr>
        <p:spPr>
          <a:xfrm>
            <a:off x="649224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Total</a:t>
            </a:r>
          </a:p>
        </p:txBody>
      </p:sp>
      <p:cxnSp>
        <p:nvCxnSpPr>
          <p:cNvPr id="26" name="chartpart_wf_fsjobs_axis"/>
          <p:cNvCxnSpPr/>
          <p:nvPr/>
        </p:nvCxnSpPr>
        <p:spPr>
          <a:xfrm>
            <a:off x="411480" y="5422392"/>
            <a:ext cx="7040880" cy="0"/>
          </a:xfrm>
          <a:prstGeom prst="bentConnector3">
            <a:avLst/>
          </a:prstGeom>
          <a:ln w="12700">
            <a:solidFill>
              <a:srgbClr val="86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hartpart_wf_fsjobs_br1_top"/>
          <p:cNvCxnSpPr/>
          <p:nvPr/>
        </p:nvCxnSpPr>
        <p:spPr>
          <a:xfrm>
            <a:off x="932688" y="1683004"/>
            <a:ext cx="279806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hartpart_wf_fsjobs_br1_l"/>
          <p:cNvCxnSpPr/>
          <p:nvPr/>
        </p:nvCxnSpPr>
        <p:spPr>
          <a:xfrm>
            <a:off x="932688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part_wf_fsjobs_br1_r"/>
          <p:cNvCxnSpPr/>
          <p:nvPr/>
        </p:nvCxnSpPr>
        <p:spPr>
          <a:xfrm>
            <a:off x="3730752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artpart_wf_fsjobs_br1_lbl"/>
          <p:cNvSpPr txBox="1"/>
          <p:nvPr/>
        </p:nvSpPr>
        <p:spPr>
          <a:xfrm>
            <a:off x="868680" y="14635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Mfg &amp; Corporate: 9-10x multiple</a:t>
            </a:r>
          </a:p>
        </p:txBody>
      </p:sp>
      <p:cxnSp>
        <p:nvCxnSpPr>
          <p:cNvPr id="31" name="chartpart_wf_fsjobs_br2_top"/>
          <p:cNvCxnSpPr/>
          <p:nvPr/>
        </p:nvCxnSpPr>
        <p:spPr>
          <a:xfrm>
            <a:off x="3950208" y="1683004"/>
            <a:ext cx="2798063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hartpart_wf_fsjobs_br2_l"/>
          <p:cNvCxnSpPr/>
          <p:nvPr/>
        </p:nvCxnSpPr>
        <p:spPr>
          <a:xfrm>
            <a:off x="3950208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hartpart_wf_fsjobs_br2_r"/>
          <p:cNvCxnSpPr/>
          <p:nvPr/>
        </p:nvCxnSpPr>
        <p:spPr>
          <a:xfrm>
            <a:off x="6748272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hartpart_wf_fsjobs_br2_lbl"/>
          <p:cNvSpPr txBox="1"/>
          <p:nvPr/>
        </p:nvSpPr>
        <p:spPr>
          <a:xfrm>
            <a:off x="3886200" y="14635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Dealers: job creation</a:t>
            </a:r>
          </a:p>
        </p:txBody>
      </p:sp>
      <p:sp>
        <p:nvSpPr>
          <p:cNvPr id="35" name="chartpart_wf_fsjobs_mult"/>
          <p:cNvSpPr txBox="1"/>
          <p:nvPr/>
        </p:nvSpPr>
        <p:spPr>
          <a:xfrm>
            <a:off x="6629400" y="148462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E9E7B"/>
                </a:solidFill>
                <a:latin typeface="Arial"/>
              </a:rPr>
              <a:t>13-14x total</a:t>
            </a:r>
          </a:p>
        </p:txBody>
      </p:sp>
      <p:sp>
        <p:nvSpPr>
          <p:cNvPr id="36" name="background_image_fsjobs"/>
          <p:cNvSpPr/>
          <p:nvPr/>
        </p:nvSpPr>
        <p:spPr>
          <a:xfrm>
            <a:off x="7635240" y="1509268"/>
            <a:ext cx="4114800" cy="4662932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erlay_image_credit"/>
          <p:cNvSpPr txBox="1"/>
          <p:nvPr/>
        </p:nvSpPr>
        <p:spPr>
          <a:xfrm>
            <a:off x="781812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  <p:sp>
        <p:nvSpPr>
          <p:cNvPr id="38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BLS (2019); F-Series supplier spending &amp; P&amp;L (2019); RIMS II ratios; Ford government relations; public dealer reports; BCG analysis.</a:t>
            </a:r>
          </a:p>
        </p:txBody>
      </p:sp>
      <p:sp>
        <p:nvSpPr>
          <p:cNvPr id="39" name="meta_pagenum_6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713232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USA drives about 1 million American jobs, 11-12 per direct employee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3446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artpart_wf_fordjobs_bar0"/>
          <p:cNvSpPr/>
          <p:nvPr/>
        </p:nvSpPr>
        <p:spPr>
          <a:xfrm>
            <a:off x="612648" y="5124846"/>
            <a:ext cx="603504" cy="29754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part_wf_fordjobs_val0"/>
          <p:cNvSpPr txBox="1"/>
          <p:nvPr/>
        </p:nvSpPr>
        <p:spPr>
          <a:xfrm>
            <a:off x="457200" y="492367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~87</a:t>
            </a:r>
          </a:p>
        </p:txBody>
      </p:sp>
      <p:sp>
        <p:nvSpPr>
          <p:cNvPr id="7" name="chartpart_wf_fordjobs_cat0"/>
          <p:cNvSpPr txBox="1"/>
          <p:nvPr/>
        </p:nvSpPr>
        <p:spPr>
          <a:xfrm>
            <a:off x="45720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fordjobs_bar1"/>
          <p:cNvSpPr/>
          <p:nvPr/>
        </p:nvSpPr>
        <p:spPr>
          <a:xfrm>
            <a:off x="1618488" y="3968865"/>
            <a:ext cx="603504" cy="115598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artpart_wf_fordjobs_val1"/>
          <p:cNvSpPr txBox="1"/>
          <p:nvPr/>
        </p:nvSpPr>
        <p:spPr>
          <a:xfrm>
            <a:off x="1463040" y="3767697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~338</a:t>
            </a:r>
          </a:p>
        </p:txBody>
      </p:sp>
      <p:sp>
        <p:nvSpPr>
          <p:cNvPr id="10" name="chartpart_wf_fordjobs_cat1"/>
          <p:cNvSpPr txBox="1"/>
          <p:nvPr/>
        </p:nvSpPr>
        <p:spPr>
          <a:xfrm>
            <a:off x="146304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Suppliers</a:t>
            </a:r>
          </a:p>
        </p:txBody>
      </p:sp>
      <p:sp>
        <p:nvSpPr>
          <p:cNvPr id="11" name="chartpart_wf_fordjobs_bar2"/>
          <p:cNvSpPr/>
          <p:nvPr/>
        </p:nvSpPr>
        <p:spPr>
          <a:xfrm>
            <a:off x="2624328" y="2987307"/>
            <a:ext cx="603504" cy="98155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wf_fordjobs_val2"/>
          <p:cNvSpPr txBox="1"/>
          <p:nvPr/>
        </p:nvSpPr>
        <p:spPr>
          <a:xfrm>
            <a:off x="2468880" y="2786139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~271-304</a:t>
            </a:r>
          </a:p>
        </p:txBody>
      </p:sp>
      <p:sp>
        <p:nvSpPr>
          <p:cNvPr id="13" name="chartpart_wf_fordjobs_cat2"/>
          <p:cNvSpPr txBox="1"/>
          <p:nvPr/>
        </p:nvSpPr>
        <p:spPr>
          <a:xfrm>
            <a:off x="246888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chartpart_wf_fordjobs_bar3"/>
          <p:cNvSpPr/>
          <p:nvPr/>
        </p:nvSpPr>
        <p:spPr>
          <a:xfrm>
            <a:off x="3630168" y="2378535"/>
            <a:ext cx="603504" cy="60877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part_wf_fordjobs_val3"/>
          <p:cNvSpPr txBox="1"/>
          <p:nvPr/>
        </p:nvSpPr>
        <p:spPr>
          <a:xfrm>
            <a:off x="3474720" y="2177367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~178</a:t>
            </a:r>
          </a:p>
        </p:txBody>
      </p:sp>
      <p:sp>
        <p:nvSpPr>
          <p:cNvPr id="16" name="chartpart_wf_fordjobs_cat3"/>
          <p:cNvSpPr txBox="1"/>
          <p:nvPr/>
        </p:nvSpPr>
        <p:spPr>
          <a:xfrm>
            <a:off x="347472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</a:t>
            </a:r>
          </a:p>
        </p:txBody>
      </p:sp>
      <p:sp>
        <p:nvSpPr>
          <p:cNvPr id="17" name="chartpart_wf_fordjobs_bar4"/>
          <p:cNvSpPr/>
          <p:nvPr/>
        </p:nvSpPr>
        <p:spPr>
          <a:xfrm>
            <a:off x="4636008" y="2009169"/>
            <a:ext cx="603504" cy="369366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wf_fordjobs_val4"/>
          <p:cNvSpPr txBox="1"/>
          <p:nvPr/>
        </p:nvSpPr>
        <p:spPr>
          <a:xfrm>
            <a:off x="4480560" y="1808001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~98-118</a:t>
            </a:r>
          </a:p>
        </p:txBody>
      </p:sp>
      <p:sp>
        <p:nvSpPr>
          <p:cNvPr id="19" name="chartpart_wf_fordjobs_cat4"/>
          <p:cNvSpPr txBox="1"/>
          <p:nvPr/>
        </p:nvSpPr>
        <p:spPr>
          <a:xfrm>
            <a:off x="448056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Community
(dealer sup.)</a:t>
            </a:r>
          </a:p>
        </p:txBody>
      </p:sp>
      <p:sp>
        <p:nvSpPr>
          <p:cNvPr id="20" name="chartpart_wf_fordjobs_bar5"/>
          <p:cNvSpPr/>
          <p:nvPr/>
        </p:nvSpPr>
        <p:spPr>
          <a:xfrm>
            <a:off x="5641848" y="1872366"/>
            <a:ext cx="603504" cy="13680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part_wf_fordjobs_val5"/>
          <p:cNvSpPr txBox="1"/>
          <p:nvPr/>
        </p:nvSpPr>
        <p:spPr>
          <a:xfrm>
            <a:off x="5486400" y="167119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~40</a:t>
            </a:r>
          </a:p>
        </p:txBody>
      </p:sp>
      <p:sp>
        <p:nvSpPr>
          <p:cNvPr id="22" name="chartpart_wf_fordjobs_cat5"/>
          <p:cNvSpPr txBox="1"/>
          <p:nvPr/>
        </p:nvSpPr>
        <p:spPr>
          <a:xfrm>
            <a:off x="548640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 add</a:t>
            </a:r>
          </a:p>
        </p:txBody>
      </p:sp>
      <p:sp>
        <p:nvSpPr>
          <p:cNvPr id="23" name="chartpart_wf_fordjobs_bar6"/>
          <p:cNvSpPr/>
          <p:nvPr/>
        </p:nvSpPr>
        <p:spPr>
          <a:xfrm>
            <a:off x="6647688" y="1882626"/>
            <a:ext cx="603504" cy="3539765"/>
          </a:xfrm>
          <a:prstGeom prst="rect">
            <a:avLst/>
          </a:prstGeom>
          <a:solidFill>
            <a:srgbClr val="10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wf_fordjobs_val6"/>
          <p:cNvSpPr txBox="1"/>
          <p:nvPr/>
        </p:nvSpPr>
        <p:spPr>
          <a:xfrm>
            <a:off x="6492240" y="168145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~1,010-1,060</a:t>
            </a:r>
          </a:p>
        </p:txBody>
      </p:sp>
      <p:sp>
        <p:nvSpPr>
          <p:cNvPr id="25" name="chartpart_wf_fordjobs_cat6"/>
          <p:cNvSpPr txBox="1"/>
          <p:nvPr/>
        </p:nvSpPr>
        <p:spPr>
          <a:xfrm>
            <a:off x="6492240" y="54223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Total</a:t>
            </a:r>
          </a:p>
        </p:txBody>
      </p:sp>
      <p:cxnSp>
        <p:nvCxnSpPr>
          <p:cNvPr id="26" name="chartpart_wf_fordjobs_axis"/>
          <p:cNvCxnSpPr/>
          <p:nvPr/>
        </p:nvCxnSpPr>
        <p:spPr>
          <a:xfrm>
            <a:off x="411480" y="5422392"/>
            <a:ext cx="7040880" cy="0"/>
          </a:xfrm>
          <a:prstGeom prst="bentConnector3">
            <a:avLst/>
          </a:prstGeom>
          <a:ln w="12700">
            <a:solidFill>
              <a:srgbClr val="86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hartpart_wf_fordjobs_br1_top"/>
          <p:cNvCxnSpPr/>
          <p:nvPr/>
        </p:nvCxnSpPr>
        <p:spPr>
          <a:xfrm>
            <a:off x="932688" y="1683004"/>
            <a:ext cx="279806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hartpart_wf_fordjobs_br1_l"/>
          <p:cNvCxnSpPr/>
          <p:nvPr/>
        </p:nvCxnSpPr>
        <p:spPr>
          <a:xfrm>
            <a:off x="932688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part_wf_fordjobs_br1_r"/>
          <p:cNvCxnSpPr/>
          <p:nvPr/>
        </p:nvCxnSpPr>
        <p:spPr>
          <a:xfrm>
            <a:off x="3730752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artpart_wf_fordjobs_br1_lbl"/>
          <p:cNvSpPr txBox="1"/>
          <p:nvPr/>
        </p:nvSpPr>
        <p:spPr>
          <a:xfrm>
            <a:off x="868680" y="14635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Mfg &amp; Corporate: 8-9x multiple</a:t>
            </a:r>
          </a:p>
        </p:txBody>
      </p:sp>
      <p:cxnSp>
        <p:nvCxnSpPr>
          <p:cNvPr id="31" name="chartpart_wf_fordjobs_br2_top"/>
          <p:cNvCxnSpPr/>
          <p:nvPr/>
        </p:nvCxnSpPr>
        <p:spPr>
          <a:xfrm>
            <a:off x="3950208" y="1683004"/>
            <a:ext cx="2798063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hartpart_wf_fordjobs_br2_l"/>
          <p:cNvCxnSpPr/>
          <p:nvPr/>
        </p:nvCxnSpPr>
        <p:spPr>
          <a:xfrm>
            <a:off x="3950208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hartpart_wf_fordjobs_br2_r"/>
          <p:cNvCxnSpPr/>
          <p:nvPr/>
        </p:nvCxnSpPr>
        <p:spPr>
          <a:xfrm>
            <a:off x="6748272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hartpart_wf_fordjobs_br2_lbl"/>
          <p:cNvSpPr txBox="1"/>
          <p:nvPr/>
        </p:nvSpPr>
        <p:spPr>
          <a:xfrm>
            <a:off x="3886200" y="14635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Dealers: job creation</a:t>
            </a:r>
          </a:p>
        </p:txBody>
      </p:sp>
      <p:sp>
        <p:nvSpPr>
          <p:cNvPr id="35" name="chartpart_wf_fordjobs_mult"/>
          <p:cNvSpPr txBox="1"/>
          <p:nvPr/>
        </p:nvSpPr>
        <p:spPr>
          <a:xfrm>
            <a:off x="6629400" y="142542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E9E7B"/>
                </a:solidFill>
                <a:latin typeface="Arial"/>
              </a:rPr>
              <a:t>11-12x total</a:t>
            </a:r>
          </a:p>
        </p:txBody>
      </p:sp>
      <p:sp>
        <p:nvSpPr>
          <p:cNvPr id="36" name="background_image_fordjobs"/>
          <p:cNvSpPr/>
          <p:nvPr/>
        </p:nvSpPr>
        <p:spPr>
          <a:xfrm>
            <a:off x="7635240" y="1509268"/>
            <a:ext cx="4114800" cy="4662932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erlay_image_credit"/>
          <p:cNvSpPr txBox="1"/>
          <p:nvPr/>
        </p:nvSpPr>
        <p:spPr>
          <a:xfrm>
            <a:off x="781812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  <p:sp>
        <p:nvSpPr>
          <p:cNvPr id="38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BLS (2019); Ford US supplier spending &amp; P&amp;L (2019); RIMS II ratios; Ford government relations; public dealer reports; BCG analysis.</a:t>
            </a:r>
          </a:p>
        </p:txBody>
      </p:sp>
      <p:sp>
        <p:nvSpPr>
          <p:cNvPr id="39" name="meta_pagenum_7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section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nav_eyebrow"/>
          <p:cNvSpPr txBox="1"/>
          <p:nvPr/>
        </p:nvSpPr>
        <p:spPr>
          <a:xfrm>
            <a:off x="502920" y="5486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6CFC2"/>
                </a:solidFill>
                <a:latin typeface="Arial"/>
              </a:rPr>
              <a:t>CONTENTS</a:t>
            </a:r>
          </a:p>
        </p:txBody>
      </p:sp>
      <p:sp>
        <p:nvSpPr>
          <p:cNvPr id="7" name="meta_nav_list"/>
          <p:cNvSpPr txBox="1"/>
          <p:nvPr/>
        </p:nvSpPr>
        <p:spPr>
          <a:xfrm>
            <a:off x="502920" y="100584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Employment impact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GDP impact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Manufacturing impact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Usage impact</a:t>
            </a:r>
          </a:p>
        </p:txBody>
      </p:sp>
      <p:cxnSp>
        <p:nvCxnSpPr>
          <p:cNvPr id="8" name="meta_nav_rule_1"/>
          <p:cNvCxnSpPr/>
          <p:nvPr/>
        </p:nvCxnSpPr>
        <p:spPr>
          <a:xfrm>
            <a:off x="502920" y="1728216"/>
            <a:ext cx="457200" cy="0"/>
          </a:xfrm>
          <a:prstGeom prst="bentConnector3">
            <a:avLst/>
          </a:prstGeom>
          <a:ln w="2540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"/>
          <p:cNvSpPr txBox="1"/>
          <p:nvPr/>
        </p:nvSpPr>
        <p:spPr>
          <a:xfrm>
            <a:off x="502920" y="4297680"/>
            <a:ext cx="3383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GDP impact shows Ford's broad contribution to the US economy</a:t>
            </a:r>
          </a:p>
        </p:txBody>
      </p:sp>
      <p:cxnSp>
        <p:nvCxnSpPr>
          <p:cNvPr id="10" name="title_rule"/>
          <p:cNvCxnSpPr/>
          <p:nvPr/>
        </p:nvCxnSpPr>
        <p:spPr>
          <a:xfrm>
            <a:off x="502920" y="5852160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erlay_image_credit"/>
          <p:cNvSpPr txBox="1"/>
          <p:nvPr/>
        </p:nvSpPr>
        <p:spPr>
          <a:xfrm>
            <a:off x="438912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  <p:sp>
        <p:nvSpPr>
          <p:cNvPr id="12" name="meta_pagenum_8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3856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The F-Series drives about $49 billion in US GDP through production and multipliers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3446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artpart_wf_fsgdp_bar0"/>
          <p:cNvSpPr/>
          <p:nvPr/>
        </p:nvSpPr>
        <p:spPr>
          <a:xfrm>
            <a:off x="789432" y="4573930"/>
            <a:ext cx="1133856" cy="71130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part_wf_fsgdp_val0"/>
          <p:cNvSpPr txBox="1"/>
          <p:nvPr/>
        </p:nvSpPr>
        <p:spPr>
          <a:xfrm>
            <a:off x="899160" y="437276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~11</a:t>
            </a:r>
          </a:p>
        </p:txBody>
      </p:sp>
      <p:sp>
        <p:nvSpPr>
          <p:cNvPr id="7" name="chartpart_wf_fsgdp_cat0"/>
          <p:cNvSpPr txBox="1"/>
          <p:nvPr/>
        </p:nvSpPr>
        <p:spPr>
          <a:xfrm>
            <a:off x="89916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fsgdp_bar1"/>
          <p:cNvSpPr/>
          <p:nvPr/>
        </p:nvSpPr>
        <p:spPr>
          <a:xfrm>
            <a:off x="2679192" y="3474646"/>
            <a:ext cx="1133856" cy="109928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artpart_wf_fsgdp_val1"/>
          <p:cNvSpPr txBox="1"/>
          <p:nvPr/>
        </p:nvSpPr>
        <p:spPr>
          <a:xfrm>
            <a:off x="2788920" y="327347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~17</a:t>
            </a:r>
          </a:p>
        </p:txBody>
      </p:sp>
      <p:sp>
        <p:nvSpPr>
          <p:cNvPr id="10" name="chartpart_wf_fsgdp_cat1"/>
          <p:cNvSpPr txBox="1"/>
          <p:nvPr/>
        </p:nvSpPr>
        <p:spPr>
          <a:xfrm>
            <a:off x="278892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Suppliers</a:t>
            </a:r>
          </a:p>
        </p:txBody>
      </p:sp>
      <p:sp>
        <p:nvSpPr>
          <p:cNvPr id="11" name="chartpart_wf_fsgdp_bar2"/>
          <p:cNvSpPr/>
          <p:nvPr/>
        </p:nvSpPr>
        <p:spPr>
          <a:xfrm>
            <a:off x="4568952" y="3280654"/>
            <a:ext cx="1133856" cy="19399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wf_fsgdp_val2"/>
          <p:cNvSpPr txBox="1"/>
          <p:nvPr/>
        </p:nvSpPr>
        <p:spPr>
          <a:xfrm>
            <a:off x="4678680" y="307948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~3</a:t>
            </a:r>
          </a:p>
        </p:txBody>
      </p:sp>
      <p:sp>
        <p:nvSpPr>
          <p:cNvPr id="13" name="chartpart_wf_fsgdp_cat2"/>
          <p:cNvSpPr txBox="1"/>
          <p:nvPr/>
        </p:nvSpPr>
        <p:spPr>
          <a:xfrm>
            <a:off x="467868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
(Sales)</a:t>
            </a:r>
          </a:p>
        </p:txBody>
      </p:sp>
      <p:sp>
        <p:nvSpPr>
          <p:cNvPr id="14" name="chartpart_wf_fsgdp_bar3"/>
          <p:cNvSpPr/>
          <p:nvPr/>
        </p:nvSpPr>
        <p:spPr>
          <a:xfrm>
            <a:off x="6458712" y="2957335"/>
            <a:ext cx="1133856" cy="32331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part_wf_fsgdp_val3"/>
          <p:cNvSpPr txBox="1"/>
          <p:nvPr/>
        </p:nvSpPr>
        <p:spPr>
          <a:xfrm>
            <a:off x="6568440" y="2756167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~5</a:t>
            </a:r>
          </a:p>
        </p:txBody>
      </p:sp>
      <p:sp>
        <p:nvSpPr>
          <p:cNvPr id="16" name="chartpart_wf_fsgdp_cat3"/>
          <p:cNvSpPr txBox="1"/>
          <p:nvPr/>
        </p:nvSpPr>
        <p:spPr>
          <a:xfrm>
            <a:off x="656844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
(After-sales)</a:t>
            </a:r>
          </a:p>
        </p:txBody>
      </p:sp>
      <p:sp>
        <p:nvSpPr>
          <p:cNvPr id="17" name="chartpart_wf_fsgdp_bar4"/>
          <p:cNvSpPr/>
          <p:nvPr/>
        </p:nvSpPr>
        <p:spPr>
          <a:xfrm>
            <a:off x="8348472" y="2116706"/>
            <a:ext cx="1133856" cy="840629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wf_fsgdp_val4"/>
          <p:cNvSpPr txBox="1"/>
          <p:nvPr/>
        </p:nvSpPr>
        <p:spPr>
          <a:xfrm>
            <a:off x="8458200" y="191553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~13</a:t>
            </a:r>
          </a:p>
        </p:txBody>
      </p:sp>
      <p:sp>
        <p:nvSpPr>
          <p:cNvPr id="19" name="chartpart_wf_fsgdp_cat4"/>
          <p:cNvSpPr txBox="1"/>
          <p:nvPr/>
        </p:nvSpPr>
        <p:spPr>
          <a:xfrm>
            <a:off x="845820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Community
impact</a:t>
            </a:r>
          </a:p>
        </p:txBody>
      </p:sp>
      <p:sp>
        <p:nvSpPr>
          <p:cNvPr id="20" name="chartpart_wf_fsgdp_bar5"/>
          <p:cNvSpPr/>
          <p:nvPr/>
        </p:nvSpPr>
        <p:spPr>
          <a:xfrm>
            <a:off x="10238232" y="2116706"/>
            <a:ext cx="1133856" cy="3168525"/>
          </a:xfrm>
          <a:prstGeom prst="rect">
            <a:avLst/>
          </a:prstGeom>
          <a:solidFill>
            <a:srgbClr val="10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part_wf_fsgdp_val5"/>
          <p:cNvSpPr txBox="1"/>
          <p:nvPr/>
        </p:nvSpPr>
        <p:spPr>
          <a:xfrm>
            <a:off x="10347960" y="191553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~49</a:t>
            </a:r>
          </a:p>
        </p:txBody>
      </p:sp>
      <p:sp>
        <p:nvSpPr>
          <p:cNvPr id="22" name="chartpart_wf_fsgdp_cat5"/>
          <p:cNvSpPr txBox="1"/>
          <p:nvPr/>
        </p:nvSpPr>
        <p:spPr>
          <a:xfrm>
            <a:off x="1034796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Total</a:t>
            </a:r>
          </a:p>
        </p:txBody>
      </p:sp>
      <p:cxnSp>
        <p:nvCxnSpPr>
          <p:cNvPr id="23" name="chartpart_wf_fsgdp_axis"/>
          <p:cNvCxnSpPr/>
          <p:nvPr/>
        </p:nvCxnSpPr>
        <p:spPr>
          <a:xfrm>
            <a:off x="411480" y="5285231"/>
            <a:ext cx="11338560" cy="0"/>
          </a:xfrm>
          <a:prstGeom prst="bentConnector3">
            <a:avLst/>
          </a:prstGeom>
          <a:ln w="12700">
            <a:solidFill>
              <a:srgbClr val="86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part_wf_fsgdp_br1_top"/>
          <p:cNvCxnSpPr/>
          <p:nvPr/>
        </p:nvCxnSpPr>
        <p:spPr>
          <a:xfrm>
            <a:off x="1109472" y="1683004"/>
            <a:ext cx="6986016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part_wf_fsgdp_br1_l"/>
          <p:cNvCxnSpPr/>
          <p:nvPr/>
        </p:nvCxnSpPr>
        <p:spPr>
          <a:xfrm>
            <a:off x="1109472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hartpart_wf_fsgdp_br1_r"/>
          <p:cNvCxnSpPr/>
          <p:nvPr/>
        </p:nvCxnSpPr>
        <p:spPr>
          <a:xfrm>
            <a:off x="8095488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fsgdp_br1_lbl"/>
          <p:cNvSpPr txBox="1"/>
          <p:nvPr/>
        </p:nvSpPr>
        <p:spPr>
          <a:xfrm>
            <a:off x="3139440" y="14635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Product GDP: manufacturing &amp; sales ($31B)</a:t>
            </a:r>
          </a:p>
        </p:txBody>
      </p:sp>
      <p:cxnSp>
        <p:nvCxnSpPr>
          <p:cNvPr id="28" name="chartpart_wf_fsgdp_br2_top"/>
          <p:cNvCxnSpPr/>
          <p:nvPr/>
        </p:nvCxnSpPr>
        <p:spPr>
          <a:xfrm>
            <a:off x="8668512" y="1683004"/>
            <a:ext cx="1316735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part_wf_fsgdp_br2_l"/>
          <p:cNvCxnSpPr/>
          <p:nvPr/>
        </p:nvCxnSpPr>
        <p:spPr>
          <a:xfrm>
            <a:off x="8668512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part_wf_fsgdp_br2_r"/>
          <p:cNvCxnSpPr/>
          <p:nvPr/>
        </p:nvCxnSpPr>
        <p:spPr>
          <a:xfrm>
            <a:off x="9985248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part_wf_fsgdp_br2_lbl"/>
          <p:cNvSpPr txBox="1"/>
          <p:nvPr/>
        </p:nvSpPr>
        <p:spPr>
          <a:xfrm>
            <a:off x="7863840" y="14635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Multiplier: after-sales &amp; respending ($18B)</a:t>
            </a:r>
          </a:p>
        </p:txBody>
      </p:sp>
      <p:sp>
        <p:nvSpPr>
          <p:cNvPr id="32" name="chartpart_wf_fsgdp_mult"/>
          <p:cNvSpPr txBox="1"/>
          <p:nvPr/>
        </p:nvSpPr>
        <p:spPr>
          <a:xfrm>
            <a:off x="10433304" y="165950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E9E7B"/>
                </a:solidFill>
                <a:latin typeface="Arial"/>
              </a:rPr>
              <a:t>13-14x total</a:t>
            </a:r>
          </a:p>
        </p:txBody>
      </p:sp>
      <p:sp>
        <p:nvSpPr>
          <p:cNvPr id="33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BLS (2019); F-Series supplier spending &amp; P&amp;L (2019); RIMS II ratios; Ford government relations; public dealer reports; BCG analysis.</a:t>
            </a:r>
          </a:p>
        </p:txBody>
      </p:sp>
      <p:sp>
        <p:nvSpPr>
          <p:cNvPr id="34" name="meta_pagenum_9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3856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USA drives about $100 billion in US GDP through production and multipliers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3446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artpart_wf_fordgdp_bar0"/>
          <p:cNvSpPr/>
          <p:nvPr/>
        </p:nvSpPr>
        <p:spPr>
          <a:xfrm>
            <a:off x="789432" y="4670926"/>
            <a:ext cx="1133856" cy="61430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part_wf_fordgdp_val0"/>
          <p:cNvSpPr txBox="1"/>
          <p:nvPr/>
        </p:nvSpPr>
        <p:spPr>
          <a:xfrm>
            <a:off x="899160" y="446975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~19</a:t>
            </a:r>
          </a:p>
        </p:txBody>
      </p:sp>
      <p:sp>
        <p:nvSpPr>
          <p:cNvPr id="7" name="chartpart_wf_fordgdp_cat0"/>
          <p:cNvSpPr txBox="1"/>
          <p:nvPr/>
        </p:nvSpPr>
        <p:spPr>
          <a:xfrm>
            <a:off x="89916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fordgdp_bar1"/>
          <p:cNvSpPr/>
          <p:nvPr/>
        </p:nvSpPr>
        <p:spPr>
          <a:xfrm>
            <a:off x="2679192" y="3636305"/>
            <a:ext cx="1133856" cy="10346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artpart_wf_fordgdp_val1"/>
          <p:cNvSpPr txBox="1"/>
          <p:nvPr/>
        </p:nvSpPr>
        <p:spPr>
          <a:xfrm>
            <a:off x="2788920" y="3435137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~32</a:t>
            </a:r>
          </a:p>
        </p:txBody>
      </p:sp>
      <p:sp>
        <p:nvSpPr>
          <p:cNvPr id="10" name="chartpart_wf_fordgdp_cat1"/>
          <p:cNvSpPr txBox="1"/>
          <p:nvPr/>
        </p:nvSpPr>
        <p:spPr>
          <a:xfrm>
            <a:off x="278892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Suppliers</a:t>
            </a:r>
          </a:p>
        </p:txBody>
      </p:sp>
      <p:sp>
        <p:nvSpPr>
          <p:cNvPr id="11" name="chartpart_wf_fordgdp_bar2"/>
          <p:cNvSpPr/>
          <p:nvPr/>
        </p:nvSpPr>
        <p:spPr>
          <a:xfrm>
            <a:off x="4568952" y="3409982"/>
            <a:ext cx="1133856" cy="226323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wf_fordgdp_val2"/>
          <p:cNvSpPr txBox="1"/>
          <p:nvPr/>
        </p:nvSpPr>
        <p:spPr>
          <a:xfrm>
            <a:off x="4678680" y="320881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~7</a:t>
            </a:r>
          </a:p>
        </p:txBody>
      </p:sp>
      <p:sp>
        <p:nvSpPr>
          <p:cNvPr id="13" name="chartpart_wf_fordgdp_cat2"/>
          <p:cNvSpPr txBox="1"/>
          <p:nvPr/>
        </p:nvSpPr>
        <p:spPr>
          <a:xfrm>
            <a:off x="467868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
(Sales)</a:t>
            </a:r>
          </a:p>
        </p:txBody>
      </p:sp>
      <p:sp>
        <p:nvSpPr>
          <p:cNvPr id="14" name="chartpart_wf_fordgdp_bar3"/>
          <p:cNvSpPr/>
          <p:nvPr/>
        </p:nvSpPr>
        <p:spPr>
          <a:xfrm>
            <a:off x="6458712" y="2989667"/>
            <a:ext cx="1133856" cy="42031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part_wf_fordgdp_val3"/>
          <p:cNvSpPr txBox="1"/>
          <p:nvPr/>
        </p:nvSpPr>
        <p:spPr>
          <a:xfrm>
            <a:off x="6568440" y="2788499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~13</a:t>
            </a:r>
          </a:p>
        </p:txBody>
      </p:sp>
      <p:sp>
        <p:nvSpPr>
          <p:cNvPr id="16" name="chartpart_wf_fordgdp_cat3"/>
          <p:cNvSpPr txBox="1"/>
          <p:nvPr/>
        </p:nvSpPr>
        <p:spPr>
          <a:xfrm>
            <a:off x="656844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Dealers
(After-sales)</a:t>
            </a:r>
          </a:p>
        </p:txBody>
      </p:sp>
      <p:sp>
        <p:nvSpPr>
          <p:cNvPr id="17" name="chartpart_wf_fordgdp_bar4"/>
          <p:cNvSpPr/>
          <p:nvPr/>
        </p:nvSpPr>
        <p:spPr>
          <a:xfrm>
            <a:off x="8348472" y="2052042"/>
            <a:ext cx="1133856" cy="93762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wf_fordgdp_val4"/>
          <p:cNvSpPr txBox="1"/>
          <p:nvPr/>
        </p:nvSpPr>
        <p:spPr>
          <a:xfrm>
            <a:off x="8458200" y="185087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~29</a:t>
            </a:r>
          </a:p>
        </p:txBody>
      </p:sp>
      <p:sp>
        <p:nvSpPr>
          <p:cNvPr id="19" name="chartpart_wf_fordgdp_cat4"/>
          <p:cNvSpPr txBox="1"/>
          <p:nvPr/>
        </p:nvSpPr>
        <p:spPr>
          <a:xfrm>
            <a:off x="845820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Community
impact</a:t>
            </a:r>
          </a:p>
        </p:txBody>
      </p:sp>
      <p:sp>
        <p:nvSpPr>
          <p:cNvPr id="20" name="chartpart_wf_fordgdp_bar5"/>
          <p:cNvSpPr/>
          <p:nvPr/>
        </p:nvSpPr>
        <p:spPr>
          <a:xfrm>
            <a:off x="10238232" y="2052042"/>
            <a:ext cx="1133856" cy="3233189"/>
          </a:xfrm>
          <a:prstGeom prst="rect">
            <a:avLst/>
          </a:prstGeom>
          <a:solidFill>
            <a:srgbClr val="10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part_wf_fordgdp_val5"/>
          <p:cNvSpPr txBox="1"/>
          <p:nvPr/>
        </p:nvSpPr>
        <p:spPr>
          <a:xfrm>
            <a:off x="10347960" y="185087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~100</a:t>
            </a:r>
          </a:p>
        </p:txBody>
      </p:sp>
      <p:sp>
        <p:nvSpPr>
          <p:cNvPr id="22" name="chartpart_wf_fordgdp_cat5"/>
          <p:cNvSpPr txBox="1"/>
          <p:nvPr/>
        </p:nvSpPr>
        <p:spPr>
          <a:xfrm>
            <a:off x="10347960" y="5285231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Total</a:t>
            </a:r>
          </a:p>
        </p:txBody>
      </p:sp>
      <p:cxnSp>
        <p:nvCxnSpPr>
          <p:cNvPr id="23" name="chartpart_wf_fordgdp_axis"/>
          <p:cNvCxnSpPr/>
          <p:nvPr/>
        </p:nvCxnSpPr>
        <p:spPr>
          <a:xfrm>
            <a:off x="411480" y="5285231"/>
            <a:ext cx="11338560" cy="0"/>
          </a:xfrm>
          <a:prstGeom prst="bentConnector3">
            <a:avLst/>
          </a:prstGeom>
          <a:ln w="12700">
            <a:solidFill>
              <a:srgbClr val="86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part_wf_fordgdp_br1_top"/>
          <p:cNvCxnSpPr/>
          <p:nvPr/>
        </p:nvCxnSpPr>
        <p:spPr>
          <a:xfrm>
            <a:off x="1109472" y="1683004"/>
            <a:ext cx="6986016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part_wf_fordgdp_br1_l"/>
          <p:cNvCxnSpPr/>
          <p:nvPr/>
        </p:nvCxnSpPr>
        <p:spPr>
          <a:xfrm>
            <a:off x="1109472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hartpart_wf_fordgdp_br1_r"/>
          <p:cNvCxnSpPr/>
          <p:nvPr/>
        </p:nvCxnSpPr>
        <p:spPr>
          <a:xfrm>
            <a:off x="8095488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fordgdp_br1_lbl"/>
          <p:cNvSpPr txBox="1"/>
          <p:nvPr/>
        </p:nvSpPr>
        <p:spPr>
          <a:xfrm>
            <a:off x="3139440" y="14635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Product GDP: manufacturing &amp; sales ($58B)</a:t>
            </a:r>
          </a:p>
        </p:txBody>
      </p:sp>
      <p:cxnSp>
        <p:nvCxnSpPr>
          <p:cNvPr id="28" name="chartpart_wf_fordgdp_br2_top"/>
          <p:cNvCxnSpPr/>
          <p:nvPr/>
        </p:nvCxnSpPr>
        <p:spPr>
          <a:xfrm>
            <a:off x="8668512" y="1683004"/>
            <a:ext cx="1316735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part_wf_fordgdp_br2_l"/>
          <p:cNvCxnSpPr/>
          <p:nvPr/>
        </p:nvCxnSpPr>
        <p:spPr>
          <a:xfrm>
            <a:off x="8668512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part_wf_fordgdp_br2_r"/>
          <p:cNvCxnSpPr/>
          <p:nvPr/>
        </p:nvCxnSpPr>
        <p:spPr>
          <a:xfrm>
            <a:off x="9985248" y="1683004"/>
            <a:ext cx="0" cy="73152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part_wf_fordgdp_br2_lbl"/>
          <p:cNvSpPr txBox="1"/>
          <p:nvPr/>
        </p:nvSpPr>
        <p:spPr>
          <a:xfrm>
            <a:off x="7863840" y="14635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Multiplier: after-sales &amp; respending ($42B)</a:t>
            </a:r>
          </a:p>
        </p:txBody>
      </p:sp>
      <p:sp>
        <p:nvSpPr>
          <p:cNvPr id="32" name="chartpart_wf_fordgdp_mult"/>
          <p:cNvSpPr txBox="1"/>
          <p:nvPr/>
        </p:nvSpPr>
        <p:spPr>
          <a:xfrm>
            <a:off x="10433304" y="159484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E9E7B"/>
                </a:solidFill>
                <a:latin typeface="Arial"/>
              </a:rPr>
              <a:t>11-12x total</a:t>
            </a:r>
          </a:p>
        </p:txBody>
      </p:sp>
      <p:sp>
        <p:nvSpPr>
          <p:cNvPr id="33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BLS (2019); Ford US supplier spending &amp; P&amp;L (2019); RIMS II ratios; Ford government relations; public dealer reports; BCG analysis.</a:t>
            </a:r>
          </a:p>
        </p:txBody>
      </p:sp>
      <p:sp>
        <p:nvSpPr>
          <p:cNvPr id="34" name="meta_pagenum_10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section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nav_eyebrow"/>
          <p:cNvSpPr txBox="1"/>
          <p:nvPr/>
        </p:nvSpPr>
        <p:spPr>
          <a:xfrm>
            <a:off x="502920" y="5486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6CFC2"/>
                </a:solidFill>
                <a:latin typeface="Arial"/>
              </a:rPr>
              <a:t>CONTENTS</a:t>
            </a:r>
          </a:p>
        </p:txBody>
      </p:sp>
      <p:sp>
        <p:nvSpPr>
          <p:cNvPr id="7" name="meta_nav_list"/>
          <p:cNvSpPr txBox="1"/>
          <p:nvPr/>
        </p:nvSpPr>
        <p:spPr>
          <a:xfrm>
            <a:off x="502920" y="100584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Employment impact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GDP impact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Manufacturing impact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Usage impact</a:t>
            </a:r>
          </a:p>
        </p:txBody>
      </p:sp>
      <p:cxnSp>
        <p:nvCxnSpPr>
          <p:cNvPr id="8" name="meta_nav_rule_2"/>
          <p:cNvCxnSpPr/>
          <p:nvPr/>
        </p:nvCxnSpPr>
        <p:spPr>
          <a:xfrm>
            <a:off x="502920" y="2112264"/>
            <a:ext cx="457200" cy="0"/>
          </a:xfrm>
          <a:prstGeom prst="bentConnector3">
            <a:avLst/>
          </a:prstGeom>
          <a:ln w="2540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"/>
          <p:cNvSpPr txBox="1"/>
          <p:nvPr/>
        </p:nvSpPr>
        <p:spPr>
          <a:xfrm>
            <a:off x="502920" y="4297680"/>
            <a:ext cx="3383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Manufacturing impact shows Ford's leadership in US vehicle assembly</a:t>
            </a:r>
          </a:p>
        </p:txBody>
      </p:sp>
      <p:cxnSp>
        <p:nvCxnSpPr>
          <p:cNvPr id="10" name="title_rule"/>
          <p:cNvCxnSpPr/>
          <p:nvPr/>
        </p:nvCxnSpPr>
        <p:spPr>
          <a:xfrm>
            <a:off x="502920" y="5852160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erlay_image_credit"/>
          <p:cNvSpPr txBox="1"/>
          <p:nvPr/>
        </p:nvSpPr>
        <p:spPr>
          <a:xfrm>
            <a:off x="438912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  <p:sp>
        <p:nvSpPr>
          <p:cNvPr id="12" name="meta_pagenum_11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713232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leads US pickup assembly, twice the next competitor in 2019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446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itle"/>
          <p:cNvSpPr txBox="1"/>
          <p:nvPr/>
        </p:nvSpPr>
        <p:spPr>
          <a:xfrm>
            <a:off x="411480" y="150926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Full-size pickup trucks assembled in the US (thousands)</a:t>
            </a:r>
          </a:p>
        </p:txBody>
      </p:sp>
      <p:graphicFrame>
        <p:nvGraphicFramePr>
          <p:cNvPr id="5" name="chart_mfg2x"/>
          <p:cNvGraphicFramePr>
            <a:graphicFrameLocks noGrp="1"/>
          </p:cNvGraphicFramePr>
          <p:nvPr/>
        </p:nvGraphicFramePr>
        <p:xfrm>
          <a:off x="411480" y="1820164"/>
          <a:ext cx="7040880" cy="412343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verlay_callout_mfg2x"/>
          <p:cNvSpPr txBox="1"/>
          <p:nvPr/>
        </p:nvSpPr>
        <p:spPr>
          <a:xfrm>
            <a:off x="5486400" y="22773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9E7B"/>
                </a:solidFill>
                <a:latin typeface="Georgia"/>
              </a:rPr>
              <a:t>2.1x</a:t>
            </a:r>
          </a:p>
        </p:txBody>
      </p:sp>
      <p:sp>
        <p:nvSpPr>
          <p:cNvPr id="7" name="background_image_mfg2x"/>
          <p:cNvSpPr/>
          <p:nvPr/>
        </p:nvSpPr>
        <p:spPr>
          <a:xfrm>
            <a:off x="7635240" y="1820164"/>
            <a:ext cx="4114800" cy="4352036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image_credit"/>
          <p:cNvSpPr txBox="1"/>
          <p:nvPr/>
        </p:nvSpPr>
        <p:spPr>
          <a:xfrm>
            <a:off x="781812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IHS Markit CYE 2019 US Light Vehicle Production data; BCG analysis.  Note: GM pickup brands include Sierra and Silverado.</a:t>
            </a:r>
          </a:p>
        </p:txBody>
      </p:sp>
      <p:sp>
        <p:nvSpPr>
          <p:cNvPr id="10" name="meta_pagenum_12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658368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is responsible for one in five vehicles assembled in the US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446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chart_mfg15"/>
          <p:cNvSpPr txBox="1"/>
          <p:nvPr/>
        </p:nvSpPr>
        <p:spPr>
          <a:xfrm>
            <a:off x="411480" y="132638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% of US vehicle assembly</a:t>
            </a:r>
          </a:p>
        </p:txBody>
      </p:sp>
      <p:graphicFrame>
        <p:nvGraphicFramePr>
          <p:cNvPr id="5" name="chart_mfg15"/>
          <p:cNvGraphicFramePr>
            <a:graphicFrameLocks noGrp="1"/>
          </p:cNvGraphicFramePr>
          <p:nvPr/>
        </p:nvGraphicFramePr>
        <p:xfrm>
          <a:off x="411480" y="1509268"/>
          <a:ext cx="6583680" cy="443433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_table_mfg15"/>
          <p:cNvSpPr txBox="1"/>
          <p:nvPr/>
        </p:nvSpPr>
        <p:spPr>
          <a:xfrm>
            <a:off x="7498079" y="13263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Vehicles assembled, 2019 (thousands)</a:t>
            </a:r>
          </a:p>
        </p:txBody>
      </p:sp>
      <p:graphicFrame>
        <p:nvGraphicFramePr>
          <p:cNvPr id="7" name="table_mfg15"/>
          <p:cNvGraphicFramePr>
            <a:graphicFrameLocks noGrp="1"/>
          </p:cNvGraphicFramePr>
          <p:nvPr/>
        </p:nvGraphicFramePr>
        <p:xfrm>
          <a:off x="7498079" y="1509268"/>
          <a:ext cx="39319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Maker</a:t>
                      </a:r>
                    </a:p>
                  </a:txBody>
                  <a:tcPr>
                    <a:solidFill>
                      <a:srgbClr val="1B6B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Vehicles</a:t>
                      </a:r>
                    </a:p>
                  </a:txBody>
                  <a:tcPr>
                    <a:solidFill>
                      <a:srgbClr val="1B6B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2,170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1,677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FCA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1,420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1,195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Honda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1,205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Others¹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2,926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B2638"/>
                          </a:solidFill>
                          <a:latin typeface="Arial"/>
                        </a:rPr>
                        <a:t>10,593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IHS Markit CYE 2019 US Light Vehicle Production data; BCG analysis.  ¹Including BMW, Daimler, Hyundai, Kia, Tesla, VW and others.</a:t>
            </a:r>
          </a:p>
        </p:txBody>
      </p:sp>
      <p:sp>
        <p:nvSpPr>
          <p:cNvPr id="9" name="meta_pagenum_13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713232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An external study shows the F-150 is the most American-made full-size pickup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446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itle"/>
          <p:cNvSpPr txBox="1"/>
          <p:nvPr/>
        </p:nvSpPr>
        <p:spPr>
          <a:xfrm>
            <a:off x="411480" y="150926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Kogod Made in America Index vs vehicles sold 2019 (thousands)</a:t>
            </a:r>
          </a:p>
        </p:txBody>
      </p:sp>
      <p:graphicFrame>
        <p:nvGraphicFramePr>
          <p:cNvPr id="5" name="chart_scatter_am"/>
          <p:cNvGraphicFramePr>
            <a:graphicFrameLocks noGrp="1"/>
          </p:cNvGraphicFramePr>
          <p:nvPr/>
        </p:nvGraphicFramePr>
        <p:xfrm>
          <a:off x="411480" y="1820164"/>
          <a:ext cx="7040880" cy="412343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verlay_annot_am"/>
          <p:cNvSpPr txBox="1"/>
          <p:nvPr/>
        </p:nvSpPr>
        <p:spPr>
          <a:xfrm>
            <a:off x="4023360" y="2094484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2638"/>
                </a:solidFill>
                <a:latin typeface="Arial"/>
              </a:rPr>
              <a:t>The F-150 leads in vehicles sold and as the most American-made truck</a:t>
            </a:r>
          </a:p>
        </p:txBody>
      </p:sp>
      <p:sp>
        <p:nvSpPr>
          <p:cNvPr id="7" name="background_image_am"/>
          <p:cNvSpPr/>
          <p:nvPr/>
        </p:nvSpPr>
        <p:spPr>
          <a:xfrm>
            <a:off x="7635240" y="1820164"/>
            <a:ext cx="4114800" cy="4352036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image_credit"/>
          <p:cNvSpPr txBox="1"/>
          <p:nvPr/>
        </p:nvSpPr>
        <p:spPr>
          <a:xfrm>
            <a:off x="781812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Made in America Auto Index (Kogod School of Business, American University); BCG analysis.</a:t>
            </a:r>
          </a:p>
        </p:txBody>
      </p:sp>
      <p:sp>
        <p:nvSpPr>
          <p:cNvPr id="10" name="meta_pagenum_14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image_pat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erlay_image_credit"/>
          <p:cNvSpPr txBox="1"/>
          <p:nvPr/>
        </p:nvSpPr>
        <p:spPr>
          <a:xfrm>
            <a:off x="27432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206240" y="457200"/>
            <a:ext cx="758952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Ford leads the auto industry in combined quality and recency of patents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206240" y="13446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ption_title"/>
          <p:cNvSpPr txBox="1"/>
          <p:nvPr/>
        </p:nvSpPr>
        <p:spPr>
          <a:xfrm>
            <a:off x="4206240" y="15092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1B2638"/>
                </a:solidFill>
                <a:latin typeface="Arial"/>
              </a:rPr>
              <a:t>Average Competitive Impact (patent value) vs Freshness % (2017)</a:t>
            </a:r>
          </a:p>
        </p:txBody>
      </p:sp>
      <p:graphicFrame>
        <p:nvGraphicFramePr>
          <p:cNvPr id="7" name="chart_bubble_pat"/>
          <p:cNvGraphicFramePr>
            <a:graphicFrameLocks noGrp="1"/>
          </p:cNvGraphicFramePr>
          <p:nvPr/>
        </p:nvGraphicFramePr>
        <p:xfrm>
          <a:off x="4206240" y="1820164"/>
          <a:ext cx="7589520" cy="412343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overlay_annot_pat"/>
          <p:cNvSpPr txBox="1"/>
          <p:nvPr/>
        </p:nvSpPr>
        <p:spPr>
          <a:xfrm>
            <a:off x="7955279" y="2094484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2638"/>
                </a:solidFill>
                <a:latin typeface="Arial"/>
              </a:rPr>
              <a:t>Ford leads in both patent Competitive Impact and Freshness</a:t>
            </a:r>
          </a:p>
        </p:txBody>
      </p:sp>
      <p:sp>
        <p:nvSpPr>
          <p:cNvPr id="9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LexisNexis PatentSight; BCG Center for Growth &amp; Innovation Analytics.</a:t>
            </a:r>
          </a:p>
        </p:txBody>
      </p:sp>
      <p:sp>
        <p:nvSpPr>
          <p:cNvPr id="10" name="meta_pagenum_15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ta_eyebrow"/>
          <p:cNvSpPr txBox="1"/>
          <p:nvPr/>
        </p:nvSpPr>
        <p:spPr>
          <a:xfrm>
            <a:off x="411480" y="2743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6CFC2"/>
                </a:solidFill>
                <a:latin typeface="Arial"/>
              </a:rPr>
              <a:t>ILLUSTRATIVE EXAMPLES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502920" y="502920"/>
            <a:ext cx="3383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Ford's IP shows innovation across many different industries</a:t>
            </a:r>
          </a:p>
        </p:txBody>
      </p:sp>
      <p:cxnSp>
        <p:nvCxnSpPr>
          <p:cNvPr id="7" name="title_rule"/>
          <p:cNvCxnSpPr/>
          <p:nvPr/>
        </p:nvCxnSpPr>
        <p:spPr>
          <a:xfrm>
            <a:off x="502920" y="2971800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ody_side_stat"/>
          <p:cNvSpPr txBox="1"/>
          <p:nvPr/>
        </p:nvSpPr>
        <p:spPr>
          <a:xfrm>
            <a:off x="502920" y="3200400"/>
            <a:ext cx="3291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E9E7B"/>
                </a:solidFill>
                <a:latin typeface="Georgia"/>
              </a:rPr>
              <a:t>~23,000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9EDF3"/>
                </a:solidFill>
                <a:latin typeface="Arial"/>
              </a:rPr>
              <a:t>times cited across different industries (2013-2017)</a:t>
            </a:r>
          </a:p>
        </p:txBody>
      </p:sp>
      <p:sp>
        <p:nvSpPr>
          <p:cNvPr id="9" name="background_grid_0"/>
          <p:cNvSpPr/>
          <p:nvPr/>
        </p:nvSpPr>
        <p:spPr>
          <a:xfrm>
            <a:off x="4343400" y="868680"/>
            <a:ext cx="1700784" cy="2286000"/>
          </a:xfrm>
          <a:prstGeom prst="rect">
            <a:avLst/>
          </a:prstGeom>
          <a:solidFill>
            <a:srgbClr val="F4F6F5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_grid_0"/>
          <p:cNvSpPr txBox="1"/>
          <p:nvPr/>
        </p:nvSpPr>
        <p:spPr>
          <a:xfrm>
            <a:off x="4507992" y="1033271"/>
            <a:ext cx="137160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Aircraft monitoring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Arial"/>
              </a:rPr>
              <a:t>Aircraft-operating-data monitor gives an integrated view of asset health</a:t>
            </a:r>
          </a:p>
        </p:txBody>
      </p:sp>
      <p:sp>
        <p:nvSpPr>
          <p:cNvPr id="11" name="background_grid_1"/>
          <p:cNvSpPr/>
          <p:nvPr/>
        </p:nvSpPr>
        <p:spPr>
          <a:xfrm>
            <a:off x="6245352" y="868680"/>
            <a:ext cx="1700784" cy="2286000"/>
          </a:xfrm>
          <a:prstGeom prst="rect">
            <a:avLst/>
          </a:prstGeom>
          <a:solidFill>
            <a:srgbClr val="F4F6F5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dy_grid_1"/>
          <p:cNvSpPr txBox="1"/>
          <p:nvPr/>
        </p:nvSpPr>
        <p:spPr>
          <a:xfrm>
            <a:off x="6409944" y="1033271"/>
            <a:ext cx="137160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Surgical robotics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Arial"/>
              </a:rPr>
              <a:t>System controlling an articulating arm for robot-assisted surgery</a:t>
            </a:r>
          </a:p>
        </p:txBody>
      </p:sp>
      <p:sp>
        <p:nvSpPr>
          <p:cNvPr id="13" name="background_grid_2"/>
          <p:cNvSpPr/>
          <p:nvPr/>
        </p:nvSpPr>
        <p:spPr>
          <a:xfrm>
            <a:off x="8147304" y="868680"/>
            <a:ext cx="1700784" cy="2286000"/>
          </a:xfrm>
          <a:prstGeom prst="rect">
            <a:avLst/>
          </a:prstGeom>
          <a:solidFill>
            <a:srgbClr val="F4F6F5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dy_grid_2"/>
          <p:cNvSpPr txBox="1"/>
          <p:nvPr/>
        </p:nvSpPr>
        <p:spPr>
          <a:xfrm>
            <a:off x="8311896" y="1033271"/>
            <a:ext cx="137160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Exercise machine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Arial"/>
              </a:rPr>
              <a:t>Exercise program based on real-world routes with video and topography</a:t>
            </a:r>
          </a:p>
        </p:txBody>
      </p:sp>
      <p:sp>
        <p:nvSpPr>
          <p:cNvPr id="15" name="background_grid_3"/>
          <p:cNvSpPr/>
          <p:nvPr/>
        </p:nvSpPr>
        <p:spPr>
          <a:xfrm>
            <a:off x="10049256" y="868680"/>
            <a:ext cx="1700784" cy="2286000"/>
          </a:xfrm>
          <a:prstGeom prst="rect">
            <a:avLst/>
          </a:prstGeom>
          <a:solidFill>
            <a:srgbClr val="F4F6F5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ody_grid_3"/>
          <p:cNvSpPr txBox="1"/>
          <p:nvPr/>
        </p:nvSpPr>
        <p:spPr>
          <a:xfrm>
            <a:off x="10213848" y="1033271"/>
            <a:ext cx="137160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Vision technology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Arial"/>
              </a:rPr>
              <a:t>Machine-learning program analyzes body language for human-robot interaction</a:t>
            </a:r>
          </a:p>
        </p:txBody>
      </p:sp>
      <p:sp>
        <p:nvSpPr>
          <p:cNvPr id="17" name="background_grid_4"/>
          <p:cNvSpPr/>
          <p:nvPr/>
        </p:nvSpPr>
        <p:spPr>
          <a:xfrm>
            <a:off x="4343400" y="3429000"/>
            <a:ext cx="1700784" cy="2286000"/>
          </a:xfrm>
          <a:prstGeom prst="rect">
            <a:avLst/>
          </a:prstGeom>
          <a:solidFill>
            <a:srgbClr val="F4F6F5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_grid_4"/>
          <p:cNvSpPr txBox="1"/>
          <p:nvPr/>
        </p:nvSpPr>
        <p:spPr>
          <a:xfrm>
            <a:off x="4507992" y="3593592"/>
            <a:ext cx="137160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Medtech devices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Arial"/>
              </a:rPr>
              <a:t>Medical treatment device and method for stimulating neurons of a patient</a:t>
            </a:r>
          </a:p>
        </p:txBody>
      </p:sp>
      <p:sp>
        <p:nvSpPr>
          <p:cNvPr id="19" name="background_grid_5"/>
          <p:cNvSpPr/>
          <p:nvPr/>
        </p:nvSpPr>
        <p:spPr>
          <a:xfrm>
            <a:off x="6245352" y="3429000"/>
            <a:ext cx="1700784" cy="2286000"/>
          </a:xfrm>
          <a:prstGeom prst="rect">
            <a:avLst/>
          </a:prstGeom>
          <a:solidFill>
            <a:srgbClr val="F4F6F5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_grid_5"/>
          <p:cNvSpPr txBox="1"/>
          <p:nvPr/>
        </p:nvSpPr>
        <p:spPr>
          <a:xfrm>
            <a:off x="6409944" y="3593592"/>
            <a:ext cx="137160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Health care / pharmacy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Arial"/>
              </a:rPr>
              <a:t>Controlled release of peptide formulations to administration devices</a:t>
            </a:r>
          </a:p>
        </p:txBody>
      </p:sp>
      <p:sp>
        <p:nvSpPr>
          <p:cNvPr id="21" name="background_grid_6"/>
          <p:cNvSpPr/>
          <p:nvPr/>
        </p:nvSpPr>
        <p:spPr>
          <a:xfrm>
            <a:off x="8147304" y="3429000"/>
            <a:ext cx="1700784" cy="2286000"/>
          </a:xfrm>
          <a:prstGeom prst="rect">
            <a:avLst/>
          </a:prstGeom>
          <a:solidFill>
            <a:srgbClr val="F4F6F5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dy_grid_6"/>
          <p:cNvSpPr txBox="1"/>
          <p:nvPr/>
        </p:nvSpPr>
        <p:spPr>
          <a:xfrm>
            <a:off x="8311896" y="3593592"/>
            <a:ext cx="137160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Audio technology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Arial"/>
              </a:rPr>
              <a:t>Voice-activated virtual assistant using a wireless earpiece</a:t>
            </a:r>
          </a:p>
        </p:txBody>
      </p:sp>
      <p:sp>
        <p:nvSpPr>
          <p:cNvPr id="23" name="background_grid_7"/>
          <p:cNvSpPr/>
          <p:nvPr/>
        </p:nvSpPr>
        <p:spPr>
          <a:xfrm>
            <a:off x="10049256" y="3429000"/>
            <a:ext cx="1700784" cy="2286000"/>
          </a:xfrm>
          <a:prstGeom prst="rect">
            <a:avLst/>
          </a:prstGeom>
          <a:solidFill>
            <a:srgbClr val="F4F6F5"/>
          </a:solidFill>
          <a:ln w="9525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_grid_7"/>
          <p:cNvSpPr txBox="1"/>
          <p:nvPr/>
        </p:nvSpPr>
        <p:spPr>
          <a:xfrm>
            <a:off x="10213848" y="3593592"/>
            <a:ext cx="1371600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9E7B"/>
                </a:solidFill>
                <a:latin typeface="Arial"/>
              </a:rPr>
              <a:t>Home automation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677"/>
                </a:solidFill>
                <a:latin typeface="Arial"/>
              </a:rPr>
              <a:t>Detection and mitigation of harmful gases via home automation systems</a:t>
            </a:r>
          </a:p>
        </p:txBody>
      </p:sp>
      <p:sp>
        <p:nvSpPr>
          <p:cNvPr id="25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LexisNexis PatentSight; BCG Center for Growth &amp; Innovation Analytics.</a:t>
            </a:r>
          </a:p>
        </p:txBody>
      </p:sp>
      <p:sp>
        <p:nvSpPr>
          <p:cNvPr id="26" name="meta_pagenum_16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section"/>
          <p:cNvSpPr/>
          <p:nvPr/>
        </p:nvSpPr>
        <p:spPr>
          <a:xfrm>
            <a:off x="4206240" y="0"/>
            <a:ext cx="7985455" cy="6858000"/>
          </a:xfrm>
          <a:prstGeom prst="rect">
            <a:avLst/>
          </a:prstGeom>
          <a:solidFill>
            <a:srgbClr val="33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nav_eyebrow"/>
          <p:cNvSpPr txBox="1"/>
          <p:nvPr/>
        </p:nvSpPr>
        <p:spPr>
          <a:xfrm>
            <a:off x="502920" y="5486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6CFC2"/>
                </a:solidFill>
                <a:latin typeface="Arial"/>
              </a:rPr>
              <a:t>CONTENTS</a:t>
            </a:r>
          </a:p>
        </p:txBody>
      </p:sp>
      <p:sp>
        <p:nvSpPr>
          <p:cNvPr id="7" name="meta_nav_list"/>
          <p:cNvSpPr txBox="1"/>
          <p:nvPr/>
        </p:nvSpPr>
        <p:spPr>
          <a:xfrm>
            <a:off x="502920" y="100584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Employment impact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GDP impact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A6CFC2"/>
                </a:solidFill>
                <a:latin typeface="Arial"/>
              </a:rPr>
              <a:t>Manufacturing impact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  <p:cxnSp>
        <p:nvCxnSpPr>
          <p:cNvPr id="8" name="meta_nav_rule_3"/>
          <p:cNvCxnSpPr/>
          <p:nvPr/>
        </p:nvCxnSpPr>
        <p:spPr>
          <a:xfrm>
            <a:off x="502920" y="2496312"/>
            <a:ext cx="457200" cy="0"/>
          </a:xfrm>
          <a:prstGeom prst="bentConnector3">
            <a:avLst/>
          </a:prstGeom>
          <a:ln w="2540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"/>
          <p:cNvSpPr txBox="1"/>
          <p:nvPr/>
        </p:nvSpPr>
        <p:spPr>
          <a:xfrm>
            <a:off x="502920" y="4297680"/>
            <a:ext cx="3383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 F-Series is central to the daily work of millions of Americans</a:t>
            </a:r>
          </a:p>
        </p:txBody>
      </p:sp>
      <p:cxnSp>
        <p:nvCxnSpPr>
          <p:cNvPr id="10" name="title_rule"/>
          <p:cNvCxnSpPr/>
          <p:nvPr/>
        </p:nvCxnSpPr>
        <p:spPr>
          <a:xfrm>
            <a:off x="502920" y="5852160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erlay_image_credit"/>
          <p:cNvSpPr txBox="1"/>
          <p:nvPr/>
        </p:nvSpPr>
        <p:spPr>
          <a:xfrm>
            <a:off x="4389120" y="58521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E9EDF3"/>
                </a:solidFill>
                <a:latin typeface="Arial"/>
              </a:rPr>
              <a:t>Image: Ford.</a:t>
            </a:r>
          </a:p>
        </p:txBody>
      </p:sp>
      <p:sp>
        <p:nvSpPr>
          <p:cNvPr id="12" name="meta_pagenum_17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otif_square_a"/>
          <p:cNvSpPr/>
          <p:nvPr/>
        </p:nvSpPr>
        <p:spPr>
          <a:xfrm>
            <a:off x="11377879" y="274320"/>
            <a:ext cx="164592" cy="164592"/>
          </a:xfrm>
          <a:prstGeom prst="rect">
            <a:avLst/>
          </a:prstGeom>
          <a:solidFill>
            <a:srgbClr val="E9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otif_square_b"/>
          <p:cNvSpPr/>
          <p:nvPr/>
        </p:nvSpPr>
        <p:spPr>
          <a:xfrm>
            <a:off x="11615623" y="274320"/>
            <a:ext cx="164592" cy="164592"/>
          </a:xfrm>
          <a:prstGeom prst="rect">
            <a:avLst/>
          </a:prstGeom>
          <a:solidFill>
            <a:srgbClr val="A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F-Series trucks anchor the daily work of up to 13 million Americans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371600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kpi_eq_0"/>
          <p:cNvSpPr txBox="1"/>
          <p:nvPr/>
        </p:nvSpPr>
        <p:spPr>
          <a:xfrm>
            <a:off x="411480" y="201168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E9E7B"/>
                </a:solidFill>
                <a:latin typeface="Georgia"/>
              </a:rPr>
              <a:t>~17M¹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9EDF3"/>
                </a:solidFill>
                <a:latin typeface="Arial"/>
              </a:rPr>
              <a:t>F-Series on the road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6CFC2"/>
                </a:solidFill>
                <a:latin typeface="Arial"/>
              </a:rPr>
              <a:t>Based on vehicle in operation data</a:t>
            </a:r>
          </a:p>
        </p:txBody>
      </p:sp>
      <p:sp>
        <p:nvSpPr>
          <p:cNvPr id="7" name="meta_op_0"/>
          <p:cNvSpPr txBox="1"/>
          <p:nvPr/>
        </p:nvSpPr>
        <p:spPr>
          <a:xfrm>
            <a:off x="2121408" y="2240280"/>
            <a:ext cx="320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8" name="kpi_eq_1"/>
          <p:cNvSpPr txBox="1"/>
          <p:nvPr/>
        </p:nvSpPr>
        <p:spPr>
          <a:xfrm>
            <a:off x="2441448" y="201168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E9E7B"/>
                </a:solidFill>
                <a:latin typeface="Georgia"/>
              </a:rPr>
              <a:t>26-35%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9EDF3"/>
                </a:solidFill>
                <a:latin typeface="Arial"/>
              </a:rPr>
              <a:t>Estimated in commercial use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6CFC2"/>
                </a:solidFill>
                <a:latin typeface="Arial"/>
              </a:rPr>
              <a:t>Registration info, analysis, expert interviews</a:t>
            </a:r>
          </a:p>
        </p:txBody>
      </p:sp>
      <p:sp>
        <p:nvSpPr>
          <p:cNvPr id="9" name="meta_op_1"/>
          <p:cNvSpPr txBox="1"/>
          <p:nvPr/>
        </p:nvSpPr>
        <p:spPr>
          <a:xfrm>
            <a:off x="4151376" y="2240280"/>
            <a:ext cx="320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0" name="kpi_eq_2"/>
          <p:cNvSpPr txBox="1"/>
          <p:nvPr/>
        </p:nvSpPr>
        <p:spPr>
          <a:xfrm>
            <a:off x="4471416" y="201168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E9E7B"/>
                </a:solidFill>
                <a:latin typeface="Georgia"/>
              </a:rPr>
              <a:t>2.1-2.4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9EDF3"/>
                </a:solidFill>
                <a:latin typeface="Arial"/>
              </a:rPr>
              <a:t>Average truck occupancy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6CFC2"/>
                </a:solidFill>
                <a:latin typeface="Arial"/>
              </a:rPr>
              <a:t>Usage intensity estimates via expert interviews</a:t>
            </a:r>
          </a:p>
        </p:txBody>
      </p:sp>
      <p:sp>
        <p:nvSpPr>
          <p:cNvPr id="11" name="meta_eq"/>
          <p:cNvSpPr txBox="1"/>
          <p:nvPr/>
        </p:nvSpPr>
        <p:spPr>
          <a:xfrm>
            <a:off x="6181344" y="2240280"/>
            <a:ext cx="320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12" name="kpi_eq_result"/>
          <p:cNvSpPr txBox="1"/>
          <p:nvPr/>
        </p:nvSpPr>
        <p:spPr>
          <a:xfrm>
            <a:off x="6501383" y="201168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E9E7B"/>
                </a:solidFill>
                <a:latin typeface="Georgia"/>
              </a:rPr>
              <a:t>13M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9EDF3"/>
                </a:solidFill>
                <a:latin typeface="Arial"/>
              </a:rPr>
              <a:t>Americans in their daily work</a:t>
            </a:r>
          </a:p>
        </p:txBody>
      </p:sp>
      <p:sp>
        <p:nvSpPr>
          <p:cNvPr id="13" name="body_eq_arrow"/>
          <p:cNvSpPr txBox="1"/>
          <p:nvPr/>
        </p:nvSpPr>
        <p:spPr>
          <a:xfrm>
            <a:off x="411480" y="4114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→  Representing approximately 8% of the US labor force</a:t>
            </a:r>
          </a:p>
        </p:txBody>
      </p:sp>
      <p:sp>
        <p:nvSpPr>
          <p:cNvPr id="14" name="background_eq_sidebar"/>
          <p:cNvSpPr/>
          <p:nvPr/>
        </p:nvSpPr>
        <p:spPr>
          <a:xfrm>
            <a:off x="8778240" y="1828800"/>
            <a:ext cx="3017520" cy="4206240"/>
          </a:xfrm>
          <a:prstGeom prst="rect">
            <a:avLst/>
          </a:prstGeom>
          <a:solidFill>
            <a:srgbClr val="1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ody_eq_sideh"/>
          <p:cNvSpPr txBox="1"/>
          <p:nvPr/>
        </p:nvSpPr>
        <p:spPr>
          <a:xfrm>
            <a:off x="9006840" y="20116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Workers supported by the F-Series</a:t>
            </a:r>
          </a:p>
        </p:txBody>
      </p:sp>
      <p:sp>
        <p:nvSpPr>
          <p:cNvPr id="16" name="body_eq_sidelist"/>
          <p:cNvSpPr txBox="1"/>
          <p:nvPr/>
        </p:nvSpPr>
        <p:spPr>
          <a:xfrm>
            <a:off x="9006840" y="2560320"/>
            <a:ext cx="2560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E9EDF3"/>
                </a:solidFill>
                <a:latin typeface="Arial"/>
              </a:rPr>
              <a:t>Construction workers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E9EDF3"/>
                </a:solidFill>
                <a:latin typeface="Arial"/>
              </a:rPr>
              <a:t>Farmers and ranchers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E9EDF3"/>
                </a:solidFill>
                <a:latin typeface="Arial"/>
              </a:rPr>
              <a:t>Independent contractors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E9EDF3"/>
                </a:solidFill>
                <a:latin typeface="Arial"/>
              </a:rPr>
              <a:t>Delivery service people</a:t>
            </a:r>
          </a:p>
          <a:p>
            <a:pPr algn="l" marL="181610" indent="-18161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E9EDF3"/>
                </a:solidFill>
                <a:latin typeface="Arial"/>
              </a:rPr>
              <a:t>Emergency vehicle drivers</a:t>
            </a:r>
          </a:p>
        </p:txBody>
      </p:sp>
      <p:sp>
        <p:nvSpPr>
          <p:cNvPr id="17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A6CFC2"/>
                </a:solidFill>
                <a:latin typeface="Arial"/>
              </a:rPr>
              <a:t>Source: Expert interviews; BCG analysis.  ¹16.6M F-Series in operation (IHS Markit VIO, US, 4/1/20).</a:t>
            </a:r>
          </a:p>
        </p:txBody>
      </p:sp>
      <p:sp>
        <p:nvSpPr>
          <p:cNvPr id="18" name="meta_pagenum_18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The F-Series is a larger US consumer product than Android or major sports leagues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446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hartpart_cmp_cons_lbl0"/>
          <p:cNvSpPr txBox="1"/>
          <p:nvPr/>
        </p:nvSpPr>
        <p:spPr>
          <a:xfrm>
            <a:off x="411480" y="162941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iPhone (US)¹</a:t>
            </a:r>
          </a:p>
        </p:txBody>
      </p:sp>
      <p:sp>
        <p:nvSpPr>
          <p:cNvPr id="5" name="chartpart_cmp_cons_bar0"/>
          <p:cNvSpPr/>
          <p:nvPr/>
        </p:nvSpPr>
        <p:spPr>
          <a:xfrm>
            <a:off x="2743200" y="1665986"/>
            <a:ext cx="7457089" cy="250698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part_cmp_cons_val0"/>
          <p:cNvSpPr txBox="1"/>
          <p:nvPr/>
        </p:nvSpPr>
        <p:spPr>
          <a:xfrm>
            <a:off x="10236865" y="162941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55</a:t>
            </a:r>
          </a:p>
        </p:txBody>
      </p:sp>
      <p:sp>
        <p:nvSpPr>
          <p:cNvPr id="7" name="chartpart_cmp_cons_lbl1"/>
          <p:cNvSpPr txBox="1"/>
          <p:nvPr/>
        </p:nvSpPr>
        <p:spPr>
          <a:xfrm>
            <a:off x="411480" y="204724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2638"/>
                </a:solidFill>
                <a:latin typeface="Arial"/>
              </a:rPr>
              <a:t>Ford F-Series (US)²</a:t>
            </a:r>
          </a:p>
        </p:txBody>
      </p:sp>
      <p:sp>
        <p:nvSpPr>
          <p:cNvPr id="8" name="chartpart_cmp_cons_bar1"/>
          <p:cNvSpPr/>
          <p:nvPr/>
        </p:nvSpPr>
        <p:spPr>
          <a:xfrm>
            <a:off x="2743200" y="2083816"/>
            <a:ext cx="5694504" cy="25069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artpart_cmp_cons_val1"/>
          <p:cNvSpPr txBox="1"/>
          <p:nvPr/>
        </p:nvSpPr>
        <p:spPr>
          <a:xfrm>
            <a:off x="8474280" y="2047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2638"/>
                </a:solidFill>
                <a:latin typeface="Arial"/>
              </a:rPr>
              <a:t>42</a:t>
            </a:r>
          </a:p>
        </p:txBody>
      </p:sp>
      <p:sp>
        <p:nvSpPr>
          <p:cNvPr id="10" name="chartpart_cmp_cons_lbl2"/>
          <p:cNvSpPr txBox="1"/>
          <p:nvPr/>
        </p:nvSpPr>
        <p:spPr>
          <a:xfrm>
            <a:off x="411480" y="246507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Android OS (US)³</a:t>
            </a:r>
          </a:p>
        </p:txBody>
      </p:sp>
      <p:sp>
        <p:nvSpPr>
          <p:cNvPr id="11" name="chartpart_cmp_cons_bar2"/>
          <p:cNvSpPr/>
          <p:nvPr/>
        </p:nvSpPr>
        <p:spPr>
          <a:xfrm>
            <a:off x="2743200" y="2501646"/>
            <a:ext cx="4881004" cy="250698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cmp_cons_val2"/>
          <p:cNvSpPr txBox="1"/>
          <p:nvPr/>
        </p:nvSpPr>
        <p:spPr>
          <a:xfrm>
            <a:off x="7660780" y="246507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36</a:t>
            </a:r>
          </a:p>
        </p:txBody>
      </p:sp>
      <p:sp>
        <p:nvSpPr>
          <p:cNvPr id="13" name="chartpart_cmp_cons_lbl3"/>
          <p:cNvSpPr txBox="1"/>
          <p:nvPr/>
        </p:nvSpPr>
        <p:spPr>
          <a:xfrm>
            <a:off x="411480" y="288290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Disney experiences⁴</a:t>
            </a:r>
          </a:p>
        </p:txBody>
      </p:sp>
      <p:sp>
        <p:nvSpPr>
          <p:cNvPr id="14" name="chartpart_cmp_cons_bar3"/>
          <p:cNvSpPr/>
          <p:nvPr/>
        </p:nvSpPr>
        <p:spPr>
          <a:xfrm>
            <a:off x="2743200" y="2919476"/>
            <a:ext cx="4338670" cy="250698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part_cmp_cons_val3"/>
          <p:cNvSpPr txBox="1"/>
          <p:nvPr/>
        </p:nvSpPr>
        <p:spPr>
          <a:xfrm>
            <a:off x="7118446" y="28829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32</a:t>
            </a:r>
          </a:p>
        </p:txBody>
      </p:sp>
      <p:sp>
        <p:nvSpPr>
          <p:cNvPr id="16" name="chartpart_cmp_cons_lbl4"/>
          <p:cNvSpPr txBox="1"/>
          <p:nvPr/>
        </p:nvSpPr>
        <p:spPr>
          <a:xfrm>
            <a:off x="411480" y="330073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US refrigerators⁵</a:t>
            </a:r>
          </a:p>
        </p:txBody>
      </p:sp>
      <p:sp>
        <p:nvSpPr>
          <p:cNvPr id="17" name="chartpart_cmp_cons_bar4"/>
          <p:cNvSpPr/>
          <p:nvPr/>
        </p:nvSpPr>
        <p:spPr>
          <a:xfrm>
            <a:off x="2743200" y="3337306"/>
            <a:ext cx="2576085" cy="250698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cmp_cons_val4"/>
          <p:cNvSpPr txBox="1"/>
          <p:nvPr/>
        </p:nvSpPr>
        <p:spPr>
          <a:xfrm>
            <a:off x="5355861" y="330073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19</a:t>
            </a:r>
          </a:p>
        </p:txBody>
      </p:sp>
      <p:sp>
        <p:nvSpPr>
          <p:cNvPr id="19" name="chartpart_cmp_cons_lbl5"/>
          <p:cNvSpPr txBox="1"/>
          <p:nvPr/>
        </p:nvSpPr>
        <p:spPr>
          <a:xfrm>
            <a:off x="411480" y="371856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Budweiser (US)</a:t>
            </a:r>
          </a:p>
        </p:txBody>
      </p:sp>
      <p:sp>
        <p:nvSpPr>
          <p:cNvPr id="20" name="chartpart_cmp_cons_bar5"/>
          <p:cNvSpPr/>
          <p:nvPr/>
        </p:nvSpPr>
        <p:spPr>
          <a:xfrm>
            <a:off x="2743200" y="3755136"/>
            <a:ext cx="2033751" cy="250698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part_cmp_cons_val5"/>
          <p:cNvSpPr txBox="1"/>
          <p:nvPr/>
        </p:nvSpPr>
        <p:spPr>
          <a:xfrm>
            <a:off x="4813527" y="371856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15</a:t>
            </a:r>
          </a:p>
        </p:txBody>
      </p:sp>
      <p:sp>
        <p:nvSpPr>
          <p:cNvPr id="22" name="chartpart_cmp_cons_lbl6"/>
          <p:cNvSpPr txBox="1"/>
          <p:nvPr/>
        </p:nvSpPr>
        <p:spPr>
          <a:xfrm>
            <a:off x="411480" y="413639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NFL</a:t>
            </a:r>
          </a:p>
        </p:txBody>
      </p:sp>
      <p:sp>
        <p:nvSpPr>
          <p:cNvPr id="23" name="chartpart_cmp_cons_bar6"/>
          <p:cNvSpPr/>
          <p:nvPr/>
        </p:nvSpPr>
        <p:spPr>
          <a:xfrm>
            <a:off x="2743200" y="4172966"/>
            <a:ext cx="2033751" cy="250698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cmp_cons_val6"/>
          <p:cNvSpPr txBox="1"/>
          <p:nvPr/>
        </p:nvSpPr>
        <p:spPr>
          <a:xfrm>
            <a:off x="4813527" y="413639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15</a:t>
            </a:r>
          </a:p>
        </p:txBody>
      </p:sp>
      <p:sp>
        <p:nvSpPr>
          <p:cNvPr id="25" name="chartpart_cmp_cons_lbl7"/>
          <p:cNvSpPr txBox="1"/>
          <p:nvPr/>
        </p:nvSpPr>
        <p:spPr>
          <a:xfrm>
            <a:off x="411480" y="455422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MLB</a:t>
            </a:r>
          </a:p>
        </p:txBody>
      </p:sp>
      <p:sp>
        <p:nvSpPr>
          <p:cNvPr id="26" name="chartpart_cmp_cons_bar7"/>
          <p:cNvSpPr/>
          <p:nvPr/>
        </p:nvSpPr>
        <p:spPr>
          <a:xfrm>
            <a:off x="2743200" y="4590796"/>
            <a:ext cx="1491417" cy="250698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part_cmp_cons_val7"/>
          <p:cNvSpPr txBox="1"/>
          <p:nvPr/>
        </p:nvSpPr>
        <p:spPr>
          <a:xfrm>
            <a:off x="4271193" y="45542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11</a:t>
            </a:r>
          </a:p>
        </p:txBody>
      </p:sp>
      <p:sp>
        <p:nvSpPr>
          <p:cNvPr id="28" name="chartpart_cmp_cons_lbl8"/>
          <p:cNvSpPr txBox="1"/>
          <p:nvPr/>
        </p:nvSpPr>
        <p:spPr>
          <a:xfrm>
            <a:off x="411480" y="497205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NBA</a:t>
            </a:r>
          </a:p>
        </p:txBody>
      </p:sp>
      <p:sp>
        <p:nvSpPr>
          <p:cNvPr id="29" name="chartpart_cmp_cons_bar8"/>
          <p:cNvSpPr/>
          <p:nvPr/>
        </p:nvSpPr>
        <p:spPr>
          <a:xfrm>
            <a:off x="2743200" y="5008626"/>
            <a:ext cx="1220251" cy="250698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part_cmp_cons_val8"/>
          <p:cNvSpPr txBox="1"/>
          <p:nvPr/>
        </p:nvSpPr>
        <p:spPr>
          <a:xfrm>
            <a:off x="4000027" y="497205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9</a:t>
            </a:r>
          </a:p>
        </p:txBody>
      </p:sp>
      <p:sp>
        <p:nvSpPr>
          <p:cNvPr id="31" name="chartpart_cmp_cons_lbl9"/>
          <p:cNvSpPr txBox="1"/>
          <p:nvPr/>
        </p:nvSpPr>
        <p:spPr>
          <a:xfrm>
            <a:off x="411480" y="538988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NHL</a:t>
            </a:r>
          </a:p>
        </p:txBody>
      </p:sp>
      <p:sp>
        <p:nvSpPr>
          <p:cNvPr id="32" name="chartpart_cmp_cons_bar9"/>
          <p:cNvSpPr/>
          <p:nvPr/>
        </p:nvSpPr>
        <p:spPr>
          <a:xfrm>
            <a:off x="2743200" y="5426456"/>
            <a:ext cx="677917" cy="250698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part_cmp_cons_val9"/>
          <p:cNvSpPr txBox="1"/>
          <p:nvPr/>
        </p:nvSpPr>
        <p:spPr>
          <a:xfrm>
            <a:off x="3457693" y="538988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5</a:t>
            </a:r>
          </a:p>
        </p:txBody>
      </p:sp>
      <p:cxnSp>
        <p:nvCxnSpPr>
          <p:cNvPr id="34" name="chartpart_cmp_cons_bracket_v"/>
          <p:cNvCxnSpPr/>
          <p:nvPr/>
        </p:nvCxnSpPr>
        <p:spPr>
          <a:xfrm>
            <a:off x="4335517" y="4172966"/>
            <a:ext cx="0" cy="1504188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part_cmp_cons_bracket_t"/>
          <p:cNvCxnSpPr/>
          <p:nvPr/>
        </p:nvCxnSpPr>
        <p:spPr>
          <a:xfrm>
            <a:off x="4335517" y="4172966"/>
            <a:ext cx="109728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part_cmp_cons_bracket_b"/>
          <p:cNvCxnSpPr/>
          <p:nvPr/>
        </p:nvCxnSpPr>
        <p:spPr>
          <a:xfrm>
            <a:off x="4335517" y="5677154"/>
            <a:ext cx="109728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part_cmp_cons_bracket_lbl"/>
          <p:cNvSpPr txBox="1"/>
          <p:nvPr/>
        </p:nvSpPr>
        <p:spPr>
          <a:xfrm>
            <a:off x="4481821" y="4559300"/>
            <a:ext cx="1188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2638"/>
                </a:solidFill>
                <a:latin typeface="Arial"/>
              </a:rPr>
              <a:t>Major sports leagues ~$40B combined</a:t>
            </a:r>
          </a:p>
        </p:txBody>
      </p:sp>
      <p:sp>
        <p:nvSpPr>
          <p:cNvPr id="38" name="meta_multlbl_cons"/>
          <p:cNvSpPr txBox="1"/>
          <p:nvPr/>
        </p:nvSpPr>
        <p:spPr>
          <a:xfrm>
            <a:off x="411480" y="581558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5B6677"/>
                </a:solidFill>
                <a:latin typeface="Arial"/>
              </a:rPr>
              <a:t>F-Series relative size</a:t>
            </a:r>
          </a:p>
        </p:txBody>
      </p:sp>
      <p:sp>
        <p:nvSpPr>
          <p:cNvPr id="39" name="chartpart_cmp_cons_mult_0"/>
          <p:cNvSpPr txBox="1"/>
          <p:nvPr/>
        </p:nvSpPr>
        <p:spPr>
          <a:xfrm>
            <a:off x="9743089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0.8x</a:t>
            </a:r>
          </a:p>
        </p:txBody>
      </p:sp>
      <p:sp>
        <p:nvSpPr>
          <p:cNvPr id="40" name="chartpart_cmp_cons_mult_1"/>
          <p:cNvSpPr txBox="1"/>
          <p:nvPr/>
        </p:nvSpPr>
        <p:spPr>
          <a:xfrm>
            <a:off x="7980504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E9E7B"/>
                </a:solidFill>
                <a:latin typeface="Arial"/>
              </a:rPr>
              <a:t>—</a:t>
            </a:r>
          </a:p>
        </p:txBody>
      </p:sp>
      <p:sp>
        <p:nvSpPr>
          <p:cNvPr id="41" name="chartpart_cmp_cons_mult_2"/>
          <p:cNvSpPr txBox="1"/>
          <p:nvPr/>
        </p:nvSpPr>
        <p:spPr>
          <a:xfrm>
            <a:off x="7167004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1.2x</a:t>
            </a:r>
          </a:p>
        </p:txBody>
      </p:sp>
      <p:sp>
        <p:nvSpPr>
          <p:cNvPr id="42" name="chartpart_cmp_cons_mult_3"/>
          <p:cNvSpPr txBox="1"/>
          <p:nvPr/>
        </p:nvSpPr>
        <p:spPr>
          <a:xfrm>
            <a:off x="6624670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1.3x</a:t>
            </a:r>
          </a:p>
        </p:txBody>
      </p:sp>
      <p:sp>
        <p:nvSpPr>
          <p:cNvPr id="43" name="chartpart_cmp_cons_mult_4"/>
          <p:cNvSpPr txBox="1"/>
          <p:nvPr/>
        </p:nvSpPr>
        <p:spPr>
          <a:xfrm>
            <a:off x="4862085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2.2x</a:t>
            </a:r>
          </a:p>
        </p:txBody>
      </p:sp>
      <p:sp>
        <p:nvSpPr>
          <p:cNvPr id="44" name="chartpart_cmp_cons_mult_5"/>
          <p:cNvSpPr txBox="1"/>
          <p:nvPr/>
        </p:nvSpPr>
        <p:spPr>
          <a:xfrm>
            <a:off x="4319751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2.8x</a:t>
            </a:r>
          </a:p>
        </p:txBody>
      </p:sp>
      <p:sp>
        <p:nvSpPr>
          <p:cNvPr id="45" name="chartpart_cmp_cons_mult_6"/>
          <p:cNvSpPr txBox="1"/>
          <p:nvPr/>
        </p:nvSpPr>
        <p:spPr>
          <a:xfrm>
            <a:off x="4319751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2.8x</a:t>
            </a:r>
          </a:p>
        </p:txBody>
      </p:sp>
      <p:sp>
        <p:nvSpPr>
          <p:cNvPr id="46" name="chartpart_cmp_cons_mult_7"/>
          <p:cNvSpPr txBox="1"/>
          <p:nvPr/>
        </p:nvSpPr>
        <p:spPr>
          <a:xfrm>
            <a:off x="3777417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3.8x</a:t>
            </a:r>
          </a:p>
        </p:txBody>
      </p:sp>
      <p:sp>
        <p:nvSpPr>
          <p:cNvPr id="47" name="chartpart_cmp_cons_mult_8"/>
          <p:cNvSpPr txBox="1"/>
          <p:nvPr/>
        </p:nvSpPr>
        <p:spPr>
          <a:xfrm>
            <a:off x="3506251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4.7x</a:t>
            </a:r>
          </a:p>
        </p:txBody>
      </p:sp>
      <p:sp>
        <p:nvSpPr>
          <p:cNvPr id="48" name="chartpart_cmp_cons_mult_9"/>
          <p:cNvSpPr txBox="1"/>
          <p:nvPr/>
        </p:nvSpPr>
        <p:spPr>
          <a:xfrm>
            <a:off x="2963917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8.5x</a:t>
            </a:r>
          </a:p>
        </p:txBody>
      </p:sp>
      <p:sp>
        <p:nvSpPr>
          <p:cNvPr id="49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Company financials; Google legal disclosures; Forbes; IDC; Euromonitor; Chicago Tribune; BCG analysis.</a:t>
            </a:r>
          </a:p>
        </p:txBody>
      </p:sp>
      <p:sp>
        <p:nvSpPr>
          <p:cNvPr id="50" name="meta_pagenum_19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572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638"/>
                </a:solidFill>
                <a:latin typeface="Georgia"/>
              </a:rPr>
              <a:t>The F-Series alone exceeds many recognizable companies in 2019 revenue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2529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hartpart_cmp_co_lbl0"/>
          <p:cNvSpPr txBox="1"/>
          <p:nvPr/>
        </p:nvSpPr>
        <p:spPr>
          <a:xfrm>
            <a:off x="411480" y="1471117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2638"/>
                </a:solidFill>
                <a:latin typeface="Arial"/>
              </a:rPr>
              <a:t>Ford F-Series (US)¹</a:t>
            </a:r>
          </a:p>
        </p:txBody>
      </p:sp>
      <p:sp>
        <p:nvSpPr>
          <p:cNvPr id="5" name="chartpart_cmp_co_bar0"/>
          <p:cNvSpPr/>
          <p:nvPr/>
        </p:nvSpPr>
        <p:spPr>
          <a:xfrm>
            <a:off x="2743200" y="1507693"/>
            <a:ext cx="7180027" cy="21625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part_cmp_co_val0"/>
          <p:cNvSpPr txBox="1"/>
          <p:nvPr/>
        </p:nvSpPr>
        <p:spPr>
          <a:xfrm>
            <a:off x="9959803" y="1471117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2638"/>
                </a:solidFill>
                <a:latin typeface="Arial"/>
              </a:rPr>
              <a:t>42</a:t>
            </a:r>
          </a:p>
        </p:txBody>
      </p:sp>
      <p:sp>
        <p:nvSpPr>
          <p:cNvPr id="7" name="chartpart_cmp_co_lbl1"/>
          <p:cNvSpPr txBox="1"/>
          <p:nvPr/>
        </p:nvSpPr>
        <p:spPr>
          <a:xfrm>
            <a:off x="411480" y="1831543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McDonald's (US)²</a:t>
            </a:r>
          </a:p>
        </p:txBody>
      </p:sp>
      <p:sp>
        <p:nvSpPr>
          <p:cNvPr id="8" name="chartpart_cmp_co_bar1"/>
          <p:cNvSpPr/>
          <p:nvPr/>
        </p:nvSpPr>
        <p:spPr>
          <a:xfrm>
            <a:off x="2743200" y="1868119"/>
            <a:ext cx="6838121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artpart_cmp_co_val1"/>
          <p:cNvSpPr txBox="1"/>
          <p:nvPr/>
        </p:nvSpPr>
        <p:spPr>
          <a:xfrm>
            <a:off x="9617897" y="183154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40</a:t>
            </a:r>
          </a:p>
        </p:txBody>
      </p:sp>
      <p:sp>
        <p:nvSpPr>
          <p:cNvPr id="10" name="chartpart_cmp_co_lbl2"/>
          <p:cNvSpPr txBox="1"/>
          <p:nvPr/>
        </p:nvSpPr>
        <p:spPr>
          <a:xfrm>
            <a:off x="411480" y="2191969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Nike</a:t>
            </a:r>
          </a:p>
        </p:txBody>
      </p:sp>
      <p:sp>
        <p:nvSpPr>
          <p:cNvPr id="11" name="chartpart_cmp_co_bar2"/>
          <p:cNvSpPr/>
          <p:nvPr/>
        </p:nvSpPr>
        <p:spPr>
          <a:xfrm>
            <a:off x="2743200" y="2228545"/>
            <a:ext cx="6667168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cmp_co_val2"/>
          <p:cNvSpPr txBox="1"/>
          <p:nvPr/>
        </p:nvSpPr>
        <p:spPr>
          <a:xfrm>
            <a:off x="9446944" y="219196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39</a:t>
            </a:r>
          </a:p>
        </p:txBody>
      </p:sp>
      <p:sp>
        <p:nvSpPr>
          <p:cNvPr id="13" name="chartpart_cmp_co_lbl3"/>
          <p:cNvSpPr txBox="1"/>
          <p:nvPr/>
        </p:nvSpPr>
        <p:spPr>
          <a:xfrm>
            <a:off x="411480" y="2552395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John Deere</a:t>
            </a:r>
          </a:p>
        </p:txBody>
      </p:sp>
      <p:sp>
        <p:nvSpPr>
          <p:cNvPr id="14" name="chartpart_cmp_co_bar3"/>
          <p:cNvSpPr/>
          <p:nvPr/>
        </p:nvSpPr>
        <p:spPr>
          <a:xfrm>
            <a:off x="2743200" y="2588971"/>
            <a:ext cx="6667168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part_cmp_co_val3"/>
          <p:cNvSpPr txBox="1"/>
          <p:nvPr/>
        </p:nvSpPr>
        <p:spPr>
          <a:xfrm>
            <a:off x="9446944" y="255239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39</a:t>
            </a:r>
          </a:p>
        </p:txBody>
      </p:sp>
      <p:sp>
        <p:nvSpPr>
          <p:cNvPr id="16" name="chartpart_cmp_co_lbl4"/>
          <p:cNvSpPr txBox="1"/>
          <p:nvPr/>
        </p:nvSpPr>
        <p:spPr>
          <a:xfrm>
            <a:off x="411480" y="2912821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Coca-Cola</a:t>
            </a:r>
          </a:p>
        </p:txBody>
      </p:sp>
      <p:sp>
        <p:nvSpPr>
          <p:cNvPr id="17" name="chartpart_cmp_co_bar4"/>
          <p:cNvSpPr/>
          <p:nvPr/>
        </p:nvSpPr>
        <p:spPr>
          <a:xfrm>
            <a:off x="2743200" y="2949397"/>
            <a:ext cx="6325262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cmp_co_val4"/>
          <p:cNvSpPr txBox="1"/>
          <p:nvPr/>
        </p:nvSpPr>
        <p:spPr>
          <a:xfrm>
            <a:off x="9105038" y="291282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37</a:t>
            </a:r>
          </a:p>
        </p:txBody>
      </p:sp>
      <p:sp>
        <p:nvSpPr>
          <p:cNvPr id="19" name="chartpart_cmp_co_lbl5"/>
          <p:cNvSpPr txBox="1"/>
          <p:nvPr/>
        </p:nvSpPr>
        <p:spPr>
          <a:xfrm>
            <a:off x="411480" y="3273247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Starbucks²</a:t>
            </a:r>
          </a:p>
        </p:txBody>
      </p:sp>
      <p:sp>
        <p:nvSpPr>
          <p:cNvPr id="20" name="chartpart_cmp_co_bar5"/>
          <p:cNvSpPr/>
          <p:nvPr/>
        </p:nvSpPr>
        <p:spPr>
          <a:xfrm>
            <a:off x="2743200" y="3309823"/>
            <a:ext cx="5299544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part_cmp_co_val5"/>
          <p:cNvSpPr txBox="1"/>
          <p:nvPr/>
        </p:nvSpPr>
        <p:spPr>
          <a:xfrm>
            <a:off x="8079320" y="3273247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31</a:t>
            </a:r>
          </a:p>
        </p:txBody>
      </p:sp>
      <p:sp>
        <p:nvSpPr>
          <p:cNvPr id="22" name="chartpart_cmp_co_lbl6"/>
          <p:cNvSpPr txBox="1"/>
          <p:nvPr/>
        </p:nvSpPr>
        <p:spPr>
          <a:xfrm>
            <a:off x="411480" y="3633673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Capital One</a:t>
            </a:r>
          </a:p>
        </p:txBody>
      </p:sp>
      <p:sp>
        <p:nvSpPr>
          <p:cNvPr id="23" name="chartpart_cmp_co_bar6"/>
          <p:cNvSpPr/>
          <p:nvPr/>
        </p:nvSpPr>
        <p:spPr>
          <a:xfrm>
            <a:off x="2743200" y="3670249"/>
            <a:ext cx="4786685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cmp_co_val6"/>
          <p:cNvSpPr txBox="1"/>
          <p:nvPr/>
        </p:nvSpPr>
        <p:spPr>
          <a:xfrm>
            <a:off x="7566461" y="363367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28</a:t>
            </a:r>
          </a:p>
        </p:txBody>
      </p:sp>
      <p:sp>
        <p:nvSpPr>
          <p:cNvPr id="25" name="chartpart_cmp_co_lbl7"/>
          <p:cNvSpPr txBox="1"/>
          <p:nvPr/>
        </p:nvSpPr>
        <p:spPr>
          <a:xfrm>
            <a:off x="411480" y="3994099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Visa</a:t>
            </a:r>
          </a:p>
        </p:txBody>
      </p:sp>
      <p:sp>
        <p:nvSpPr>
          <p:cNvPr id="26" name="chartpart_cmp_co_bar7"/>
          <p:cNvSpPr/>
          <p:nvPr/>
        </p:nvSpPr>
        <p:spPr>
          <a:xfrm>
            <a:off x="2743200" y="4030675"/>
            <a:ext cx="3931920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part_cmp_co_val7"/>
          <p:cNvSpPr txBox="1"/>
          <p:nvPr/>
        </p:nvSpPr>
        <p:spPr>
          <a:xfrm>
            <a:off x="6711696" y="399409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23</a:t>
            </a:r>
          </a:p>
        </p:txBody>
      </p:sp>
      <p:sp>
        <p:nvSpPr>
          <p:cNvPr id="28" name="chartpart_cmp_co_lbl8"/>
          <p:cNvSpPr txBox="1"/>
          <p:nvPr/>
        </p:nvSpPr>
        <p:spPr>
          <a:xfrm>
            <a:off x="411480" y="4354525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Tesla³</a:t>
            </a:r>
          </a:p>
        </p:txBody>
      </p:sp>
      <p:sp>
        <p:nvSpPr>
          <p:cNvPr id="29" name="chartpart_cmp_co_bar8"/>
          <p:cNvSpPr/>
          <p:nvPr/>
        </p:nvSpPr>
        <p:spPr>
          <a:xfrm>
            <a:off x="2743200" y="4391101"/>
            <a:ext cx="3590013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part_cmp_co_val8"/>
          <p:cNvSpPr txBox="1"/>
          <p:nvPr/>
        </p:nvSpPr>
        <p:spPr>
          <a:xfrm>
            <a:off x="6369789" y="435452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21</a:t>
            </a:r>
          </a:p>
        </p:txBody>
      </p:sp>
      <p:sp>
        <p:nvSpPr>
          <p:cNvPr id="31" name="chartpart_cmp_co_lbl9"/>
          <p:cNvSpPr txBox="1"/>
          <p:nvPr/>
        </p:nvSpPr>
        <p:spPr>
          <a:xfrm>
            <a:off x="411480" y="4714951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Netflix</a:t>
            </a:r>
          </a:p>
        </p:txBody>
      </p:sp>
      <p:sp>
        <p:nvSpPr>
          <p:cNvPr id="32" name="chartpart_cmp_co_bar9"/>
          <p:cNvSpPr/>
          <p:nvPr/>
        </p:nvSpPr>
        <p:spPr>
          <a:xfrm>
            <a:off x="2743200" y="4751527"/>
            <a:ext cx="3419060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part_cmp_co_val9"/>
          <p:cNvSpPr txBox="1"/>
          <p:nvPr/>
        </p:nvSpPr>
        <p:spPr>
          <a:xfrm>
            <a:off x="6198836" y="471495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20</a:t>
            </a:r>
          </a:p>
        </p:txBody>
      </p:sp>
      <p:sp>
        <p:nvSpPr>
          <p:cNvPr id="34" name="chartpart_cmp_co_lbl10"/>
          <p:cNvSpPr txBox="1"/>
          <p:nvPr/>
        </p:nvSpPr>
        <p:spPr>
          <a:xfrm>
            <a:off x="411480" y="5075377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Uber</a:t>
            </a:r>
          </a:p>
        </p:txBody>
      </p:sp>
      <p:sp>
        <p:nvSpPr>
          <p:cNvPr id="35" name="chartpart_cmp_co_bar10"/>
          <p:cNvSpPr/>
          <p:nvPr/>
        </p:nvSpPr>
        <p:spPr>
          <a:xfrm>
            <a:off x="2743200" y="5111953"/>
            <a:ext cx="2393342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part_cmp_co_val10"/>
          <p:cNvSpPr txBox="1"/>
          <p:nvPr/>
        </p:nvSpPr>
        <p:spPr>
          <a:xfrm>
            <a:off x="5173118" y="5075377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14</a:t>
            </a:r>
          </a:p>
        </p:txBody>
      </p:sp>
      <p:sp>
        <p:nvSpPr>
          <p:cNvPr id="37" name="chartpart_cmp_co_lbl11"/>
          <p:cNvSpPr txBox="1"/>
          <p:nvPr/>
        </p:nvSpPr>
        <p:spPr>
          <a:xfrm>
            <a:off x="411480" y="5435803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677"/>
                </a:solidFill>
                <a:latin typeface="Arial"/>
              </a:rPr>
              <a:t>Twitter</a:t>
            </a:r>
          </a:p>
        </p:txBody>
      </p:sp>
      <p:sp>
        <p:nvSpPr>
          <p:cNvPr id="38" name="chartpart_cmp_co_bar11"/>
          <p:cNvSpPr/>
          <p:nvPr/>
        </p:nvSpPr>
        <p:spPr>
          <a:xfrm>
            <a:off x="2743200" y="5472379"/>
            <a:ext cx="512859" cy="216255"/>
          </a:xfrm>
          <a:prstGeom prst="rect">
            <a:avLst/>
          </a:prstGeom>
          <a:solidFill>
            <a:srgbClr val="9CA3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part_cmp_co_val11"/>
          <p:cNvSpPr txBox="1"/>
          <p:nvPr/>
        </p:nvSpPr>
        <p:spPr>
          <a:xfrm>
            <a:off x="3292635" y="543580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B2638"/>
                </a:solidFill>
                <a:latin typeface="Arial"/>
              </a:rPr>
              <a:t>3</a:t>
            </a:r>
          </a:p>
        </p:txBody>
      </p:sp>
      <p:sp>
        <p:nvSpPr>
          <p:cNvPr id="40" name="meta_multlbl_co"/>
          <p:cNvSpPr txBox="1"/>
          <p:nvPr/>
        </p:nvSpPr>
        <p:spPr>
          <a:xfrm>
            <a:off x="411480" y="581558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5B6677"/>
                </a:solidFill>
                <a:latin typeface="Arial"/>
              </a:rPr>
              <a:t>F-Series relative size</a:t>
            </a:r>
          </a:p>
        </p:txBody>
      </p:sp>
      <p:sp>
        <p:nvSpPr>
          <p:cNvPr id="41" name="chartpart_cmp_co_mult_0"/>
          <p:cNvSpPr txBox="1"/>
          <p:nvPr/>
        </p:nvSpPr>
        <p:spPr>
          <a:xfrm>
            <a:off x="9466027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2E9E7B"/>
                </a:solidFill>
                <a:latin typeface="Arial"/>
              </a:rPr>
              <a:t>—</a:t>
            </a:r>
          </a:p>
        </p:txBody>
      </p:sp>
      <p:sp>
        <p:nvSpPr>
          <p:cNvPr id="42" name="chartpart_cmp_co_mult_1"/>
          <p:cNvSpPr txBox="1"/>
          <p:nvPr/>
        </p:nvSpPr>
        <p:spPr>
          <a:xfrm>
            <a:off x="9124121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1.0x</a:t>
            </a:r>
          </a:p>
        </p:txBody>
      </p:sp>
      <p:sp>
        <p:nvSpPr>
          <p:cNvPr id="43" name="chartpart_cmp_co_mult_2"/>
          <p:cNvSpPr txBox="1"/>
          <p:nvPr/>
        </p:nvSpPr>
        <p:spPr>
          <a:xfrm>
            <a:off x="8953168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1.1x</a:t>
            </a:r>
          </a:p>
        </p:txBody>
      </p:sp>
      <p:sp>
        <p:nvSpPr>
          <p:cNvPr id="44" name="chartpart_cmp_co_mult_3"/>
          <p:cNvSpPr txBox="1"/>
          <p:nvPr/>
        </p:nvSpPr>
        <p:spPr>
          <a:xfrm>
            <a:off x="8953168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1.1x</a:t>
            </a:r>
          </a:p>
        </p:txBody>
      </p:sp>
      <p:sp>
        <p:nvSpPr>
          <p:cNvPr id="45" name="chartpart_cmp_co_mult_4"/>
          <p:cNvSpPr txBox="1"/>
          <p:nvPr/>
        </p:nvSpPr>
        <p:spPr>
          <a:xfrm>
            <a:off x="8611262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1.1x</a:t>
            </a:r>
          </a:p>
        </p:txBody>
      </p:sp>
      <p:sp>
        <p:nvSpPr>
          <p:cNvPr id="46" name="chartpart_cmp_co_mult_5"/>
          <p:cNvSpPr txBox="1"/>
          <p:nvPr/>
        </p:nvSpPr>
        <p:spPr>
          <a:xfrm>
            <a:off x="7585544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1.4x</a:t>
            </a:r>
          </a:p>
        </p:txBody>
      </p:sp>
      <p:sp>
        <p:nvSpPr>
          <p:cNvPr id="47" name="chartpart_cmp_co_mult_6"/>
          <p:cNvSpPr txBox="1"/>
          <p:nvPr/>
        </p:nvSpPr>
        <p:spPr>
          <a:xfrm>
            <a:off x="7072685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1.5x</a:t>
            </a:r>
          </a:p>
        </p:txBody>
      </p:sp>
      <p:sp>
        <p:nvSpPr>
          <p:cNvPr id="48" name="chartpart_cmp_co_mult_7"/>
          <p:cNvSpPr txBox="1"/>
          <p:nvPr/>
        </p:nvSpPr>
        <p:spPr>
          <a:xfrm>
            <a:off x="6217920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1.8x</a:t>
            </a:r>
          </a:p>
        </p:txBody>
      </p:sp>
      <p:sp>
        <p:nvSpPr>
          <p:cNvPr id="49" name="chartpart_cmp_co_mult_8"/>
          <p:cNvSpPr txBox="1"/>
          <p:nvPr/>
        </p:nvSpPr>
        <p:spPr>
          <a:xfrm>
            <a:off x="5876013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2.0x</a:t>
            </a:r>
          </a:p>
        </p:txBody>
      </p:sp>
      <p:sp>
        <p:nvSpPr>
          <p:cNvPr id="50" name="chartpart_cmp_co_mult_9"/>
          <p:cNvSpPr txBox="1"/>
          <p:nvPr/>
        </p:nvSpPr>
        <p:spPr>
          <a:xfrm>
            <a:off x="5705060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2.1x</a:t>
            </a:r>
          </a:p>
        </p:txBody>
      </p:sp>
      <p:sp>
        <p:nvSpPr>
          <p:cNvPr id="51" name="chartpart_cmp_co_mult_10"/>
          <p:cNvSpPr txBox="1"/>
          <p:nvPr/>
        </p:nvSpPr>
        <p:spPr>
          <a:xfrm>
            <a:off x="4679342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3.0x</a:t>
            </a:r>
          </a:p>
        </p:txBody>
      </p:sp>
      <p:sp>
        <p:nvSpPr>
          <p:cNvPr id="52" name="chartpart_cmp_co_mult_11"/>
          <p:cNvSpPr txBox="1"/>
          <p:nvPr/>
        </p:nvSpPr>
        <p:spPr>
          <a:xfrm>
            <a:off x="2798859" y="581558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7"/>
                </a:solidFill>
                <a:latin typeface="Arial"/>
              </a:rPr>
              <a:t>12.2x</a:t>
            </a:r>
          </a:p>
        </p:txBody>
      </p:sp>
      <p:sp>
        <p:nvSpPr>
          <p:cNvPr id="53" name="meta_source"/>
          <p:cNvSpPr txBox="1"/>
          <p:nvPr/>
        </p:nvSpPr>
        <p:spPr>
          <a:xfrm>
            <a:off x="411480" y="63093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Company financial statements; BCG analysis.  ¹F-Series North American total sales ~$49B.  ²Includes franchise revenues.  ³Excludes energy and services segments.</a:t>
            </a:r>
          </a:p>
        </p:txBody>
      </p:sp>
      <p:sp>
        <p:nvSpPr>
          <p:cNvPr id="54" name="meta_pagenum_20"/>
          <p:cNvSpPr txBox="1"/>
          <p:nvPr/>
        </p:nvSpPr>
        <p:spPr>
          <a:xfrm>
            <a:off x="11475720" y="6309360"/>
            <a:ext cx="3931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