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1B4D7E"/>
            </a:solidFill>
          </c:spPr>
          <c:cat>
            <c:strRef>
              <c:f>Sheet1!$A$2:$A$6</c:f>
              <c:strCache>
                <c:ptCount val="5"/>
                <c:pt idx="0">
                  <c:v>FY2017</c:v>
                </c:pt>
                <c:pt idx="1">
                  <c:v>FY2018</c:v>
                </c:pt>
                <c:pt idx="2">
                  <c:v>FY2019</c:v>
                </c:pt>
                <c:pt idx="3">
                  <c:v>FY2020</c:v>
                </c:pt>
                <c:pt idx="4">
                  <c:v>FY2021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1780</c:v>
                </c:pt>
                <c:pt idx="1">
                  <c:v>1793</c:v>
                </c:pt>
                <c:pt idx="2">
                  <c:v>2668</c:v>
                </c:pt>
                <c:pt idx="3">
                  <c:v>3089</c:v>
                </c:pt>
                <c:pt idx="4">
                  <c:v>3373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1B4D7E"/>
            </a:solidFill>
          </c:spPr>
          <c:cat>
            <c:strRef>
              <c:f>Sheet1!$A$2:$A$4</c:f>
              <c:strCache>
                <c:ptCount val="3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42.9</c:v>
                </c:pt>
                <c:pt idx="1">
                  <c:v>50.1</c:v>
                </c:pt>
                <c:pt idx="2">
                  <c:v>54.5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E63946"/>
            </a:solidFill>
          </c:spPr>
          <c:cat>
            <c:strRef>
              <c:f>Sheet1!$A$2:$A$4</c:f>
              <c:strCache>
                <c:ptCount val="3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7.7</c:v>
                </c:pt>
                <c:pt idx="1">
                  <c:v>13.8</c:v>
                </c:pt>
                <c:pt idx="2">
                  <c:v>18.7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06A72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Recurrent consumer spending</c:v>
                </c:pt>
              </c:strCache>
            </c:strRef>
          </c:tx>
          <c:spPr>
            <a:solidFill>
              <a:srgbClr val="E63946"/>
            </a:solidFill>
          </c:spPr>
          <c:cat>
            <c:strRef>
              <c:f>Sheet1!$A$2:$A$3</c:f>
              <c:strCache>
                <c:ptCount val="2"/>
                <c:pt idx="0">
                  <c:v>FY2020</c:v>
                </c:pt>
                <c:pt idx="1">
                  <c:v>FY2021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1385</c:v>
                </c:pt>
                <c:pt idx="1">
                  <c:v>2075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game and other</c:v>
                </c:pt>
              </c:strCache>
            </c:strRef>
          </c:tx>
          <c:spPr>
            <a:solidFill>
              <a:srgbClr val="B0B0B0"/>
            </a:solidFill>
          </c:spPr>
          <c:cat>
            <c:strRef>
              <c:f>Sheet1!$A$2:$A$3</c:f>
              <c:strCache>
                <c:ptCount val="2"/>
                <c:pt idx="0">
                  <c:v>FY2020</c:v>
                </c:pt>
                <c:pt idx="1">
                  <c:v>FY2021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1704</c:v>
                </c:pt>
                <c:pt idx="1">
                  <c:v>1298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06A72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FY2021</c:v>
                </c:pt>
              </c:strCache>
            </c:strRef>
          </c:tx>
          <c:dPt>
            <c:idx val="0"/>
            <c:spPr>
              <a:solidFill>
                <a:srgbClr val="1B4D7E"/>
              </a:solidFill>
            </c:spPr>
          </c:dPt>
          <c:dPt>
            <c:idx val="1"/>
            <c:spPr>
              <a:solidFill>
                <a:srgbClr val="E63946"/>
              </a:solidFill>
            </c:spPr>
          </c:dPt>
          <c:cat>
            <c:strRef>
              <c:f>Sheet1!$A$2:$A$3</c:f>
              <c:strCache>
                <c:ptCount val="2"/>
                <c:pt idx="0">
                  <c:v>Console</c:v>
                </c:pt>
                <c:pt idx="1">
                  <c:v>PC and 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2517</c:v>
                </c:pt>
                <c:pt idx="1">
                  <c:v>856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606A72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Mobile net revenue</c:v>
                </c:pt>
              </c:strCache>
            </c:strRef>
          </c:tx>
          <c:spPr>
            <a:solidFill>
              <a:srgbClr val="E63946"/>
            </a:solidFill>
          </c:spPr>
          <c:cat>
            <c:strRef>
              <c:f>Sheet1!$A$2:$A$3</c:f>
              <c:strCache>
                <c:ptCount val="2"/>
                <c:pt idx="0">
                  <c:v>Q2 FY2021</c:v>
                </c:pt>
                <c:pt idx="1">
                  <c:v>Q2 FY2022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115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The Financial Story of Take-Two Interactive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dy_cover"/>
          <p:cNvSpPr txBox="1"/>
          <p:nvPr/>
        </p:nvSpPr>
        <p:spPr>
          <a:xfrm>
            <a:off x="411480" y="1344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Arial"/>
              </a:rPr>
              <a:t>Record fiscal 2021 results and the first half of fiscal 2022 — a publisher of owned, iconic franchises (Nasdaq: TTWO)</a:t>
            </a:r>
          </a:p>
        </p:txBody>
      </p:sp>
      <p:sp>
        <p:nvSpPr>
          <p:cNvPr id="5" name="body_subtitle"/>
          <p:cNvSpPr txBox="1"/>
          <p:nvPr/>
        </p:nvSpPr>
        <p:spPr>
          <a:xfrm>
            <a:off x="411480" y="57607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0AEC0"/>
                </a:solidFill>
                <a:latin typeface="Arial"/>
              </a:rPr>
              <a:t>Fiscal year ended March 31, 2021, and the six months ended September 30, 2021</a:t>
            </a:r>
          </a:p>
        </p:txBody>
      </p:sp>
      <p:sp>
        <p:nvSpPr>
          <p:cNvPr id="6" name="background_accent_bar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Context for this overview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dy_left_col"/>
          <p:cNvSpPr txBox="1"/>
          <p:nvPr/>
        </p:nvSpPr>
        <p:spPr>
          <a:xfrm>
            <a:off x="411480" y="134416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B4D7E"/>
                </a:solidFill>
                <a:latin typeface="Arial"/>
              </a:rPr>
              <a:t>What this covers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This overview summarizes Take-Two's financial performance across revenue, profitability, revenue mix, and capital position.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It draws on three lenses: the multi-year growth trend, the FY2021 record year in detail, and the early-FY2022 trajectory.</a:t>
            </a:r>
          </a:p>
          <a:p>
            <a:pPr algn="l" marL="181610" indent="-18161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All figures are as reported in SEC filings; net bookings is the company's key operational (non-GAAP) metric and is shown alongside GAAP net revenue.</a:t>
            </a:r>
          </a:p>
        </p:txBody>
      </p:sp>
      <p:sp>
        <p:nvSpPr>
          <p:cNvPr id="5" name="body_right_col"/>
          <p:cNvSpPr txBox="1"/>
          <p:nvPr/>
        </p:nvSpPr>
        <p:spPr>
          <a:xfrm>
            <a:off x="6172200" y="134416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B4D7E"/>
                </a:solidFill>
                <a:latin typeface="Arial"/>
              </a:rPr>
              <a:t>How Take-Two is built</a:t>
            </a:r>
          </a:p>
          <a:p>
            <a:pPr algn="l" marL="181610" indent="-18161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1A2332"/>
                </a:solidFill>
                <a:latin typeface="Arial"/>
              </a:rPr>
              <a:t>Five publishing labels:</a:t>
            </a:r>
            <a:r>
              <a:rPr sz="1300" b="0" i="0">
                <a:solidFill>
                  <a:srgbClr val="1A2332"/>
                </a:solidFill>
                <a:latin typeface="Arial"/>
              </a:rPr>
              <a:t> Rockstar Games, 2K, Private Division, Social Point, and Playdots.</a:t>
            </a:r>
          </a:p>
          <a:p>
            <a:pPr algn="l" marL="181610" indent="-18161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1A2332"/>
                </a:solidFill>
                <a:latin typeface="Arial"/>
              </a:rPr>
              <a:t>27 proprietary franchises</a:t>
            </a:r>
            <a:r>
              <a:rPr sz="1300" b="0" i="0">
                <a:solidFill>
                  <a:srgbClr val="1A2332"/>
                </a:solidFill>
                <a:latin typeface="Arial"/>
              </a:rPr>
              <a:t>, internally owned across action, sports, strategy, and mobile genres.</a:t>
            </a:r>
          </a:p>
          <a:p>
            <a:pPr algn="l" marL="181610" indent="-18161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1A2332"/>
                </a:solidFill>
                <a:latin typeface="Arial"/>
              </a:rPr>
              <a:t>Grand Theft Auto</a:t>
            </a:r>
            <a:r>
              <a:rPr sz="1300" b="0" i="0">
                <a:solidFill>
                  <a:srgbClr val="1A2332"/>
                </a:solidFill>
                <a:latin typeface="Arial"/>
              </a:rPr>
              <a:t> is the cornerstone IP — GTA V alone has sold in over 155 million units since launch.</a:t>
            </a:r>
          </a:p>
          <a:p>
            <a:pPr algn="l" marL="181610" indent="-181610">
              <a:spcAft>
                <a:spcPts val="0"/>
              </a:spcAft>
              <a:buFont typeface="Arial"/>
              <a:buChar char="•"/>
            </a:pPr>
            <a:r>
              <a:rPr sz="1300" b="1" i="0">
                <a:solidFill>
                  <a:srgbClr val="1A2332"/>
                </a:solidFill>
                <a:latin typeface="Arial"/>
              </a:rPr>
              <a:t>6,495 full-time employees</a:t>
            </a:r>
            <a:r>
              <a:rPr sz="1300" b="0" i="0">
                <a:solidFill>
                  <a:srgbClr val="1A2332"/>
                </a:solidFill>
                <a:latin typeface="Arial"/>
              </a:rPr>
              <a:t> as of March 31, 2021, with 77% in product development.</a:t>
            </a:r>
          </a:p>
        </p:txBody>
      </p:sp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Take-Two FY2021 Form 10-K; Q2 FY2022 earnings release &amp; Form 10-Q.</a:t>
            </a:r>
          </a:p>
        </p:txBody>
      </p:sp>
      <p:sp>
        <p:nvSpPr>
          <p:cNvPr id="7" name="meta_pagenum_2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Fiscal 2021 set company records across every headline metric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net_revenue"/>
          <p:cNvSpPr/>
          <p:nvPr/>
        </p:nvSpPr>
        <p:spPr>
          <a:xfrm>
            <a:off x="411480" y="13441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$3,373M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Net Revenue</a:t>
            </a:r>
          </a:p>
        </p:txBody>
      </p:sp>
      <p:sp>
        <p:nvSpPr>
          <p:cNvPr id="5" name="card_net_income"/>
          <p:cNvSpPr/>
          <p:nvPr/>
        </p:nvSpPr>
        <p:spPr>
          <a:xfrm>
            <a:off x="3310128" y="13441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$589M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Net Income</a:t>
            </a:r>
          </a:p>
        </p:txBody>
      </p:sp>
      <p:sp>
        <p:nvSpPr>
          <p:cNvPr id="6" name="card_diluted_eps"/>
          <p:cNvSpPr/>
          <p:nvPr/>
        </p:nvSpPr>
        <p:spPr>
          <a:xfrm>
            <a:off x="6208776" y="13441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$5.09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Diluted EPS</a:t>
            </a:r>
          </a:p>
        </p:txBody>
      </p:sp>
      <p:sp>
        <p:nvSpPr>
          <p:cNvPr id="7" name="card_net_bookings"/>
          <p:cNvSpPr/>
          <p:nvPr/>
        </p:nvSpPr>
        <p:spPr>
          <a:xfrm>
            <a:off x="9107424" y="13441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$3,553M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Net Bookings</a:t>
            </a:r>
          </a:p>
        </p:txBody>
      </p:sp>
      <p:sp>
        <p:nvSpPr>
          <p:cNvPr id="8" name="body_kpi_bullets"/>
          <p:cNvSpPr txBox="1"/>
          <p:nvPr/>
        </p:nvSpPr>
        <p:spPr>
          <a:xfrm>
            <a:off x="411480" y="3081528"/>
            <a:ext cx="1136873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Net revenue rose 9% year over year to a company record $3.37 billion.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Net income grew 46% to $589 million, the highest in company history.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Net bookings — the forward-looking demand metric — reached $3.55 billion, up 19%.</a:t>
            </a:r>
          </a:p>
        </p:txBody>
      </p:sp>
      <p:sp>
        <p:nvSpPr>
          <p:cNvPr id="9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FY2021 10-K, Consolidated Statements of Operations; FY2021 earnings release (Net Bookings).</a:t>
            </a:r>
          </a:p>
        </p:txBody>
      </p:sp>
      <p:sp>
        <p:nvSpPr>
          <p:cNvPr id="10" name="meta_pagenum_3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Net revenue has grown every year, up 26% over three years to a record $3.4B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_revenue"/>
          <p:cNvSpPr txBox="1"/>
          <p:nvPr/>
        </p:nvSpPr>
        <p:spPr>
          <a:xfrm>
            <a:off x="411480" y="152196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Net revenue, fiscal years ended March 31 ($M)</a:t>
            </a:r>
          </a:p>
        </p:txBody>
      </p:sp>
      <p:graphicFrame>
        <p:nvGraphicFramePr>
          <p:cNvPr id="5" name="chart_revenue_trend"/>
          <p:cNvGraphicFramePr>
            <a:graphicFrameLocks noGrp="1"/>
          </p:cNvGraphicFramePr>
          <p:nvPr/>
        </p:nvGraphicFramePr>
        <p:xfrm>
          <a:off x="411480" y="1750568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ody_rev_trend_bullets"/>
          <p:cNvSpPr txBox="1"/>
          <p:nvPr/>
        </p:nvSpPr>
        <p:spPr>
          <a:xfrm>
            <a:off x="7589520" y="1521968"/>
            <a:ext cx="4160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Five straight years of top-line expansion, accelerating sharply from FY2019 onward.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FY2021's $3.37B is an all-time high, +9% over FY2020 and +26% over FY2019.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Growth has been driven by the shift to recurrent consumer spending (see next section).</a:t>
            </a:r>
          </a:p>
        </p:txBody>
      </p:sp>
      <p:sp>
        <p:nvSpPr>
          <p:cNvPr id="7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FY2021 10-K (FY2019–FY2021 exact); stockanalysis.com (FY2017–FY2018). Note: net revenue is GAAP; differs from net bookings.</a:t>
            </a:r>
          </a:p>
        </p:txBody>
      </p:sp>
      <p:sp>
        <p:nvSpPr>
          <p:cNvPr id="8" name="meta_pagenum_4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Margins expanded sharply: gross margin reached 54.5% and operating margin 18.7%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_margins"/>
          <p:cNvSpPr txBox="1"/>
          <p:nvPr/>
        </p:nvSpPr>
        <p:spPr>
          <a:xfrm>
            <a:off x="411480" y="152196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Gross margin and operating margin, FY2019–FY2021 (% of net revenue)</a:t>
            </a:r>
          </a:p>
        </p:txBody>
      </p:sp>
      <p:graphicFrame>
        <p:nvGraphicFramePr>
          <p:cNvPr id="5" name="chart_profitability"/>
          <p:cNvGraphicFramePr>
            <a:graphicFrameLocks noGrp="1"/>
          </p:cNvGraphicFramePr>
          <p:nvPr/>
        </p:nvGraphicFramePr>
        <p:xfrm>
          <a:off x="411480" y="1750568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ody_profit_bullets"/>
          <p:cNvSpPr txBox="1"/>
          <p:nvPr/>
        </p:nvSpPr>
        <p:spPr>
          <a:xfrm>
            <a:off x="7589520" y="1521968"/>
            <a:ext cx="4160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Gross margin climbed nearly 12 points in two years as higher-margin digital and recurrent revenue grew.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Income from operations more than tripled, from $207M (FY2019) to $629M (FY2021).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Net income margin reached 17.5% in FY2021, up from 12.5% in FY2019.</a:t>
            </a:r>
          </a:p>
        </p:txBody>
      </p:sp>
      <p:sp>
        <p:nvSpPr>
          <p:cNvPr id="7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FY2021 10-K, Statements of Operations. Margins computed on GAAP net revenue.</a:t>
            </a:r>
          </a:p>
        </p:txBody>
      </p:sp>
      <p:sp>
        <p:nvSpPr>
          <p:cNvPr id="8" name="meta_pagenum_5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Recurrent consumer spending became the majority of revenue, flipping the model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_mix"/>
          <p:cNvSpPr txBox="1"/>
          <p:nvPr/>
        </p:nvSpPr>
        <p:spPr>
          <a:xfrm>
            <a:off x="411480" y="152196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Net revenue by type, FY2020 vs FY2021 ($M)</a:t>
            </a:r>
          </a:p>
        </p:txBody>
      </p:sp>
      <p:graphicFrame>
        <p:nvGraphicFramePr>
          <p:cNvPr id="5" name="chart_revenue_mix"/>
          <p:cNvGraphicFramePr>
            <a:graphicFrameLocks noGrp="1"/>
          </p:cNvGraphicFramePr>
          <p:nvPr/>
        </p:nvGraphicFramePr>
        <p:xfrm>
          <a:off x="411480" y="1750568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ody_mix_bullets"/>
          <p:cNvSpPr txBox="1"/>
          <p:nvPr/>
        </p:nvSpPr>
        <p:spPr>
          <a:xfrm>
            <a:off x="7589520" y="1521968"/>
            <a:ext cx="4160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RCS grew 50% year over year and became the majority of revenue for the first time.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RCS reached 62% of net revenue in FY2021 (and 63% of net bookings), up from 45% a year earlier.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The shift de-risks the model: revenue is increasingly recurring rather than tied to new-title launches.</a:t>
            </a:r>
          </a:p>
        </p:txBody>
      </p:sp>
      <p:sp>
        <p:nvSpPr>
          <p:cNvPr id="7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FY2021 10-K, net revenue by type. RCS = recurrent consumer spending (in-game purchases, virtual currency, add-on content).</a:t>
            </a:r>
          </a:p>
        </p:txBody>
      </p:sp>
      <p:sp>
        <p:nvSpPr>
          <p:cNvPr id="8" name="meta_pagenum_6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Revenue is overwhelmingly digital and led by the U.S., with 40% from abroad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channel"/>
          <p:cNvSpPr txBox="1"/>
          <p:nvPr/>
        </p:nvSpPr>
        <p:spPr>
          <a:xfrm>
            <a:off x="411480" y="15219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Net revenue by distribution channel</a:t>
            </a:r>
          </a:p>
        </p:txBody>
      </p:sp>
      <p:graphicFrame>
        <p:nvGraphicFramePr>
          <p:cNvPr id="5" name="table_channel"/>
          <p:cNvGraphicFramePr>
            <a:graphicFrameLocks noGrp="1"/>
          </p:cNvGraphicFramePr>
          <p:nvPr/>
        </p:nvGraphicFramePr>
        <p:xfrm>
          <a:off x="411480" y="1750568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FY2021 ($M)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Digital 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2,919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86.6%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Physical retail &amp; 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13.4%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aption_table_geo"/>
          <p:cNvSpPr txBox="1"/>
          <p:nvPr/>
        </p:nvSpPr>
        <p:spPr>
          <a:xfrm>
            <a:off x="6172200" y="15219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Net revenue by geography</a:t>
            </a:r>
          </a:p>
        </p:txBody>
      </p:sp>
      <p:graphicFrame>
        <p:nvGraphicFramePr>
          <p:cNvPr id="7" name="table_geo"/>
          <p:cNvGraphicFramePr>
            <a:graphicFrameLocks noGrp="1"/>
          </p:cNvGraphicFramePr>
          <p:nvPr/>
        </p:nvGraphicFramePr>
        <p:xfrm>
          <a:off x="6172200" y="1750568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Geography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FY2020 ($M)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FY2021 ($M)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1,776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+14%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International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1,313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1,357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+3%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body_channel_geo_bullets"/>
          <p:cNvSpPr txBox="1"/>
          <p:nvPr/>
        </p:nvSpPr>
        <p:spPr>
          <a:xfrm>
            <a:off x="411480" y="3122168"/>
            <a:ext cx="1136873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Digital delivery reached 86.6% of net revenue (87% of net bookings), up from 63% just two years earlier.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The U.S. drove growth at +14%; international held 40% of revenue, with Asia ~7% of net bookings — a stated expansion opportunity.</a:t>
            </a:r>
          </a:p>
        </p:txBody>
      </p:sp>
      <p:sp>
        <p:nvSpPr>
          <p:cNvPr id="9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FY2021 10-K, net revenue by distribution channel and by geography.</a:t>
            </a:r>
          </a:p>
        </p:txBody>
      </p:sp>
      <p:sp>
        <p:nvSpPr>
          <p:cNvPr id="10" name="meta_pagenum_7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Console anchors the business while PC and mobile broaden the base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_platform"/>
          <p:cNvSpPr txBox="1"/>
          <p:nvPr/>
        </p:nvSpPr>
        <p:spPr>
          <a:xfrm>
            <a:off x="411480" y="152196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FY2021 net revenue by platform ($M)</a:t>
            </a:r>
          </a:p>
        </p:txBody>
      </p:sp>
      <p:graphicFrame>
        <p:nvGraphicFramePr>
          <p:cNvPr id="5" name="chart_platform"/>
          <p:cNvGraphicFramePr>
            <a:graphicFrameLocks noGrp="1"/>
          </p:cNvGraphicFramePr>
          <p:nvPr/>
        </p:nvGraphicFramePr>
        <p:xfrm>
          <a:off x="411480" y="1750568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ody_platform_bullets"/>
          <p:cNvSpPr txBox="1"/>
          <p:nvPr/>
        </p:nvSpPr>
        <p:spPr>
          <a:xfrm>
            <a:off x="7589520" y="1521968"/>
            <a:ext cx="4160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Console delivered 75% of FY2021 net revenue, led by the GTA and NBA 2K franchises.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PC and other contributed $856M (25%), including a growing mobile and PC-digital base.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Grand Theft Auto products alone represented 29.2% of total net revenue.</a:t>
            </a:r>
          </a:p>
        </p:txBody>
      </p:sp>
      <p:sp>
        <p:nvSpPr>
          <p:cNvPr id="7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FY2021 10-K, net revenue by platform.</a:t>
            </a:r>
          </a:p>
        </p:txBody>
      </p:sp>
      <p:sp>
        <p:nvSpPr>
          <p:cNvPr id="8" name="meta_pagenum_8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A fortress balance sheet: $2.7B in cash and investments funds the pipeline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cash"/>
          <p:cNvSpPr/>
          <p:nvPr/>
        </p:nvSpPr>
        <p:spPr>
          <a:xfrm>
            <a:off x="411480" y="15219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$1,423M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Cash &amp; Equivalents</a:t>
            </a:r>
          </a:p>
        </p:txBody>
      </p:sp>
      <p:sp>
        <p:nvSpPr>
          <p:cNvPr id="5" name="card_sti"/>
          <p:cNvSpPr/>
          <p:nvPr/>
        </p:nvSpPr>
        <p:spPr>
          <a:xfrm>
            <a:off x="3310128" y="15219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$1,309M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Short-Term Investments</a:t>
            </a:r>
          </a:p>
        </p:txBody>
      </p:sp>
      <p:sp>
        <p:nvSpPr>
          <p:cNvPr id="6" name="card_ocf"/>
          <p:cNvSpPr/>
          <p:nvPr/>
        </p:nvSpPr>
        <p:spPr>
          <a:xfrm>
            <a:off x="6208776" y="15219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$912M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Operating Cash Flow</a:t>
            </a:r>
          </a:p>
        </p:txBody>
      </p:sp>
      <p:sp>
        <p:nvSpPr>
          <p:cNvPr id="7" name="card_equity"/>
          <p:cNvSpPr/>
          <p:nvPr/>
        </p:nvSpPr>
        <p:spPr>
          <a:xfrm>
            <a:off x="9107424" y="15219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$3,332M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Stockholders' Equity</a:t>
            </a:r>
          </a:p>
        </p:txBody>
      </p:sp>
      <p:sp>
        <p:nvSpPr>
          <p:cNvPr id="8" name="body_balance_bullets"/>
          <p:cNvSpPr txBox="1"/>
          <p:nvPr/>
        </p:nvSpPr>
        <p:spPr>
          <a:xfrm>
            <a:off x="411480" y="3259328"/>
            <a:ext cx="1136873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Take-Two held $2.7 billion in cash and short-term investments at fiscal year-end, against modest liabilities.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Operating cash flow rose 33% to $912 million, funding development of the multi-year slate internally.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Total assets were $6.0 billion with $3.3 billion of stockholders' equity — ample capacity for content investment and M&amp;A.</a:t>
            </a:r>
          </a:p>
        </p:txBody>
      </p:sp>
      <p:sp>
        <p:nvSpPr>
          <p:cNvPr id="9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FY2021 10-K, Balance Sheet and Statement of Cash Flows.</a:t>
            </a:r>
          </a:p>
        </p:txBody>
      </p:sp>
      <p:sp>
        <p:nvSpPr>
          <p:cNvPr id="10" name="meta_pagenum_9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Part Two: The first half of fiscal 2022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dy_section"/>
          <p:cNvSpPr txBox="1"/>
          <p:nvPr/>
        </p:nvSpPr>
        <p:spPr>
          <a:xfrm>
            <a:off x="411480" y="13441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Arial"/>
              </a:rPr>
              <a:t>Investing through a transition year while recurrent spending deepens</a:t>
            </a:r>
          </a:p>
        </p:txBody>
      </p:sp>
      <p:sp>
        <p:nvSpPr>
          <p:cNvPr id="5" name="background_accent_bar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pagenum_10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0AEC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Q2 FY2022 revenue held steady as the company invested for its largest-ever pipeline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q2_rev"/>
          <p:cNvSpPr/>
          <p:nvPr/>
        </p:nvSpPr>
        <p:spPr>
          <a:xfrm>
            <a:off x="411480" y="15219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$858M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Q2 Net Revenue</a:t>
            </a:r>
          </a:p>
        </p:txBody>
      </p:sp>
      <p:sp>
        <p:nvSpPr>
          <p:cNvPr id="5" name="card_q2_oi"/>
          <p:cNvSpPr/>
          <p:nvPr/>
        </p:nvSpPr>
        <p:spPr>
          <a:xfrm>
            <a:off x="3310128" y="15219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$20M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Q2 Operating Income</a:t>
            </a:r>
          </a:p>
        </p:txBody>
      </p:sp>
      <p:sp>
        <p:nvSpPr>
          <p:cNvPr id="6" name="card_q2_eps"/>
          <p:cNvSpPr/>
          <p:nvPr/>
        </p:nvSpPr>
        <p:spPr>
          <a:xfrm>
            <a:off x="6208776" y="15219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$0.09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Q2 Diluted EPS</a:t>
            </a:r>
          </a:p>
        </p:txBody>
      </p:sp>
      <p:sp>
        <p:nvSpPr>
          <p:cNvPr id="7" name="card_q2_bookings"/>
          <p:cNvSpPr/>
          <p:nvPr/>
        </p:nvSpPr>
        <p:spPr>
          <a:xfrm>
            <a:off x="9107424" y="1521968"/>
            <a:ext cx="2670048" cy="1463040"/>
          </a:xfrm>
          <a:prstGeom prst="roundRect">
            <a:avLst/>
          </a:prstGeom>
          <a:solidFill>
            <a:srgbClr val="1B4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 bIns="101600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$985M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Q2 Net Bookings</a:t>
            </a:r>
          </a:p>
        </p:txBody>
      </p:sp>
      <p:sp>
        <p:nvSpPr>
          <p:cNvPr id="8" name="body_q2_bullets"/>
          <p:cNvSpPr txBox="1"/>
          <p:nvPr/>
        </p:nvSpPr>
        <p:spPr>
          <a:xfrm>
            <a:off x="411480" y="3259328"/>
            <a:ext cx="1136873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Net bookings grew 3% to $985M; recurrent consumer spending rose to 69% of net bookings.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Operating income was $20M (down from $115M a year earlier) as Take-Two stepped up investment in development.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Gross margin was 46.8%; the quarter reflects a deliberate build-up ahead of a record forward slate.</a:t>
            </a:r>
          </a:p>
        </p:txBody>
      </p:sp>
      <p:sp>
        <p:nvSpPr>
          <p:cNvPr id="9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Q2 FY2022 earnings release and Form 10-Q (quarter ended September 30, 2021).</a:t>
            </a:r>
          </a:p>
        </p:txBody>
      </p:sp>
      <p:sp>
        <p:nvSpPr>
          <p:cNvPr id="10" name="meta_pagenum_11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In Q2, digital and recurrent spending deepened across both geography and channel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q2_geo"/>
          <p:cNvSpPr txBox="1"/>
          <p:nvPr/>
        </p:nvSpPr>
        <p:spPr>
          <a:xfrm>
            <a:off x="411480" y="15219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Q2 net revenue by geography</a:t>
            </a:r>
          </a:p>
        </p:txBody>
      </p:sp>
      <p:graphicFrame>
        <p:nvGraphicFramePr>
          <p:cNvPr id="5" name="table_q2_geo"/>
          <p:cNvGraphicFramePr>
            <a:graphicFrameLocks noGrp="1"/>
          </p:cNvGraphicFramePr>
          <p:nvPr/>
        </p:nvGraphicFramePr>
        <p:xfrm>
          <a:off x="411480" y="1750568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Geography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Q2 FY22 ($M)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International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aption_table_q2_channel"/>
          <p:cNvSpPr txBox="1"/>
          <p:nvPr/>
        </p:nvSpPr>
        <p:spPr>
          <a:xfrm>
            <a:off x="6172200" y="15219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Q2 net revenue by channel</a:t>
            </a:r>
          </a:p>
        </p:txBody>
      </p:sp>
      <p:graphicFrame>
        <p:nvGraphicFramePr>
          <p:cNvPr id="7" name="table_q2_channel"/>
          <p:cNvGraphicFramePr>
            <a:graphicFrameLocks noGrp="1"/>
          </p:cNvGraphicFramePr>
          <p:nvPr/>
        </p:nvGraphicFramePr>
        <p:xfrm>
          <a:off x="6172200" y="1750568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Q2 FY22 ($M)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>
                    <a:solidFill>
                      <a:srgbClr val="1B4D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Digital 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Physical &amp; 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332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body_q2_mix_bullets"/>
          <p:cNvSpPr txBox="1"/>
          <p:nvPr/>
        </p:nvSpPr>
        <p:spPr>
          <a:xfrm>
            <a:off x="411480" y="3122168"/>
            <a:ext cx="1136873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Digital reached 91% of quarterly net revenue (89% of net bookings) — the structural shift continues.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The U.S./international split held near 60/40, consistent with the full-year FY2021 mix.</a:t>
            </a:r>
          </a:p>
        </p:txBody>
      </p:sp>
      <p:sp>
        <p:nvSpPr>
          <p:cNvPr id="9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Q2 FY2022 earnings release (quarter ended September 30, 2021).</a:t>
            </a:r>
          </a:p>
        </p:txBody>
      </p:sp>
      <p:sp>
        <p:nvSpPr>
          <p:cNvPr id="10" name="meta_pagenum_12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Mobile net revenue nearly doubled, led by Social Point's live-service titles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_mobile"/>
          <p:cNvSpPr txBox="1"/>
          <p:nvPr/>
        </p:nvSpPr>
        <p:spPr>
          <a:xfrm>
            <a:off x="411480" y="152196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Mobile net revenue, Q2 FY2021 vs Q2 FY2022 ($M)</a:t>
            </a:r>
          </a:p>
        </p:txBody>
      </p:sp>
      <p:graphicFrame>
        <p:nvGraphicFramePr>
          <p:cNvPr id="5" name="chart_mobile"/>
          <p:cNvGraphicFramePr>
            <a:graphicFrameLocks noGrp="1"/>
          </p:cNvGraphicFramePr>
          <p:nvPr/>
        </p:nvGraphicFramePr>
        <p:xfrm>
          <a:off x="411480" y="1750568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ody_mobile_bullets"/>
          <p:cNvSpPr txBox="1"/>
          <p:nvPr/>
        </p:nvSpPr>
        <p:spPr>
          <a:xfrm>
            <a:off x="7589520" y="1521968"/>
            <a:ext cx="4160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Mobile net revenue grew 89% year over year, the fastest-growing platform in the quarter.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Growth was led by Social Point's live-service mobile portfolio and continued in-game spending.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2332"/>
                </a:solidFill>
                <a:latin typeface="Arial"/>
              </a:rPr>
              <a:t>Mobile deepens the recurrent-revenue mix and broadens reach beyond console and PC.</a:t>
            </a:r>
          </a:p>
        </p:txBody>
      </p:sp>
      <p:sp>
        <p:nvSpPr>
          <p:cNvPr id="7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Q2 FY2022 Form 10-Q. Mobile is reported within “PC and other.”</a:t>
            </a:r>
          </a:p>
        </p:txBody>
      </p:sp>
      <p:sp>
        <p:nvSpPr>
          <p:cNvPr id="8" name="meta_pagenum_13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FFFFFF"/>
                </a:solidFill>
                <a:latin typeface="Georgia"/>
              </a:rPr>
              <a:t>“We are entering our strongest development pipeline ever.”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dy_quote_attr"/>
          <p:cNvSpPr txBox="1"/>
          <p:nvPr/>
        </p:nvSpPr>
        <p:spPr>
          <a:xfrm>
            <a:off x="411480" y="13441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Arial"/>
              </a:rPr>
              <a:t>— Strauss Zelnick, Chairman &amp; CEO, on Take-Two's multi-year slate</a:t>
            </a:r>
          </a:p>
        </p:txBody>
      </p:sp>
      <p:sp>
        <p:nvSpPr>
          <p:cNvPr id="5" name="background_accent_bar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pagenum_14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0AEC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A record year and a deliberate investment phase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dy_closing_bullets"/>
          <p:cNvSpPr txBox="1"/>
          <p:nvPr/>
        </p:nvSpPr>
        <p:spPr>
          <a:xfrm>
            <a:off x="411480" y="1344168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CADCFC"/>
                </a:solidFill>
                <a:latin typeface="Arial"/>
              </a:rPr>
              <a:t>FY2021 delivered record revenue ($3.37B), net income ($589M), and margins, on a model now majority-recurrent.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CADCFC"/>
                </a:solidFill>
                <a:latin typeface="Arial"/>
              </a:rPr>
              <a:t>The balance sheet — $2.7B in cash and investments, $912M operating cash flow — funds growth internally.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CADCFC"/>
                </a:solidFill>
                <a:latin typeface="Arial"/>
              </a:rPr>
              <a:t>H1 FY2022 reflects deliberate investment ahead of the strongest pipeline in company history.</a:t>
            </a:r>
          </a:p>
        </p:txBody>
      </p:sp>
      <p:sp>
        <p:nvSpPr>
          <p:cNvPr id="5" name="body_company"/>
          <p:cNvSpPr txBox="1"/>
          <p:nvPr/>
        </p:nvSpPr>
        <p:spPr>
          <a:xfrm>
            <a:off x="411480" y="5486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Take-Two Interactive Software, Inc. · Nasdaq: TTWO</a:t>
            </a:r>
          </a:p>
        </p:txBody>
      </p:sp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0AEC0"/>
                </a:solidFill>
                <a:latin typeface="Arial"/>
              </a:rPr>
              <a:t>Source: FY2021 10-K; Q2 FY2022 earnings release.</a:t>
            </a:r>
          </a:p>
        </p:txBody>
      </p:sp>
      <p:sp>
        <p:nvSpPr>
          <p:cNvPr id="7" name="meta_pagenum_15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0AEC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