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F2A900"/>
            </a:solidFill>
            <a:ln w="28575">
              <a:solidFill>
                <a:srgbClr val="F2A900"/>
              </a:solidFill>
            </a:ln>
          </c:spPr>
          <c:cat>
            <c:strRef>
              <c:f>Sheet1!$A$2:$A$6</c:f>
              <c:strCache>
                <c:ptCount val="5"/>
                <c:pt idx="0">
                  <c:v>FY2017</c:v>
                </c:pt>
                <c:pt idx="1">
                  <c:v>FY2018</c:v>
                </c:pt>
                <c:pt idx="2">
                  <c:v>FY2019</c:v>
                </c:pt>
                <c:pt idx="3">
                  <c:v>FY2020</c:v>
                </c:pt>
                <c:pt idx="4">
                  <c:v>FY2021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F2A900"/>
            </a:solidFill>
            <a:ln w="28575">
              <a:solidFill>
                <a:srgbClr val="F2A900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D7263D"/>
            </a:solidFill>
            <a:ln w="28575">
              <a:solidFill>
                <a:srgbClr val="D7263D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solidFill>
              <a:srgbClr val="F2A900"/>
            </a:solidFill>
            <a:ln w="28575">
              <a:solidFill>
                <a:srgbClr val="F2A900"/>
              </a:solidFill>
            </a:ln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1704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D7263D"/>
            </a:solidFill>
            <a:ln w="28575">
              <a:solidFill>
                <a:srgbClr val="D7263D"/>
              </a:solidFill>
            </a:ln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2075</c:v>
                </c:pt>
                <c:pt idx="1">
                  <c:v>1298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dPt>
            <c:idx val="0"/>
            <c:spPr>
              <a:solidFill>
                <a:srgbClr val="F2A900"/>
              </a:solidFill>
            </c:spPr>
          </c:dPt>
          <c:dPt>
            <c:idx val="1"/>
            <c:spPr>
              <a:solidFill>
                <a:srgbClr val="D7263D"/>
              </a:solidFill>
            </c:spPr>
          </c:dPt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</c:v>
                </c:pt>
              </c:strCache>
            </c:strRef>
          </c:tx>
          <c:spPr>
            <a:solidFill>
              <a:srgbClr val="F2A900"/>
            </a:solidFill>
            <a:ln w="28575">
              <a:solidFill>
                <a:srgbClr val="F2A900"/>
              </a:solidFill>
            </a:ln>
          </c:spPr>
          <c:cat>
            <c:strRef>
              <c:f>Sheet1!$A$2:$A$3</c:f>
              <c:strCache>
                <c:ptCount val="2"/>
                <c:pt idx="0">
                  <c:v>Q2 FY2021</c:v>
                </c:pt>
                <c:pt idx="1">
                  <c:v>Q2 FY2022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The Financial Story of Take-Two Interactive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ider_short_rule"/>
          <p:cNvCxnSpPr/>
          <p:nvPr/>
        </p:nvCxnSpPr>
        <p:spPr>
          <a:xfrm>
            <a:off x="9802368" y="832104"/>
            <a:ext cx="566928" cy="0"/>
          </a:xfrm>
          <a:prstGeom prst="bentConnector3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cover_dek"/>
          <p:cNvSpPr txBox="1"/>
          <p:nvPr/>
        </p:nvSpPr>
        <p:spPr>
          <a:xfrm>
            <a:off x="548640" y="1874519"/>
            <a:ext cx="6583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Record fiscal 2021 results and the first half of fiscal 2022 — a publisher of owned, iconic franchises (Nasdaq: TTWO)</a:t>
            </a:r>
          </a:p>
        </p:txBody>
      </p:sp>
      <p:sp>
        <p:nvSpPr>
          <p:cNvPr id="11" name="body_cover_subtitle"/>
          <p:cNvSpPr txBox="1"/>
          <p:nvPr/>
        </p:nvSpPr>
        <p:spPr>
          <a:xfrm>
            <a:off x="548640" y="312724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9D0BC"/>
                </a:solidFill>
                <a:latin typeface="Calibri"/>
              </a:rPr>
              <a:t>Fiscal year ended March 31, 2021, and the six months ended September 30, 2021</a:t>
            </a:r>
          </a:p>
        </p:txBody>
      </p:sp>
      <p:sp>
        <p:nvSpPr>
          <p:cNvPr id="12" name="kpi_record_revenue"/>
          <p:cNvSpPr txBox="1"/>
          <p:nvPr/>
        </p:nvSpPr>
        <p:spPr>
          <a:xfrm>
            <a:off x="548640" y="422452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F2A900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D7263D"/>
                </a:solidFill>
                <a:latin typeface="Trebuchet MS"/>
              </a:rPr>
              <a:t>$3.37B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Record Revenue</a:t>
            </a:r>
          </a:p>
        </p:txBody>
      </p:sp>
      <p:sp>
        <p:nvSpPr>
          <p:cNvPr id="13" name="kpi_net_income"/>
          <p:cNvSpPr txBox="1"/>
          <p:nvPr/>
        </p:nvSpPr>
        <p:spPr>
          <a:xfrm>
            <a:off x="3310127" y="422452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$589M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Income</a:t>
            </a:r>
          </a:p>
        </p:txBody>
      </p:sp>
      <p:sp>
        <p:nvSpPr>
          <p:cNvPr id="14" name="kpi_net_bookings"/>
          <p:cNvSpPr txBox="1"/>
          <p:nvPr/>
        </p:nvSpPr>
        <p:spPr>
          <a:xfrm>
            <a:off x="6071615" y="422452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$3.55B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Bookings</a:t>
            </a:r>
          </a:p>
        </p:txBody>
      </p:sp>
      <p:sp>
        <p:nvSpPr>
          <p:cNvPr id="15" name="kpi_cash_plus_sti"/>
          <p:cNvSpPr txBox="1"/>
          <p:nvPr/>
        </p:nvSpPr>
        <p:spPr>
          <a:xfrm>
            <a:off x="8833103" y="422452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$2.7B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Cash + STI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Context for this overview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_what_this_covers"/>
          <p:cNvSpPr txBox="1"/>
          <p:nvPr/>
        </p:nvSpPr>
        <p:spPr>
          <a:xfrm>
            <a:off x="548640" y="1554480"/>
            <a:ext cx="5230368" cy="4041648"/>
          </a:xfrm>
          <a:prstGeom prst="rect">
            <a:avLst/>
          </a:prstGeom>
          <a:solidFill>
            <a:srgbClr val="FFFBF0"/>
          </a:solidFill>
          <a:ln w="9525">
            <a:solidFill>
              <a:srgbClr val="D7C9A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B3345"/>
                </a:solidFill>
                <a:latin typeface="Trebuchet MS"/>
              </a:rPr>
              <a:t>What this covers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This overview summarizes Take-Two's financial performance across revenue, profitability, revenue mix, and capital position.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It draws on three lenses: the multi-year growth trend, the FY2021 record year in detail, and the early-FY2022 trajectory.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All figures are as reported in SEC filings; net bookings is the company's key operational metric and is shown alongside GAAP net revenue.</a:t>
            </a:r>
          </a:p>
        </p:txBody>
      </p:sp>
      <p:sp>
        <p:nvSpPr>
          <p:cNvPr id="10" name="body_how_built"/>
          <p:cNvSpPr txBox="1"/>
          <p:nvPr/>
        </p:nvSpPr>
        <p:spPr>
          <a:xfrm>
            <a:off x="6108192" y="1554480"/>
            <a:ext cx="5230368" cy="4041648"/>
          </a:xfrm>
          <a:prstGeom prst="rect">
            <a:avLst/>
          </a:prstGeom>
          <a:solidFill>
            <a:srgbClr val="FFFBF0"/>
          </a:solidFill>
          <a:ln w="9525">
            <a:solidFill>
              <a:srgbClr val="D7C9A8"/>
            </a:solidFill>
          </a:ln>
        </p:spPr>
        <p:txBody>
          <a:bodyPr wrap="square" lIns="152400" rIns="152400" tIns="127000" bIns="1270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B3345"/>
                </a:solidFill>
                <a:latin typeface="Trebuchet MS"/>
              </a:rPr>
              <a:t>How Take-Two is built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Five publishing labels: Rockstar Games, 2K, Private Division, Social Point, and Playdots.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27 proprietary franchises, internally owned across action, sports, strategy, and mobile genres.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Grand Theft Auto is the cornerstone IP — GTA V alone has sold in over 155 million units since launch.</a:t>
            </a:r>
          </a:p>
          <a:p>
            <a:pPr algn="l" marL="185801" indent="-185801">
              <a:spcBef>
                <a:spcPts val="0"/>
              </a:spcBef>
              <a:spcAft>
                <a:spcPts val="600"/>
              </a:spcAft>
              <a:buFont typeface="Calibri"/>
              <a:buChar char="•"/>
            </a:pPr>
            <a:r>
              <a:rPr sz="1330" b="0" i="0">
                <a:solidFill>
                  <a:srgbClr val="181B22"/>
                </a:solidFill>
                <a:latin typeface="Calibri"/>
              </a:rPr>
              <a:t>6,495 full-time employees as of March 31, 2021, with 77% in product development.</a:t>
            </a:r>
          </a:p>
        </p:txBody>
      </p:sp>
      <p:sp>
        <p:nvSpPr>
          <p:cNvPr id="11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Take-Two FY2021 Form 10-K; Q2 FY2022 earnings release &amp; Form 10-Q.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Fiscal 2021 set company records across every headline metric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kpi_net_revenue"/>
          <p:cNvSpPr txBox="1"/>
          <p:nvPr/>
        </p:nvSpPr>
        <p:spPr>
          <a:xfrm>
            <a:off x="548640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F2A900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D7263D"/>
                </a:solidFill>
                <a:latin typeface="Trebuchet MS"/>
              </a:rPr>
              <a:t>$3,373M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Revenue</a:t>
            </a:r>
          </a:p>
        </p:txBody>
      </p:sp>
      <p:sp>
        <p:nvSpPr>
          <p:cNvPr id="10" name="kpi_net_income"/>
          <p:cNvSpPr txBox="1"/>
          <p:nvPr/>
        </p:nvSpPr>
        <p:spPr>
          <a:xfrm>
            <a:off x="3310127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$589M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Income</a:t>
            </a:r>
          </a:p>
        </p:txBody>
      </p:sp>
      <p:sp>
        <p:nvSpPr>
          <p:cNvPr id="11" name="kpi_diluted_eps"/>
          <p:cNvSpPr txBox="1"/>
          <p:nvPr/>
        </p:nvSpPr>
        <p:spPr>
          <a:xfrm>
            <a:off x="6071615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$5.09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Diluted EPS</a:t>
            </a:r>
          </a:p>
        </p:txBody>
      </p:sp>
      <p:sp>
        <p:nvSpPr>
          <p:cNvPr id="12" name="kpi_net_bookings"/>
          <p:cNvSpPr txBox="1"/>
          <p:nvPr/>
        </p:nvSpPr>
        <p:spPr>
          <a:xfrm>
            <a:off x="8833103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$3,553M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Bookings</a:t>
            </a:r>
          </a:p>
        </p:txBody>
      </p:sp>
      <p:sp>
        <p:nvSpPr>
          <p:cNvPr id="13" name="body_kpi_context"/>
          <p:cNvSpPr txBox="1"/>
          <p:nvPr/>
        </p:nvSpPr>
        <p:spPr>
          <a:xfrm>
            <a:off x="548640" y="3246120"/>
            <a:ext cx="1051560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Net revenue rose 9% year over year to a company record $3.37 billion.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Net income grew 46% to $589 million, the highest in company history.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Net bookings — the forward-looking demand metric — reached $3.55 billion, up 19%.</a:t>
            </a:r>
          </a:p>
        </p:txBody>
      </p:sp>
      <p:sp>
        <p:nvSpPr>
          <p:cNvPr id="14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Consolidated Statements of Operations; FY2021 earnings release (Net Bookings).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Net revenue has grown every year, up 26% over three years to a record $3.4B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chart_primary"/>
          <p:cNvSpPr txBox="1"/>
          <p:nvPr/>
        </p:nvSpPr>
        <p:spPr>
          <a:xfrm>
            <a:off x="548640" y="155448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Net revenue, fiscal years ended March 31 ($M)</a:t>
            </a:r>
          </a:p>
        </p:txBody>
      </p:sp>
      <p:graphicFrame>
        <p:nvGraphicFramePr>
          <p:cNvPr id="10" name="chart_primary"/>
          <p:cNvGraphicFramePr>
            <a:graphicFrameLocks noGrp="1"/>
          </p:cNvGraphicFramePr>
          <p:nvPr/>
        </p:nvGraphicFramePr>
        <p:xfrm>
          <a:off x="548640" y="1901952"/>
          <a:ext cx="662940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body_so_what"/>
          <p:cNvSpPr txBox="1"/>
          <p:nvPr/>
        </p:nvSpPr>
        <p:spPr>
          <a:xfrm>
            <a:off x="7635240" y="1901952"/>
            <a:ext cx="3364992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Five straight years of top-line expansion, accelerating sharply from FY2019 onward.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FY2021's $3.37B is an all-time high, +9% over FY2020 and +26% over FY2019.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Growth has been driven by the shift to recurrent consumer spending.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 (FY2019–FY2021 exact); stockanalysis.com (FY2017–FY2018). Note: net revenue is GAAP; differs from net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Margins expanded sharply: gross margin reached 54.5% and operating margin 18.7%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chart_primary"/>
          <p:cNvSpPr txBox="1"/>
          <p:nvPr/>
        </p:nvSpPr>
        <p:spPr>
          <a:xfrm>
            <a:off x="548640" y="155448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Gross margin and operating margin, FY2019–FY2021 (% of net revenue)</a:t>
            </a:r>
          </a:p>
        </p:txBody>
      </p:sp>
      <p:graphicFrame>
        <p:nvGraphicFramePr>
          <p:cNvPr id="10" name="chart_primary"/>
          <p:cNvGraphicFramePr>
            <a:graphicFrameLocks noGrp="1"/>
          </p:cNvGraphicFramePr>
          <p:nvPr/>
        </p:nvGraphicFramePr>
        <p:xfrm>
          <a:off x="548640" y="1901952"/>
          <a:ext cx="662940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body_so_what"/>
          <p:cNvSpPr txBox="1"/>
          <p:nvPr/>
        </p:nvSpPr>
        <p:spPr>
          <a:xfrm>
            <a:off x="7635240" y="1901952"/>
            <a:ext cx="3364992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Gross margin climbed nearly 12 points in two years as higher-margin digital and recurrent revenue grew.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Income from operations more than tripled, from $207M to $629M.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Net income margin reached 17.5% in FY2021, up from 12.5% in FY2019.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Statements of Operations. Margins computed on GAAP net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Recurrent consumer spending became the majority of revenue, flipping the model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chart_primary"/>
          <p:cNvSpPr txBox="1"/>
          <p:nvPr/>
        </p:nvSpPr>
        <p:spPr>
          <a:xfrm>
            <a:off x="548640" y="155448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Net revenue by type, FY2020 vs FY2021 ($M)</a:t>
            </a:r>
          </a:p>
        </p:txBody>
      </p:sp>
      <p:graphicFrame>
        <p:nvGraphicFramePr>
          <p:cNvPr id="10" name="chart_primary"/>
          <p:cNvGraphicFramePr>
            <a:graphicFrameLocks noGrp="1"/>
          </p:cNvGraphicFramePr>
          <p:nvPr/>
        </p:nvGraphicFramePr>
        <p:xfrm>
          <a:off x="548640" y="1901952"/>
          <a:ext cx="662940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body_so_what"/>
          <p:cNvSpPr txBox="1"/>
          <p:nvPr/>
        </p:nvSpPr>
        <p:spPr>
          <a:xfrm>
            <a:off x="7635240" y="1901952"/>
            <a:ext cx="3364992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RCS grew 50% year over year and became the majority of revenue for the first time.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RCS reached 62% of net revenue in FY2021, up from 45% a year earlier.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The shift de-risks the model: revenue is increasingly recurring rather than launch-tied.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net revenue by type. RCS = recurrent consumer spending.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Revenue is overwhelmingly digital and led by the U.S., with 40% from abroad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table_left"/>
          <p:cNvSpPr txBox="1"/>
          <p:nvPr/>
        </p:nvSpPr>
        <p:spPr>
          <a:xfrm>
            <a:off x="548640" y="1554480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FY2021 net revenue by channel</a:t>
            </a:r>
          </a:p>
        </p:txBody>
      </p:sp>
      <p:sp>
        <p:nvSpPr>
          <p:cNvPr id="10" name="caption_table_right"/>
          <p:cNvSpPr txBox="1"/>
          <p:nvPr/>
        </p:nvSpPr>
        <p:spPr>
          <a:xfrm>
            <a:off x="6108192" y="1554480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Net revenue by geography</a:t>
            </a:r>
          </a:p>
        </p:txBody>
      </p:sp>
      <p:graphicFrame>
        <p:nvGraphicFramePr>
          <p:cNvPr id="11" name="table_left"/>
          <p:cNvGraphicFramePr>
            <a:graphicFrameLocks noGrp="1"/>
          </p:cNvGraphicFramePr>
          <p:nvPr/>
        </p:nvGraphicFramePr>
        <p:xfrm>
          <a:off x="548640" y="1901952"/>
          <a:ext cx="523036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456"/>
                <a:gridCol w="1743456"/>
                <a:gridCol w="1743456"/>
              </a:tblGrid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FY2021 ($M)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Digital online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2,919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86.6%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Physical retail &amp; other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453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13.4%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_right"/>
          <p:cNvGraphicFramePr>
            <a:graphicFrameLocks noGrp="1"/>
          </p:cNvGraphicFramePr>
          <p:nvPr/>
        </p:nvGraphicFramePr>
        <p:xfrm>
          <a:off x="6108192" y="1901952"/>
          <a:ext cx="523036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307592"/>
                <a:gridCol w="1307592"/>
                <a:gridCol w="1307592"/>
              </a:tblGrid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Geography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FY2020 ($M)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FY2021 ($M)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United States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1,776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2,016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+14%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International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1,313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1,357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</a:tr>
            </a:tbl>
          </a:graphicData>
        </a:graphic>
      </p:graphicFrame>
      <p:sp>
        <p:nvSpPr>
          <p:cNvPr id="13" name="body_table_takeaways"/>
          <p:cNvSpPr txBox="1"/>
          <p:nvPr/>
        </p:nvSpPr>
        <p:spPr>
          <a:xfrm>
            <a:off x="548640" y="4023360"/>
            <a:ext cx="1071676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1389" indent="-191389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70" b="0" i="0">
                <a:solidFill>
                  <a:srgbClr val="181B22"/>
                </a:solidFill>
                <a:latin typeface="Calibri"/>
              </a:rPr>
              <a:t>Digital delivery reached 86.6% of net revenue, up from 63% just two years earlier.</a:t>
            </a:r>
          </a:p>
          <a:p>
            <a:pPr algn="l" marL="191389" indent="-191389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70" b="0" i="0">
                <a:solidFill>
                  <a:srgbClr val="181B22"/>
                </a:solidFill>
                <a:latin typeface="Calibri"/>
              </a:rPr>
              <a:t>The U.S. drove growth at +14%; international held 40% of revenue, with Asia a stated expansion opportunity.</a:t>
            </a:r>
          </a:p>
        </p:txBody>
      </p:sp>
      <p:sp>
        <p:nvSpPr>
          <p:cNvPr id="14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net revenue by distribution channel and by geography.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Console anchors the business while PC and mobile broaden the base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chart_primary"/>
          <p:cNvSpPr txBox="1"/>
          <p:nvPr/>
        </p:nvSpPr>
        <p:spPr>
          <a:xfrm>
            <a:off x="548640" y="155448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FY2021 net revenue by platform ($M)</a:t>
            </a:r>
          </a:p>
        </p:txBody>
      </p:sp>
      <p:graphicFrame>
        <p:nvGraphicFramePr>
          <p:cNvPr id="10" name="chart_primary"/>
          <p:cNvGraphicFramePr>
            <a:graphicFrameLocks noGrp="1"/>
          </p:cNvGraphicFramePr>
          <p:nvPr/>
        </p:nvGraphicFramePr>
        <p:xfrm>
          <a:off x="548640" y="1901952"/>
          <a:ext cx="662940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body_so_what"/>
          <p:cNvSpPr txBox="1"/>
          <p:nvPr/>
        </p:nvSpPr>
        <p:spPr>
          <a:xfrm>
            <a:off x="7635240" y="1901952"/>
            <a:ext cx="3364992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Console delivered 75% of FY2021 net revenue, led by the GTA and NBA 2K franchises.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PC and other contributed $856M, including a growing mobile and PC-digital base.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Grand Theft Auto products alone represented 29.2% of total net revenue.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net revenue by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A fortress balance sheet: $2.7B in cash and investments funds the pipeline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kpi_cash_and_equivalents"/>
          <p:cNvSpPr txBox="1"/>
          <p:nvPr/>
        </p:nvSpPr>
        <p:spPr>
          <a:xfrm>
            <a:off x="548640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F2A900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D7263D"/>
                </a:solidFill>
                <a:latin typeface="Trebuchet MS"/>
              </a:rPr>
              <a:t>$1,423M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Cash &amp; Equivalents</a:t>
            </a:r>
          </a:p>
        </p:txBody>
      </p:sp>
      <p:sp>
        <p:nvSpPr>
          <p:cNvPr id="10" name="kpi_short-term_investments"/>
          <p:cNvSpPr txBox="1"/>
          <p:nvPr/>
        </p:nvSpPr>
        <p:spPr>
          <a:xfrm>
            <a:off x="3310127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$1,309M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Short-Term Investments</a:t>
            </a:r>
          </a:p>
        </p:txBody>
      </p:sp>
      <p:sp>
        <p:nvSpPr>
          <p:cNvPr id="11" name="kpi_operating_cash_flow"/>
          <p:cNvSpPr txBox="1"/>
          <p:nvPr/>
        </p:nvSpPr>
        <p:spPr>
          <a:xfrm>
            <a:off x="6071615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$912M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Operating Cash Flow</a:t>
            </a:r>
          </a:p>
        </p:txBody>
      </p:sp>
      <p:sp>
        <p:nvSpPr>
          <p:cNvPr id="12" name="kpi_stockholders_equity"/>
          <p:cNvSpPr txBox="1"/>
          <p:nvPr/>
        </p:nvSpPr>
        <p:spPr>
          <a:xfrm>
            <a:off x="8833103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$3,332M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Stockholders' Equity</a:t>
            </a:r>
          </a:p>
        </p:txBody>
      </p:sp>
      <p:sp>
        <p:nvSpPr>
          <p:cNvPr id="13" name="body_kpi_context"/>
          <p:cNvSpPr txBox="1"/>
          <p:nvPr/>
        </p:nvSpPr>
        <p:spPr>
          <a:xfrm>
            <a:off x="548640" y="3246120"/>
            <a:ext cx="1051560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Take-Two held $2.7 billion in cash and short-term investments at fiscal year-end, against modest liabilities.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Operating cash flow rose 33% to $912 million, funding development of the multi-year slate internally.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Total assets were $6.0 billion with $3.3 billion of stockholders' equity — ample capacity for content investment and M&amp;A.</a:t>
            </a:r>
          </a:p>
        </p:txBody>
      </p:sp>
      <p:sp>
        <p:nvSpPr>
          <p:cNvPr id="14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10-K, Balance Sheet and Statement of Cash 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Part Two: The first half of fiscal 2022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ider_short_rule"/>
          <p:cNvCxnSpPr/>
          <p:nvPr/>
        </p:nvCxnSpPr>
        <p:spPr>
          <a:xfrm>
            <a:off x="9802368" y="832104"/>
            <a:ext cx="566928" cy="0"/>
          </a:xfrm>
          <a:prstGeom prst="bentConnector3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section_subtitle"/>
          <p:cNvSpPr txBox="1"/>
          <p:nvPr/>
        </p:nvSpPr>
        <p:spPr>
          <a:xfrm>
            <a:off x="548640" y="2212848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9D0BC"/>
                </a:solidFill>
                <a:latin typeface="Calibri"/>
              </a:rPr>
              <a:t>Investing through a transition year while recurrent spending deepens</a:t>
            </a:r>
          </a:p>
        </p:txBody>
      </p:sp>
      <p:sp>
        <p:nvSpPr>
          <p:cNvPr id="11" name="kpi_digital_q2_revenue"/>
          <p:cNvSpPr txBox="1"/>
          <p:nvPr/>
        </p:nvSpPr>
        <p:spPr>
          <a:xfrm>
            <a:off x="548640" y="404164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F2A900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D7263D"/>
                </a:solidFill>
                <a:latin typeface="Trebuchet MS"/>
              </a:rPr>
              <a:t>91%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Digital Q2 Revenue</a:t>
            </a:r>
          </a:p>
        </p:txBody>
      </p:sp>
      <p:sp>
        <p:nvSpPr>
          <p:cNvPr id="12" name="kpi_rcs_net_bookings"/>
          <p:cNvSpPr txBox="1"/>
          <p:nvPr/>
        </p:nvSpPr>
        <p:spPr>
          <a:xfrm>
            <a:off x="3310127" y="404164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69%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RCS Net Bookings</a:t>
            </a:r>
          </a:p>
        </p:txBody>
      </p:sp>
      <p:sp>
        <p:nvSpPr>
          <p:cNvPr id="13" name="kpi_mobile_growth"/>
          <p:cNvSpPr txBox="1"/>
          <p:nvPr/>
        </p:nvSpPr>
        <p:spPr>
          <a:xfrm>
            <a:off x="6071615" y="404164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+89%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Mobile Growth</a:t>
            </a:r>
          </a:p>
        </p:txBody>
      </p:sp>
      <p:sp>
        <p:nvSpPr>
          <p:cNvPr id="14" name="kpi_net_bookings"/>
          <p:cNvSpPr txBox="1"/>
          <p:nvPr/>
        </p:nvSpPr>
        <p:spPr>
          <a:xfrm>
            <a:off x="8833103" y="4041648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$985M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Net Bookings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Q2 FY2022 revenue held steady as the company invested for its largest-ever pipeline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kpi_q2_net_revenue"/>
          <p:cNvSpPr txBox="1"/>
          <p:nvPr/>
        </p:nvSpPr>
        <p:spPr>
          <a:xfrm>
            <a:off x="548640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F2A900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D7263D"/>
                </a:solidFill>
                <a:latin typeface="Trebuchet MS"/>
              </a:rPr>
              <a:t>$858M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Q2 Net Revenue</a:t>
            </a:r>
          </a:p>
        </p:txBody>
      </p:sp>
      <p:sp>
        <p:nvSpPr>
          <p:cNvPr id="10" name="kpi_q2_operating_income"/>
          <p:cNvSpPr txBox="1"/>
          <p:nvPr/>
        </p:nvSpPr>
        <p:spPr>
          <a:xfrm>
            <a:off x="3310127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$20M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Q2 Operating Income</a:t>
            </a:r>
          </a:p>
        </p:txBody>
      </p:sp>
      <p:sp>
        <p:nvSpPr>
          <p:cNvPr id="11" name="kpi_q2_diluted_eps"/>
          <p:cNvSpPr txBox="1"/>
          <p:nvPr/>
        </p:nvSpPr>
        <p:spPr>
          <a:xfrm>
            <a:off x="6071615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$0.09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Q2 Diluted EPS</a:t>
            </a:r>
          </a:p>
        </p:txBody>
      </p:sp>
      <p:sp>
        <p:nvSpPr>
          <p:cNvPr id="12" name="kpi_q2_net_bookings"/>
          <p:cNvSpPr txBox="1"/>
          <p:nvPr/>
        </p:nvSpPr>
        <p:spPr>
          <a:xfrm>
            <a:off x="8833103" y="1627632"/>
            <a:ext cx="2542032" cy="1170432"/>
          </a:xfrm>
          <a:prstGeom prst="rect">
            <a:avLst/>
          </a:prstGeom>
          <a:solidFill>
            <a:srgbClr val="FFFBF0"/>
          </a:solidFill>
          <a:ln w="13970">
            <a:solidFill>
              <a:srgbClr val="D7C9A8"/>
            </a:solidFill>
          </a:ln>
        </p:spPr>
        <p:txBody>
          <a:bodyPr wrap="square" lIns="127000" rIns="127000" tIns="101600" bIns="1016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2B3345"/>
                </a:solidFill>
                <a:latin typeface="Trebuchet MS"/>
              </a:rPr>
              <a:t>$985M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6770"/>
                </a:solidFill>
                <a:latin typeface="Calibri"/>
              </a:rPr>
              <a:t>Q2 Net Bookings</a:t>
            </a:r>
          </a:p>
        </p:txBody>
      </p:sp>
      <p:sp>
        <p:nvSpPr>
          <p:cNvPr id="13" name="body_kpi_context"/>
          <p:cNvSpPr txBox="1"/>
          <p:nvPr/>
        </p:nvSpPr>
        <p:spPr>
          <a:xfrm>
            <a:off x="548640" y="3246120"/>
            <a:ext cx="1051560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Net bookings grew 3% to $985M; recurrent consumer spending rose to 69% of net bookings.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Operating income was $20M as Take-Two stepped up investment in development.</a:t>
            </a:r>
          </a:p>
          <a:p>
            <a:pPr algn="l" marL="203962" indent="-203962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460" b="0" i="0">
                <a:solidFill>
                  <a:srgbClr val="181B22"/>
                </a:solidFill>
                <a:latin typeface="Calibri"/>
              </a:rPr>
              <a:t>Gross margin was 46.8%; the quarter reflects a deliberate build-up ahead of a record forward slate.</a:t>
            </a:r>
          </a:p>
        </p:txBody>
      </p:sp>
      <p:sp>
        <p:nvSpPr>
          <p:cNvPr id="14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Q2 FY2022 earnings release and Form 10-Q (quarter ended September 30, 2021).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In Q2, digital and recurrent spending deepened across both geography and channel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table_left"/>
          <p:cNvSpPr txBox="1"/>
          <p:nvPr/>
        </p:nvSpPr>
        <p:spPr>
          <a:xfrm>
            <a:off x="548640" y="1554480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Q2 FY22 net revenue by geography</a:t>
            </a:r>
          </a:p>
        </p:txBody>
      </p:sp>
      <p:sp>
        <p:nvSpPr>
          <p:cNvPr id="10" name="caption_table_right"/>
          <p:cNvSpPr txBox="1"/>
          <p:nvPr/>
        </p:nvSpPr>
        <p:spPr>
          <a:xfrm>
            <a:off x="6108192" y="1554480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Q2 FY22 net revenue by channel</a:t>
            </a:r>
          </a:p>
        </p:txBody>
      </p:sp>
      <p:graphicFrame>
        <p:nvGraphicFramePr>
          <p:cNvPr id="11" name="table_left"/>
          <p:cNvGraphicFramePr>
            <a:graphicFrameLocks noGrp="1"/>
          </p:cNvGraphicFramePr>
          <p:nvPr/>
        </p:nvGraphicFramePr>
        <p:xfrm>
          <a:off x="548640" y="1901952"/>
          <a:ext cx="523036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456"/>
                <a:gridCol w="1743456"/>
                <a:gridCol w="1743456"/>
              </a:tblGrid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Geography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Q2 FY22 ($M)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United States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515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International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343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_right"/>
          <p:cNvGraphicFramePr>
            <a:graphicFrameLocks noGrp="1"/>
          </p:cNvGraphicFramePr>
          <p:nvPr/>
        </p:nvGraphicFramePr>
        <p:xfrm>
          <a:off x="6108192" y="1901952"/>
          <a:ext cx="523036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456"/>
                <a:gridCol w="1743456"/>
                <a:gridCol w="1743456"/>
              </a:tblGrid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Q2 FY22 ($M)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2B3345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Digital online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779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BF0"/>
                    </a:solidFill>
                  </a:tcPr>
                </a:tc>
              </a:tr>
              <a:tr h="524256"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Physical &amp; other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>
                        <a:defRPr sz="1000">
                          <a:solidFill>
                            <a:srgbClr val="181B22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2EAD8"/>
                    </a:solidFill>
                  </a:tcPr>
                </a:tc>
              </a:tr>
            </a:tbl>
          </a:graphicData>
        </a:graphic>
      </p:graphicFrame>
      <p:sp>
        <p:nvSpPr>
          <p:cNvPr id="13" name="body_table_takeaways"/>
          <p:cNvSpPr txBox="1"/>
          <p:nvPr/>
        </p:nvSpPr>
        <p:spPr>
          <a:xfrm>
            <a:off x="548640" y="4023360"/>
            <a:ext cx="1071676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1389" indent="-191389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70" b="0" i="0">
                <a:solidFill>
                  <a:srgbClr val="181B22"/>
                </a:solidFill>
                <a:latin typeface="Calibri"/>
              </a:rPr>
              <a:t>Digital reached 91% of quarterly net revenue — the structural shift continues.</a:t>
            </a:r>
          </a:p>
          <a:p>
            <a:pPr algn="l" marL="191389" indent="-191389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70" b="0" i="0">
                <a:solidFill>
                  <a:srgbClr val="181B22"/>
                </a:solidFill>
                <a:latin typeface="Calibri"/>
              </a:rPr>
              <a:t>The U.S./international split held near 60/40, consistent with the full-year FY2021 mix.</a:t>
            </a:r>
          </a:p>
        </p:txBody>
      </p:sp>
      <p:sp>
        <p:nvSpPr>
          <p:cNvPr id="14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Q2 FY2022 earnings release (quarter ended September 30, 2021).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81B22"/>
                </a:solidFill>
                <a:latin typeface="Trebuchet MS"/>
              </a:rPr>
              <a:t>Mobile net revenue nearly doubled, led by Social Point's live-service titles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ption_chart_primary"/>
          <p:cNvSpPr txBox="1"/>
          <p:nvPr/>
        </p:nvSpPr>
        <p:spPr>
          <a:xfrm>
            <a:off x="548640" y="155448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46770"/>
                </a:solidFill>
                <a:latin typeface="Calibri"/>
              </a:rPr>
              <a:t>Mobile net revenue, Q2 FY2021 vs Q2 FY2022 ($M)</a:t>
            </a:r>
          </a:p>
        </p:txBody>
      </p:sp>
      <p:graphicFrame>
        <p:nvGraphicFramePr>
          <p:cNvPr id="10" name="chart_primary"/>
          <p:cNvGraphicFramePr>
            <a:graphicFrameLocks noGrp="1"/>
          </p:cNvGraphicFramePr>
          <p:nvPr/>
        </p:nvGraphicFramePr>
        <p:xfrm>
          <a:off x="548640" y="1901952"/>
          <a:ext cx="662940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body_so_what"/>
          <p:cNvSpPr txBox="1"/>
          <p:nvPr/>
        </p:nvSpPr>
        <p:spPr>
          <a:xfrm>
            <a:off x="7635240" y="1901952"/>
            <a:ext cx="3364992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Mobile net revenue grew 89% year over year, the fastest-growing platform in the quarter.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Growth was led by Social Point's live-service mobile portfolio and continued in-game spending.</a:t>
            </a:r>
          </a:p>
          <a:p>
            <a:pPr algn="l" marL="192786" indent="-192786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380" b="0" i="0">
                <a:solidFill>
                  <a:srgbClr val="181B22"/>
                </a:solidFill>
                <a:latin typeface="Calibri"/>
              </a:rPr>
              <a:t>Mobile deepens the recurrent-revenue mix and broadens reach beyond console and PC.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Q2 FY2022 Form 10-Q. Mobile is reported within "PC and other."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Trebuchet MS"/>
              </a:rPr>
              <a:t>"We are entering our strongest development pipeline ever."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ider_short_rule"/>
          <p:cNvCxnSpPr/>
          <p:nvPr/>
        </p:nvCxnSpPr>
        <p:spPr>
          <a:xfrm>
            <a:off x="9802368" y="832104"/>
            <a:ext cx="566928" cy="0"/>
          </a:xfrm>
          <a:prstGeom prst="bentConnector3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quote_attribution"/>
          <p:cNvSpPr txBox="1"/>
          <p:nvPr/>
        </p:nvSpPr>
        <p:spPr>
          <a:xfrm>
            <a:off x="1234440" y="2331720"/>
            <a:ext cx="85953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D9D0BC"/>
                </a:solidFill>
                <a:latin typeface="Calibri"/>
              </a:rPr>
              <a:t>— Strauss Zelnick, Chairman &amp; CEO, on Take-Two's multi-year slate</a:t>
            </a:r>
          </a:p>
        </p:txBody>
      </p:sp>
      <p:cxnSp>
        <p:nvCxnSpPr>
          <p:cNvPr id="11" name="icon_quote_gold_bar"/>
          <p:cNvCxnSpPr/>
          <p:nvPr/>
        </p:nvCxnSpPr>
        <p:spPr>
          <a:xfrm>
            <a:off x="1234440" y="3822191"/>
            <a:ext cx="2011680" cy="0"/>
          </a:xfrm>
          <a:prstGeom prst="bentConnector3">
            <a:avLst/>
          </a:prstGeom>
          <a:ln w="889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icon_quote_red_bar"/>
          <p:cNvCxnSpPr/>
          <p:nvPr/>
        </p:nvCxnSpPr>
        <p:spPr>
          <a:xfrm>
            <a:off x="3493008" y="3822191"/>
            <a:ext cx="2011680" cy="0"/>
          </a:xfrm>
          <a:prstGeom prst="bentConnector3">
            <a:avLst/>
          </a:prstGeom>
          <a:ln w="889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icon_quote_mint_bar"/>
          <p:cNvCxnSpPr/>
          <p:nvPr/>
        </p:nvCxnSpPr>
        <p:spPr>
          <a:xfrm>
            <a:off x="5751576" y="3822191"/>
            <a:ext cx="2011680" cy="0"/>
          </a:xfrm>
          <a:prstGeom prst="bentConnector3">
            <a:avLst/>
          </a:prstGeom>
          <a:ln w="889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9829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A record year and a deliberate investment phase</a:t>
            </a:r>
          </a:p>
        </p:txBody>
      </p:sp>
      <p:cxnSp>
        <p:nvCxnSpPr>
          <p:cNvPr id="3" name="icon_game_tile_1"/>
          <p:cNvCxnSpPr/>
          <p:nvPr/>
        </p:nvCxnSpPr>
        <p:spPr>
          <a:xfrm>
            <a:off x="10588752" y="457200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con_game_tile_shadow_1"/>
          <p:cNvCxnSpPr/>
          <p:nvPr/>
        </p:nvCxnSpPr>
        <p:spPr>
          <a:xfrm>
            <a:off x="10588752" y="566928"/>
            <a:ext cx="164592" cy="0"/>
          </a:xfrm>
          <a:prstGeom prst="bentConnector3">
            <a:avLst/>
          </a:prstGeom>
          <a:ln w="635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con_game_tile_2"/>
          <p:cNvCxnSpPr/>
          <p:nvPr/>
        </p:nvCxnSpPr>
        <p:spPr>
          <a:xfrm>
            <a:off x="10881360" y="457200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con_game_tile_shadow_2"/>
          <p:cNvCxnSpPr/>
          <p:nvPr/>
        </p:nvCxnSpPr>
        <p:spPr>
          <a:xfrm>
            <a:off x="10881360" y="566928"/>
            <a:ext cx="164592" cy="0"/>
          </a:xfrm>
          <a:prstGeom prst="bentConnector3">
            <a:avLst/>
          </a:prstGeom>
          <a:ln w="63500">
            <a:solidFill>
              <a:srgbClr val="D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icon_game_tile_3"/>
          <p:cNvCxnSpPr/>
          <p:nvPr/>
        </p:nvCxnSpPr>
        <p:spPr>
          <a:xfrm>
            <a:off x="11173968" y="457200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icon_game_tile_shadow_3"/>
          <p:cNvCxnSpPr/>
          <p:nvPr/>
        </p:nvCxnSpPr>
        <p:spPr>
          <a:xfrm>
            <a:off x="11173968" y="566928"/>
            <a:ext cx="164592" cy="0"/>
          </a:xfrm>
          <a:prstGeom prst="bentConnector3">
            <a:avLst/>
          </a:prstGeom>
          <a:ln w="6350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ider_short_rule"/>
          <p:cNvCxnSpPr/>
          <p:nvPr/>
        </p:nvCxnSpPr>
        <p:spPr>
          <a:xfrm>
            <a:off x="9802368" y="832104"/>
            <a:ext cx="566928" cy="0"/>
          </a:xfrm>
          <a:prstGeom prst="bentConnector3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closing_takeaways"/>
          <p:cNvSpPr txBox="1"/>
          <p:nvPr/>
        </p:nvSpPr>
        <p:spPr>
          <a:xfrm>
            <a:off x="548640" y="1874519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490" indent="-237490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FY2021 delivered record revenue ($3.37B), net income ($589M), and margins, on a model now majority-recurrent.</a:t>
            </a:r>
          </a:p>
          <a:p>
            <a:pPr algn="l" marL="237490" indent="-237490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The balance sheet — $2.7B in cash and investments, $912M operating cash flow — funds growth internally.</a:t>
            </a:r>
          </a:p>
          <a:p>
            <a:pPr algn="l" marL="237490" indent="-237490">
              <a:spcBef>
                <a:spcPts val="0"/>
              </a:spcBef>
              <a:spcAft>
                <a:spcPts val="700"/>
              </a:spcAft>
              <a:buFont typeface="Calibri"/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H1 FY2022 reflects deliberate investment ahead of the strongest pipeline in company history.</a:t>
            </a:r>
          </a:p>
        </p:txBody>
      </p:sp>
      <p:sp>
        <p:nvSpPr>
          <p:cNvPr id="11" name="body_ticker"/>
          <p:cNvSpPr txBox="1"/>
          <p:nvPr/>
        </p:nvSpPr>
        <p:spPr>
          <a:xfrm>
            <a:off x="548640" y="516636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D0BC"/>
                </a:solidFill>
                <a:latin typeface="Calibri"/>
              </a:rPr>
              <a:t>Take-Two Interactive Software, Inc. · Nasdaq: TTWO</a:t>
            </a:r>
          </a:p>
        </p:txBody>
      </p:sp>
      <p:sp>
        <p:nvSpPr>
          <p:cNvPr id="12" name="body_source"/>
          <p:cNvSpPr txBox="1"/>
          <p:nvPr/>
        </p:nvSpPr>
        <p:spPr>
          <a:xfrm>
            <a:off x="548640" y="6272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46770"/>
                </a:solidFill>
                <a:latin typeface="Calibri"/>
              </a:rPr>
              <a:t>Source: FY2021 10-K; Q2 FY2022 earnings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