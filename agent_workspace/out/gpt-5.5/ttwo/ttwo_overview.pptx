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D82839"/>
            </a:solidFill>
            <a:ln w="31750">
              <a:solidFill>
                <a:srgbClr val="D82839"/>
              </a:solidFill>
            </a:ln>
          </c:spPr>
          <c:cat>
            <c:strRef>
              <c:f>Sheet1!$A$2:$A$6</c:f>
              <c:strCache>
                <c:ptCount val="5"/>
                <c:pt idx="0">
                  <c:v>FY2017</c:v>
                </c:pt>
                <c:pt idx="1">
                  <c:v>FY2018</c:v>
                </c:pt>
                <c:pt idx="2">
                  <c:v>FY2019</c:v>
                </c:pt>
                <c:pt idx="3">
                  <c:v>FY2020</c:v>
                </c:pt>
                <c:pt idx="4">
                  <c:v>FY2021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D82839"/>
            </a:solidFill>
            <a:ln w="31750">
              <a:solidFill>
                <a:srgbClr val="D82839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F2B744"/>
            </a:solidFill>
            <a:ln w="31750">
              <a:solidFill>
                <a:srgbClr val="F2B744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solidFill>
              <a:srgbClr val="D82839"/>
            </a:solidFill>
            <a:ln w="31750">
              <a:solidFill>
                <a:srgbClr val="D82839"/>
              </a:solidFill>
            </a:ln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1704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F2B744"/>
            </a:solidFill>
            <a:ln w="31750">
              <a:solidFill>
                <a:srgbClr val="F2B744"/>
              </a:solidFill>
            </a:ln>
          </c:spPr>
          <c:cat>
            <c:strRef>
              <c:f>Sheet1!$A$2:$A$3</c:f>
              <c:strCache>
                <c:ptCount val="2"/>
                <c:pt idx="0">
                  <c:v>Recurrent consumer spending</c:v>
                </c:pt>
                <c:pt idx="1">
                  <c:v>Full game and other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2075</c:v>
                </c:pt>
                <c:pt idx="1">
                  <c:v>1298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D82839"/>
            </a:solidFill>
            <a:ln w="31750">
              <a:solidFill>
                <a:srgbClr val="D82839"/>
              </a:solidFill>
            </a:ln>
          </c:spPr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</c:v>
                </c:pt>
              </c:strCache>
            </c:strRef>
          </c:tx>
          <c:spPr>
            <a:solidFill>
              <a:srgbClr val="D82839"/>
            </a:solidFill>
            <a:ln w="31750">
              <a:solidFill>
                <a:srgbClr val="D82839"/>
              </a:solidFill>
            </a:ln>
          </c:spPr>
          <c:cat>
            <c:strRef>
              <c:f>Sheet1!$A$2:$A$3</c:f>
              <c:strCache>
                <c:ptCount val="2"/>
                <c:pt idx="0">
                  <c:v>Q2 FY2021</c:v>
                </c:pt>
                <c:pt idx="1">
                  <c:v>Q2 FY2022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F2B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f_title_block"/>
          <p:cNvSpPr/>
          <p:nvPr/>
        </p:nvSpPr>
        <p:spPr>
          <a:xfrm>
            <a:off x="566928" y="1078992"/>
            <a:ext cx="164592" cy="1874519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68680" y="1042415"/>
            <a:ext cx="95554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Arial"/>
              </a:rPr>
              <a:t>The Financial Story of Take-Two Interactive</a:t>
            </a:r>
          </a:p>
        </p:txBody>
      </p:sp>
      <p:sp>
        <p:nvSpPr>
          <p:cNvPr id="10" name="body_cover_record"/>
          <p:cNvSpPr txBox="1"/>
          <p:nvPr/>
        </p:nvSpPr>
        <p:spPr>
          <a:xfrm>
            <a:off x="868680" y="2542032"/>
            <a:ext cx="7223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E9F0"/>
                </a:solidFill>
                <a:latin typeface="Arial"/>
              </a:rPr>
              <a:t>Record fiscal 2021 results and the first half of fiscal 2022 — a publisher of owned, iconic franchises (Nasdaq: TTWO)</a:t>
            </a:r>
          </a:p>
        </p:txBody>
      </p:sp>
      <p:sp>
        <p:nvSpPr>
          <p:cNvPr id="11" name="body_cover_subtitle"/>
          <p:cNvSpPr txBox="1"/>
          <p:nvPr/>
        </p:nvSpPr>
        <p:spPr>
          <a:xfrm>
            <a:off x="868680" y="34564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744"/>
                </a:solidFill>
                <a:latin typeface="Arial"/>
              </a:rPr>
              <a:t>Fiscal year ended March 31, 2021, and the six months ended September 30, 2021</a:t>
            </a:r>
          </a:p>
        </p:txBody>
      </p:sp>
      <p:sp>
        <p:nvSpPr>
          <p:cNvPr id="12" name="card_cover_gta"/>
          <p:cNvSpPr/>
          <p:nvPr/>
        </p:nvSpPr>
        <p:spPr>
          <a:xfrm>
            <a:off x="868680" y="4617720"/>
            <a:ext cx="1143000" cy="621792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GTA</a:t>
            </a:r>
          </a:p>
        </p:txBody>
      </p:sp>
      <p:sp>
        <p:nvSpPr>
          <p:cNvPr id="13" name="card_cover_2k"/>
          <p:cNvSpPr/>
          <p:nvPr/>
        </p:nvSpPr>
        <p:spPr>
          <a:xfrm>
            <a:off x="2286000" y="4617720"/>
            <a:ext cx="1143000" cy="621792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2K</a:t>
            </a:r>
          </a:p>
        </p:txBody>
      </p:sp>
      <p:sp>
        <p:nvSpPr>
          <p:cNvPr id="14" name="card_cover_rcs"/>
          <p:cNvSpPr/>
          <p:nvPr/>
        </p:nvSpPr>
        <p:spPr>
          <a:xfrm>
            <a:off x="3703320" y="4617720"/>
            <a:ext cx="1143000" cy="621792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RCS</a:t>
            </a:r>
          </a:p>
        </p:txBody>
      </p:sp>
      <p:sp>
        <p:nvSpPr>
          <p:cNvPr id="15" name="card_cover_usd3.4b"/>
          <p:cNvSpPr/>
          <p:nvPr/>
        </p:nvSpPr>
        <p:spPr>
          <a:xfrm>
            <a:off x="5120640" y="4617720"/>
            <a:ext cx="1143000" cy="621792"/>
          </a:xfrm>
          <a:prstGeom prst="round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21E"/>
                </a:solidFill>
                <a:latin typeface="Arial"/>
              </a:rPr>
              <a:t>$3.4B</a:t>
            </a:r>
          </a:p>
        </p:txBody>
      </p:sp>
      <p:sp>
        <p:nvSpPr>
          <p:cNvPr id="16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B8BDC7"/>
                </a:solidFill>
                <a:latin typeface="Arial"/>
              </a:rPr>
              <a:t>Source: Take-Two FY2021 Form 10-K; Q2 FY2022 earnings release and Form 10-Q.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Context for this overview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143000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what_this_covers"/>
          <p:cNvSpPr txBox="1"/>
          <p:nvPr/>
        </p:nvSpPr>
        <p:spPr>
          <a:xfrm>
            <a:off x="566928" y="1344168"/>
            <a:ext cx="48006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What this covers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This overview summarizes Take-Two's financial performance across revenue, profitability, revenue mix, and capital position.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It draws on three lenses: the multi-year growth trend, the FY2021 record year in detail, and the early-FY2022 trajectory.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All figures are as reported in SEC filings; net bookings is the company's key operational (non-GAAP) metric and is shown alongside GAAP net revenue.</a:t>
            </a:r>
          </a:p>
        </p:txBody>
      </p:sp>
      <p:sp>
        <p:nvSpPr>
          <p:cNvPr id="11" name="body_how_take_two_is_built"/>
          <p:cNvSpPr txBox="1"/>
          <p:nvPr/>
        </p:nvSpPr>
        <p:spPr>
          <a:xfrm>
            <a:off x="5751576" y="1344168"/>
            <a:ext cx="48006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How Take-Two is built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Five publishing labels: Rockstar Games, 2K, Private Division, Social Point, and Playdots.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27 proprietary franchises, internally owned across action, sports, strategy, and mobile genres.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Grand Theft Auto is the cornerstone IP — GTA V alone has sold in over 155 million units since launch.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6,495 full-time employees as of March 31, 2021, with 77% in product development.</a:t>
            </a:r>
          </a:p>
        </p:txBody>
      </p:sp>
      <p:sp>
        <p:nvSpPr>
          <p:cNvPr id="12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Take-Two FY2021 Form 10-K; Q2 FY2022 earnings release &amp; Form 10-Q.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Fiscal 2021 set company records across every headline metric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kpi_net_revenue"/>
          <p:cNvSpPr/>
          <p:nvPr/>
        </p:nvSpPr>
        <p:spPr>
          <a:xfrm>
            <a:off x="566928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$3,373M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Net Revenue</a:t>
            </a:r>
          </a:p>
        </p:txBody>
      </p:sp>
      <p:sp>
        <p:nvSpPr>
          <p:cNvPr id="11" name="kpi_net_income"/>
          <p:cNvSpPr/>
          <p:nvPr/>
        </p:nvSpPr>
        <p:spPr>
          <a:xfrm>
            <a:off x="3145536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$589M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Net Income</a:t>
            </a:r>
          </a:p>
        </p:txBody>
      </p:sp>
      <p:sp>
        <p:nvSpPr>
          <p:cNvPr id="12" name="kpi_diluted_eps"/>
          <p:cNvSpPr/>
          <p:nvPr/>
        </p:nvSpPr>
        <p:spPr>
          <a:xfrm>
            <a:off x="5724144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$5.09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Diluted EPS</a:t>
            </a:r>
          </a:p>
        </p:txBody>
      </p:sp>
      <p:sp>
        <p:nvSpPr>
          <p:cNvPr id="13" name="kpi_net_bookings"/>
          <p:cNvSpPr/>
          <p:nvPr/>
        </p:nvSpPr>
        <p:spPr>
          <a:xfrm>
            <a:off x="8302752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$3,553M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Net Bookings</a:t>
            </a:r>
          </a:p>
        </p:txBody>
      </p:sp>
      <p:sp>
        <p:nvSpPr>
          <p:cNvPr id="14" name="body_supporting_context"/>
          <p:cNvSpPr txBox="1"/>
          <p:nvPr/>
        </p:nvSpPr>
        <p:spPr>
          <a:xfrm>
            <a:off x="566928" y="3493008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Net revenue rose 9% year over year to a company record $3.37 billion.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Net income grew 46% to $589 million, the highest in company history.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Net bookings — the forward-looking demand metric — reached $3.55 billion, up 19%.</a:t>
            </a:r>
          </a:p>
        </p:txBody>
      </p:sp>
      <p:sp>
        <p:nvSpPr>
          <p:cNvPr id="15" name="card_model_signal"/>
          <p:cNvSpPr/>
          <p:nvPr/>
        </p:nvSpPr>
        <p:spPr>
          <a:xfrm>
            <a:off x="566928" y="5385816"/>
            <a:ext cx="4800600" cy="777240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scale + owned IP + recurrent spending</a:t>
            </a:r>
          </a:p>
        </p:txBody>
      </p:sp>
      <p:sp>
        <p:nvSpPr>
          <p:cNvPr id="16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Consolidated Statements of Operations; FY2021 earnings release (Net Bookings).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Net revenue has grown every year, up 26% over three years to a record $3.4B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chart_revenue_trend"/>
          <p:cNvSpPr txBox="1"/>
          <p:nvPr/>
        </p:nvSpPr>
        <p:spPr>
          <a:xfrm>
            <a:off x="566928" y="1993392"/>
            <a:ext cx="6355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Net revenue, fiscal years ended March 31 ($M)</a:t>
            </a:r>
          </a:p>
        </p:txBody>
      </p:sp>
      <p:graphicFrame>
        <p:nvGraphicFramePr>
          <p:cNvPr id="11" name="chart_revenue_trend"/>
          <p:cNvGraphicFramePr>
            <a:graphicFrameLocks noGrp="1"/>
          </p:cNvGraphicFramePr>
          <p:nvPr/>
        </p:nvGraphicFramePr>
        <p:xfrm>
          <a:off x="566928" y="2286000"/>
          <a:ext cx="6355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ody_so_what"/>
          <p:cNvSpPr txBox="1"/>
          <p:nvPr/>
        </p:nvSpPr>
        <p:spPr>
          <a:xfrm>
            <a:off x="7360920" y="2414016"/>
            <a:ext cx="356616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So what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Five straight years of top-line expansion, accelerating sharply from FY2019 onward.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FY2021's $3.37B is an all-time high, +9% over FY2020 and +26% over FY2019.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Growth has been driven by the shift to recurrent consumer spending (see next section).</a:t>
            </a:r>
          </a:p>
        </p:txBody>
      </p:sp>
      <p:sp>
        <p:nvSpPr>
          <p:cNvPr id="13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 (FY2019–FY2021 exact); stockanalysis.com (FY2017–FY2018). Note: net revenue is GAAP; differs from net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Margins expanded sharply: gross margin reached 54.5% and operating margin 18.7%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chart_profitability"/>
          <p:cNvSpPr txBox="1"/>
          <p:nvPr/>
        </p:nvSpPr>
        <p:spPr>
          <a:xfrm>
            <a:off x="566928" y="1993392"/>
            <a:ext cx="6355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Gross margin and operating margin, FY2019–FY2021 (% of net revenue)</a:t>
            </a:r>
          </a:p>
        </p:txBody>
      </p:sp>
      <p:graphicFrame>
        <p:nvGraphicFramePr>
          <p:cNvPr id="11" name="chart_profitability"/>
          <p:cNvGraphicFramePr>
            <a:graphicFrameLocks noGrp="1"/>
          </p:cNvGraphicFramePr>
          <p:nvPr/>
        </p:nvGraphicFramePr>
        <p:xfrm>
          <a:off x="566928" y="2286000"/>
          <a:ext cx="6355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ody_so_what"/>
          <p:cNvSpPr txBox="1"/>
          <p:nvPr/>
        </p:nvSpPr>
        <p:spPr>
          <a:xfrm>
            <a:off x="7360920" y="2414016"/>
            <a:ext cx="356616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So what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Gross margin climbed nearly 12 points in two years as higher-margin digital and recurrent revenue grew.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Income from operations more than tripled, from $207M (FY2019) to $629M (FY2021).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Net income margin reached 17.5% in FY2021, up from 12.5% in FY2019.</a:t>
            </a:r>
          </a:p>
        </p:txBody>
      </p:sp>
      <p:sp>
        <p:nvSpPr>
          <p:cNvPr id="13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Statements of Operations. Margins computed on GAAP net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Recurrent consumer spending became the majority of revenue, flipping the model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chart_revenue_mix"/>
          <p:cNvSpPr txBox="1"/>
          <p:nvPr/>
        </p:nvSpPr>
        <p:spPr>
          <a:xfrm>
            <a:off x="566928" y="1993392"/>
            <a:ext cx="6355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Net revenue by type, FY2020 vs FY2021 ($M)</a:t>
            </a:r>
          </a:p>
        </p:txBody>
      </p:sp>
      <p:graphicFrame>
        <p:nvGraphicFramePr>
          <p:cNvPr id="11" name="chart_revenue_mix"/>
          <p:cNvGraphicFramePr>
            <a:graphicFrameLocks noGrp="1"/>
          </p:cNvGraphicFramePr>
          <p:nvPr/>
        </p:nvGraphicFramePr>
        <p:xfrm>
          <a:off x="566928" y="2286000"/>
          <a:ext cx="6355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ody_so_what"/>
          <p:cNvSpPr txBox="1"/>
          <p:nvPr/>
        </p:nvSpPr>
        <p:spPr>
          <a:xfrm>
            <a:off x="7360920" y="2414016"/>
            <a:ext cx="356616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So what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RCS grew 50% year over year and became the majority of revenue for the first time.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RCS reached 62% of net revenue in FY2021 (and 63% of net bookings), up from 45% a year earlier.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The shift de-risks the model: revenue is increasingly recurring rather than tied to new-title launches.</a:t>
            </a:r>
          </a:p>
        </p:txBody>
      </p:sp>
      <p:sp>
        <p:nvSpPr>
          <p:cNvPr id="13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net revenue by type. RCS = recurrent consumer spending (in-game purchases, virtual currency, add-on content).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Revenue is overwhelmingly digital and led by the U.S., with 40% from abroad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table_left"/>
          <p:cNvSpPr txBox="1"/>
          <p:nvPr/>
        </p:nvSpPr>
        <p:spPr>
          <a:xfrm>
            <a:off x="566928" y="1956816"/>
            <a:ext cx="4800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FY2021 net revenue by channel</a:t>
            </a:r>
          </a:p>
        </p:txBody>
      </p:sp>
      <p:graphicFrame>
        <p:nvGraphicFramePr>
          <p:cNvPr id="11" name="table_left"/>
          <p:cNvGraphicFramePr>
            <a:graphicFrameLocks noGrp="1"/>
          </p:cNvGraphicFramePr>
          <p:nvPr/>
        </p:nvGraphicFramePr>
        <p:xfrm>
          <a:off x="566928" y="2249424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6576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FY2021 ($M)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Digital online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2,919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86.6%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Physical retail &amp; other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</a:tr>
            </a:tbl>
          </a:graphicData>
        </a:graphic>
      </p:graphicFrame>
      <p:sp>
        <p:nvSpPr>
          <p:cNvPr id="12" name="caption_table_right"/>
          <p:cNvSpPr txBox="1"/>
          <p:nvPr/>
        </p:nvSpPr>
        <p:spPr>
          <a:xfrm>
            <a:off x="5751576" y="1956816"/>
            <a:ext cx="4800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Net revenue by geography</a:t>
            </a:r>
          </a:p>
        </p:txBody>
      </p:sp>
      <p:graphicFrame>
        <p:nvGraphicFramePr>
          <p:cNvPr id="13" name="table_right"/>
          <p:cNvGraphicFramePr>
            <a:graphicFrameLocks noGrp="1"/>
          </p:cNvGraphicFramePr>
          <p:nvPr/>
        </p:nvGraphicFramePr>
        <p:xfrm>
          <a:off x="5751576" y="2249424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00150"/>
                <a:gridCol w="1200150"/>
                <a:gridCol w="1200150"/>
              </a:tblGrid>
              <a:tr h="36576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FY2020 ($M)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FY2021 ($M)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1,776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2,016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1,313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1,357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+3%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</a:tr>
            </a:tbl>
          </a:graphicData>
        </a:graphic>
      </p:graphicFrame>
      <p:sp>
        <p:nvSpPr>
          <p:cNvPr id="14" name="body_table_takeaways"/>
          <p:cNvSpPr txBox="1"/>
          <p:nvPr/>
        </p:nvSpPr>
        <p:spPr>
          <a:xfrm>
            <a:off x="566928" y="4169663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Digital delivery reached 86.6% of net revenue (87% of net bookings), up from 63% just two years earlier.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The U.S. drove growth at +14%; international held 40% of revenue, with Asia ~7% of net bookings — a stated expansion opportunity.</a:t>
            </a:r>
          </a:p>
        </p:txBody>
      </p:sp>
      <p:sp>
        <p:nvSpPr>
          <p:cNvPr id="15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net revenue by distribution channel and by geography.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Console anchors the business while PC and mobile broaden the base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chart_platform"/>
          <p:cNvSpPr txBox="1"/>
          <p:nvPr/>
        </p:nvSpPr>
        <p:spPr>
          <a:xfrm>
            <a:off x="566928" y="1993392"/>
            <a:ext cx="6355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FY2021 net revenue by platform ($M)</a:t>
            </a:r>
          </a:p>
        </p:txBody>
      </p:sp>
      <p:graphicFrame>
        <p:nvGraphicFramePr>
          <p:cNvPr id="11" name="chart_platform"/>
          <p:cNvGraphicFramePr>
            <a:graphicFrameLocks noGrp="1"/>
          </p:cNvGraphicFramePr>
          <p:nvPr/>
        </p:nvGraphicFramePr>
        <p:xfrm>
          <a:off x="566928" y="2286000"/>
          <a:ext cx="6355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ody_so_what"/>
          <p:cNvSpPr txBox="1"/>
          <p:nvPr/>
        </p:nvSpPr>
        <p:spPr>
          <a:xfrm>
            <a:off x="7360920" y="2414016"/>
            <a:ext cx="356616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So what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Console delivered 75% of FY2021 net revenue, led by the GTA and NBA 2K franchises.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PC and other contributed $856M (25%), including a growing mobile and PC-digital base.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Grand Theft Auto products alone represented 29.2% of total net revenue.</a:t>
            </a:r>
          </a:p>
        </p:txBody>
      </p:sp>
      <p:sp>
        <p:nvSpPr>
          <p:cNvPr id="13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net revenue by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A fortress balance sheet: $2.7B in cash and investments funds the pipeline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kpi_balance_cash_and_equivalents"/>
          <p:cNvSpPr/>
          <p:nvPr/>
        </p:nvSpPr>
        <p:spPr>
          <a:xfrm>
            <a:off x="566928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$1,423M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Cash &amp; Equivalents</a:t>
            </a:r>
          </a:p>
        </p:txBody>
      </p:sp>
      <p:sp>
        <p:nvSpPr>
          <p:cNvPr id="11" name="kpi_balance_short_term_investments"/>
          <p:cNvSpPr/>
          <p:nvPr/>
        </p:nvSpPr>
        <p:spPr>
          <a:xfrm>
            <a:off x="3145536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$1,309M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Short-Term Investments</a:t>
            </a:r>
          </a:p>
        </p:txBody>
      </p:sp>
      <p:sp>
        <p:nvSpPr>
          <p:cNvPr id="12" name="kpi_balance_operating_cash_flow"/>
          <p:cNvSpPr/>
          <p:nvPr/>
        </p:nvSpPr>
        <p:spPr>
          <a:xfrm>
            <a:off x="5724144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$912M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Operating Cash Flow</a:t>
            </a:r>
          </a:p>
        </p:txBody>
      </p:sp>
      <p:sp>
        <p:nvSpPr>
          <p:cNvPr id="13" name="kpi_balance_stockholders'_equity"/>
          <p:cNvSpPr/>
          <p:nvPr/>
        </p:nvSpPr>
        <p:spPr>
          <a:xfrm>
            <a:off x="8302752" y="2029968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$3,332M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Stockholders' Equity</a:t>
            </a:r>
          </a:p>
        </p:txBody>
      </p:sp>
      <p:sp>
        <p:nvSpPr>
          <p:cNvPr id="14" name="body_supporting_context"/>
          <p:cNvSpPr txBox="1"/>
          <p:nvPr/>
        </p:nvSpPr>
        <p:spPr>
          <a:xfrm>
            <a:off x="566928" y="3493008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Take-Two held $2.7 billion in cash and short-term investments at fiscal year-end, against modest liabilities.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Operating cash flow rose 33% to $912 million, funding development of the multi-year slate internally.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Total assets were $6.0 billion with $3.3 billion of stockholders' equity — ample capacity for content investment and M&amp;A.</a:t>
            </a:r>
          </a:p>
        </p:txBody>
      </p:sp>
      <p:sp>
        <p:nvSpPr>
          <p:cNvPr id="15" name="card_model_signal"/>
          <p:cNvSpPr/>
          <p:nvPr/>
        </p:nvSpPr>
        <p:spPr>
          <a:xfrm>
            <a:off x="566928" y="5385816"/>
            <a:ext cx="4800600" cy="777240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scale + owned IP + recurrent spending</a:t>
            </a:r>
          </a:p>
        </p:txBody>
      </p:sp>
      <p:sp>
        <p:nvSpPr>
          <p:cNvPr id="16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FY2021 10-K, Balance Sheet and Statement of Cash 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F2B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1417320"/>
            <a:ext cx="8778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Part Two: The first half of fiscal 2022</a:t>
            </a:r>
          </a:p>
        </p:txBody>
      </p:sp>
      <p:sp>
        <p:nvSpPr>
          <p:cNvPr id="9" name="motif_section_pulse"/>
          <p:cNvSpPr/>
          <p:nvPr/>
        </p:nvSpPr>
        <p:spPr>
          <a:xfrm>
            <a:off x="566928" y="2633472"/>
            <a:ext cx="4297680" cy="164592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section_subtitle"/>
          <p:cNvSpPr txBox="1"/>
          <p:nvPr/>
        </p:nvSpPr>
        <p:spPr>
          <a:xfrm>
            <a:off x="566928" y="3090672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B744"/>
                </a:solidFill>
                <a:latin typeface="Arial"/>
              </a:rPr>
              <a:t>Investing through a transition year while recurrent spending deepens</a:t>
            </a:r>
          </a:p>
        </p:txBody>
      </p:sp>
      <p:sp>
        <p:nvSpPr>
          <p:cNvPr id="11" name="card_section_signal"/>
          <p:cNvSpPr/>
          <p:nvPr/>
        </p:nvSpPr>
        <p:spPr>
          <a:xfrm>
            <a:off x="566928" y="4343400"/>
            <a:ext cx="2926080" cy="804672"/>
          </a:xfrm>
          <a:prstGeom prst="round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0121E"/>
                </a:solidFill>
                <a:latin typeface="Arial"/>
              </a:rPr>
              <a:t>H1 FY2022</a:t>
            </a:r>
          </a:p>
        </p:txBody>
      </p:sp>
      <p:sp>
        <p:nvSpPr>
          <p:cNvPr id="12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B8BDC7"/>
                </a:solidFill>
                <a:latin typeface="Arial"/>
              </a:rPr>
              <a:t>Source: Q2 FY2022 earnings release and Form 10-Q.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Q2 FY2022 revenue held steady as the company invested for its largest-ever pipeline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2185416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kpi_q2_q2_net_revenue"/>
          <p:cNvSpPr/>
          <p:nvPr/>
        </p:nvSpPr>
        <p:spPr>
          <a:xfrm>
            <a:off x="566928" y="2551176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$858M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Q2 Net Revenue</a:t>
            </a:r>
          </a:p>
        </p:txBody>
      </p:sp>
      <p:sp>
        <p:nvSpPr>
          <p:cNvPr id="11" name="kpi_q2_q2_operating_income"/>
          <p:cNvSpPr/>
          <p:nvPr/>
        </p:nvSpPr>
        <p:spPr>
          <a:xfrm>
            <a:off x="3145536" y="2551176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$20M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Q2 Operating Income</a:t>
            </a:r>
          </a:p>
        </p:txBody>
      </p:sp>
      <p:sp>
        <p:nvSpPr>
          <p:cNvPr id="12" name="kpi_q2_q2_diluted_eps"/>
          <p:cNvSpPr/>
          <p:nvPr/>
        </p:nvSpPr>
        <p:spPr>
          <a:xfrm>
            <a:off x="5724144" y="2551176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$0.09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Q2 Diluted EPS</a:t>
            </a:r>
          </a:p>
        </p:txBody>
      </p:sp>
      <p:sp>
        <p:nvSpPr>
          <p:cNvPr id="13" name="kpi_q2_q2_net_bookings"/>
          <p:cNvSpPr/>
          <p:nvPr/>
        </p:nvSpPr>
        <p:spPr>
          <a:xfrm>
            <a:off x="8302752" y="2551176"/>
            <a:ext cx="2359152" cy="10058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8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5080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D82839"/>
                </a:solidFill>
                <a:latin typeface="Arial"/>
              </a:rPr>
              <a:t>$985M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A626E"/>
                </a:solidFill>
                <a:latin typeface="Arial"/>
              </a:rPr>
              <a:t>Q2 Net Bookings</a:t>
            </a:r>
          </a:p>
        </p:txBody>
      </p:sp>
      <p:sp>
        <p:nvSpPr>
          <p:cNvPr id="14" name="body_supporting_context"/>
          <p:cNvSpPr txBox="1"/>
          <p:nvPr/>
        </p:nvSpPr>
        <p:spPr>
          <a:xfrm>
            <a:off x="566928" y="4014216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Net bookings grew 3% to $985M; recurrent consumer spending rose to 69% of net bookings.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Operating income was $20M (down from $115M a year earlier) as Take-Two stepped up investment in development.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Gross margin was 46.8%; the quarter reflects a deliberate build-up ahead of a record forward slate.</a:t>
            </a:r>
          </a:p>
        </p:txBody>
      </p:sp>
      <p:sp>
        <p:nvSpPr>
          <p:cNvPr id="15" name="card_model_signal"/>
          <p:cNvSpPr/>
          <p:nvPr/>
        </p:nvSpPr>
        <p:spPr>
          <a:xfrm>
            <a:off x="566928" y="5486400"/>
            <a:ext cx="4800600" cy="777240"/>
          </a:xfrm>
          <a:prstGeom prst="round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scale + owned IP + recurrent spending</a:t>
            </a:r>
          </a:p>
        </p:txBody>
      </p:sp>
      <p:sp>
        <p:nvSpPr>
          <p:cNvPr id="16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Q2 FY2022 earnings release and Form 10-Q (quarter ended September 30, 2021).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In Q2, digital and recurrent spending deepened across both geography and channel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2185416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table_left"/>
          <p:cNvSpPr txBox="1"/>
          <p:nvPr/>
        </p:nvSpPr>
        <p:spPr>
          <a:xfrm>
            <a:off x="566928" y="2478024"/>
            <a:ext cx="4800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Q2 FY22 geography, net revenue</a:t>
            </a:r>
          </a:p>
        </p:txBody>
      </p:sp>
      <p:graphicFrame>
        <p:nvGraphicFramePr>
          <p:cNvPr id="11" name="table_left"/>
          <p:cNvGraphicFramePr>
            <a:graphicFrameLocks noGrp="1"/>
          </p:cNvGraphicFramePr>
          <p:nvPr/>
        </p:nvGraphicFramePr>
        <p:xfrm>
          <a:off x="566928" y="2770632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6576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Q2 FY22 ($M)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United States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</a:tr>
            </a:tbl>
          </a:graphicData>
        </a:graphic>
      </p:graphicFrame>
      <p:sp>
        <p:nvSpPr>
          <p:cNvPr id="12" name="caption_table_right"/>
          <p:cNvSpPr txBox="1"/>
          <p:nvPr/>
        </p:nvSpPr>
        <p:spPr>
          <a:xfrm>
            <a:off x="5751576" y="2478024"/>
            <a:ext cx="4800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Q2 FY22 channel, net revenue</a:t>
            </a:r>
          </a:p>
        </p:txBody>
      </p:sp>
      <p:graphicFrame>
        <p:nvGraphicFramePr>
          <p:cNvPr id="13" name="table_right"/>
          <p:cNvGraphicFramePr>
            <a:graphicFrameLocks noGrp="1"/>
          </p:cNvGraphicFramePr>
          <p:nvPr/>
        </p:nvGraphicFramePr>
        <p:xfrm>
          <a:off x="5751576" y="2770632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6576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Q2 FY22 ($M)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1A1D2D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Digital online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>
                    <a:solidFill>
                      <a:srgbClr val="FFFCF5"/>
                    </a:solidFill>
                  </a:tcPr>
                </a:tc>
              </a:tr>
              <a:tr h="525780"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81B24"/>
                          </a:solidFill>
                          <a:latin typeface="Arial"/>
                        </a:rPr>
                        <a:t>Physical &amp; other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  <a:tc>
                  <a:txBody>
                    <a:bodyPr lIns="50800" rIns="50800">
                      <a:sp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81B24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2E9DC"/>
                    </a:solidFill>
                  </a:tcPr>
                </a:tc>
              </a:tr>
            </a:tbl>
          </a:graphicData>
        </a:graphic>
      </p:graphicFrame>
      <p:sp>
        <p:nvSpPr>
          <p:cNvPr id="14" name="body_table_takeaways"/>
          <p:cNvSpPr txBox="1"/>
          <p:nvPr/>
        </p:nvSpPr>
        <p:spPr>
          <a:xfrm>
            <a:off x="566928" y="4690872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Digital reached 91% of quarterly net revenue (89% of net bookings) — the structural shift continues.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181B24"/>
                </a:solidFill>
                <a:latin typeface="Arial"/>
              </a:rPr>
              <a:t>The U.S./international split held near 60/40, consistent with the full-year FY2021 mix.</a:t>
            </a:r>
          </a:p>
        </p:txBody>
      </p:sp>
      <p:sp>
        <p:nvSpPr>
          <p:cNvPr id="15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Q2 FY2022 earnings release (quarter ended September 30, 2021).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3DC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D8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81B24"/>
                </a:solidFill>
                <a:latin typeface="Arial"/>
              </a:rPr>
              <a:t>Mobile net revenue nearly doubled, led by Social Point's live-service titles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_chart_mobile"/>
          <p:cNvSpPr txBox="1"/>
          <p:nvPr/>
        </p:nvSpPr>
        <p:spPr>
          <a:xfrm>
            <a:off x="566928" y="1993392"/>
            <a:ext cx="6355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A626E"/>
                </a:solidFill>
                <a:latin typeface="Arial"/>
              </a:rPr>
              <a:t>Mobile net revenue, Q2 FY2021 vs Q2 FY2022 ($M)</a:t>
            </a:r>
          </a:p>
        </p:txBody>
      </p:sp>
      <p:graphicFrame>
        <p:nvGraphicFramePr>
          <p:cNvPr id="11" name="chart_mobile"/>
          <p:cNvGraphicFramePr>
            <a:graphicFrameLocks noGrp="1"/>
          </p:cNvGraphicFramePr>
          <p:nvPr/>
        </p:nvGraphicFramePr>
        <p:xfrm>
          <a:off x="566928" y="2286000"/>
          <a:ext cx="6355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body_so_what"/>
          <p:cNvSpPr txBox="1"/>
          <p:nvPr/>
        </p:nvSpPr>
        <p:spPr>
          <a:xfrm>
            <a:off x="7360920" y="2414016"/>
            <a:ext cx="356616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81B24"/>
                </a:solidFill>
                <a:latin typeface="Arial"/>
              </a:rPr>
              <a:t>So what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Mobile net revenue grew 89% year over year, the fastest-growing platform in the quarter.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Growth was led by Social Point's live-service mobile portfolio and continued in-game spending.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250" b="0" i="0">
                <a:solidFill>
                  <a:srgbClr val="181B24"/>
                </a:solidFill>
                <a:latin typeface="Arial"/>
              </a:rPr>
              <a:t>Mobile deepens the recurrent-revenue mix and broadens reach beyond console and PC.</a:t>
            </a:r>
          </a:p>
        </p:txBody>
      </p:sp>
      <p:sp>
        <p:nvSpPr>
          <p:cNvPr id="13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A626E"/>
                </a:solidFill>
                <a:latin typeface="Arial"/>
              </a:rPr>
              <a:t>Source: Q2 FY2022 Form 10-Q. Mobile is reported within "PC and other."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F2B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1225296"/>
            <a:ext cx="9601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Arial"/>
              </a:rPr>
              <a:t>“We are entering our strongest development pipeline ever.”</a:t>
            </a:r>
          </a:p>
        </p:txBody>
      </p:sp>
      <p:cxnSp>
        <p:nvCxnSpPr>
          <p:cNvPr id="9" name="divider_quote_accent"/>
          <p:cNvCxnSpPr/>
          <p:nvPr/>
        </p:nvCxnSpPr>
        <p:spPr>
          <a:xfrm>
            <a:off x="566928" y="2743200"/>
            <a:ext cx="2194560" cy="0"/>
          </a:xfrm>
          <a:prstGeom prst="line">
            <a:avLst/>
          </a:prstGeom>
          <a:ln w="635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quote_attribution"/>
          <p:cNvSpPr txBox="1"/>
          <p:nvPr/>
        </p:nvSpPr>
        <p:spPr>
          <a:xfrm>
            <a:off x="566928" y="3218688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B744"/>
                </a:solidFill>
                <a:latin typeface="Arial"/>
              </a:rPr>
              <a:t>— Strauss Zelnick, Chairman &amp; CEO, on Take-Two's multi-year slate</a:t>
            </a:r>
          </a:p>
        </p:txBody>
      </p:sp>
      <p:sp>
        <p:nvSpPr>
          <p:cNvPr id="11" name="card_quote_pipeline"/>
          <p:cNvSpPr/>
          <p:nvPr/>
        </p:nvSpPr>
        <p:spPr>
          <a:xfrm>
            <a:off x="566928" y="4617720"/>
            <a:ext cx="2971800" cy="768096"/>
          </a:xfrm>
          <a:prstGeom prst="round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21E"/>
                </a:solidFill>
                <a:latin typeface="Arial"/>
              </a:rPr>
              <a:t>Pipeline as investment thesis</a:t>
            </a:r>
          </a:p>
        </p:txBody>
      </p:sp>
      <p:sp>
        <p:nvSpPr>
          <p:cNvPr id="12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B8BDC7"/>
                </a:solidFill>
                <a:latin typeface="Arial"/>
              </a:rPr>
              <a:t>Source: Q2 FY2022 earnings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motif_vertical_rail"/>
          <p:cNvCxnSpPr/>
          <p:nvPr/>
        </p:nvCxnSpPr>
        <p:spPr>
          <a:xfrm>
            <a:off x="11503152" y="512064"/>
            <a:ext cx="0" cy="5486400"/>
          </a:xfrm>
          <a:prstGeom prst="line">
            <a:avLst/>
          </a:prstGeom>
          <a:ln w="63500">
            <a:solidFill>
              <a:srgbClr val="F2B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otif_pixel_1"/>
          <p:cNvSpPr/>
          <p:nvPr/>
        </p:nvSpPr>
        <p:spPr>
          <a:xfrm>
            <a:off x="11649456" y="1078992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pixel_2"/>
          <p:cNvSpPr/>
          <p:nvPr/>
        </p:nvSpPr>
        <p:spPr>
          <a:xfrm>
            <a:off x="11649456" y="192024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pixel_3"/>
          <p:cNvSpPr/>
          <p:nvPr/>
        </p:nvSpPr>
        <p:spPr>
          <a:xfrm>
            <a:off x="11649456" y="2761488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f_pixel_4"/>
          <p:cNvSpPr/>
          <p:nvPr/>
        </p:nvSpPr>
        <p:spPr>
          <a:xfrm>
            <a:off x="11649456" y="3602736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tif_pixel_5"/>
          <p:cNvSpPr/>
          <p:nvPr/>
        </p:nvSpPr>
        <p:spPr>
          <a:xfrm>
            <a:off x="11649456" y="4443984"/>
            <a:ext cx="182880" cy="182880"/>
          </a:xfrm>
          <a:prstGeom prst="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 txBox="1"/>
          <p:nvPr/>
        </p:nvSpPr>
        <p:spPr>
          <a:xfrm>
            <a:off x="566928" y="347472"/>
            <a:ext cx="1056132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 record year and a deliberate investment phase</a:t>
            </a:r>
          </a:p>
        </p:txBody>
      </p:sp>
      <p:cxnSp>
        <p:nvCxnSpPr>
          <p:cNvPr id="9" name="divider_title_accent"/>
          <p:cNvCxnSpPr/>
          <p:nvPr/>
        </p:nvCxnSpPr>
        <p:spPr>
          <a:xfrm>
            <a:off x="566928" y="1664207"/>
            <a:ext cx="1078991" cy="0"/>
          </a:xfrm>
          <a:prstGeom prst="line">
            <a:avLst/>
          </a:prstGeom>
          <a:ln w="50800">
            <a:solidFill>
              <a:srgbClr val="D828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_takeaway_summary"/>
          <p:cNvSpPr txBox="1"/>
          <p:nvPr/>
        </p:nvSpPr>
        <p:spPr>
          <a:xfrm>
            <a:off x="566928" y="2048256"/>
            <a:ext cx="99669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E8EAEE"/>
                </a:solidFill>
                <a:latin typeface="Arial"/>
              </a:rPr>
              <a:t>FY2021 delivered record revenue ($3.37B), net income ($589M), and margins, on a model now majority-recurrent.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E8EAEE"/>
                </a:solidFill>
                <a:latin typeface="Arial"/>
              </a:rPr>
              <a:t>The balance sheet — $2.7B in cash and investments, $912M operating cash flow — funds growth internally.</a:t>
            </a:r>
          </a:p>
          <a:p>
            <a:pPr algn="l">
              <a:spcAft>
                <a:spcPts val="500"/>
              </a:spcAft>
              <a:buChar char="•"/>
            </a:pPr>
            <a:r>
              <a:rPr sz="1300" b="0" i="0">
                <a:solidFill>
                  <a:srgbClr val="E8EAEE"/>
                </a:solidFill>
                <a:latin typeface="Arial"/>
              </a:rPr>
              <a:t>H1 FY2022 reflects deliberate investment ahead of the strongest pipeline in company history.</a:t>
            </a:r>
          </a:p>
        </p:txBody>
      </p:sp>
      <p:sp>
        <p:nvSpPr>
          <p:cNvPr id="11" name="card_closing_ticker"/>
          <p:cNvSpPr/>
          <p:nvPr/>
        </p:nvSpPr>
        <p:spPr>
          <a:xfrm>
            <a:off x="566928" y="5029200"/>
            <a:ext cx="4937760" cy="640080"/>
          </a:xfrm>
          <a:prstGeom prst="roundRect">
            <a:avLst/>
          </a:prstGeom>
          <a:solidFill>
            <a:srgbClr val="F2B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21E"/>
                </a:solidFill>
                <a:latin typeface="Arial"/>
              </a:rPr>
              <a:t>Take-Two Interactive Software, Inc. · Nasdaq: TTWO</a:t>
            </a:r>
          </a:p>
        </p:txBody>
      </p:sp>
      <p:sp>
        <p:nvSpPr>
          <p:cNvPr id="12" name="footer_source"/>
          <p:cNvSpPr txBox="1"/>
          <p:nvPr/>
        </p:nvSpPr>
        <p:spPr>
          <a:xfrm>
            <a:off x="566928" y="6382512"/>
            <a:ext cx="9966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B8BDC7"/>
                </a:solidFill>
                <a:latin typeface="Arial"/>
              </a:rPr>
              <a:t>Source: FY2021 10-K; Q2 FY2022 earnings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