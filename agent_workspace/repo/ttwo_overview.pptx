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  <a:ln w="38100">
              <a:solidFill>
                <a:srgbClr val="2E9E7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800</c:v>
                </c:pt>
                <c:pt idx="2">
                  <c:v>880</c:v>
                </c:pt>
                <c:pt idx="3">
                  <c:v>1040</c:v>
                </c:pt>
                <c:pt idx="4">
                  <c:v>1055</c:v>
                </c:pt>
                <c:pt idx="5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C4C4C4"/>
            </a:solidFill>
            <a:ln w="22225">
              <a:solidFill>
                <a:srgbClr val="C4C4C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430</c:v>
                </c:pt>
                <c:pt idx="1">
                  <c:v>470</c:v>
                </c:pt>
                <c:pt idx="2">
                  <c:v>510</c:v>
                </c:pt>
                <c:pt idx="3">
                  <c:v>540</c:v>
                </c:pt>
                <c:pt idx="4">
                  <c:v>490</c:v>
                </c:pt>
                <c:pt idx="5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0B4B8"/>
            </a:solidFill>
            <a:ln w="22225">
              <a:solidFill>
                <a:srgbClr val="B0B4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420</c:v>
                </c:pt>
                <c:pt idx="1">
                  <c:v>450</c:v>
                </c:pt>
                <c:pt idx="2">
                  <c:v>470</c:v>
                </c:pt>
                <c:pt idx="3">
                  <c:v>500</c:v>
                </c:pt>
                <c:pt idx="4">
                  <c:v>485</c:v>
                </c:pt>
                <c:pt idx="5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CFD2D5"/>
            </a:solidFill>
            <a:ln w="22225">
              <a:solidFill>
                <a:srgbClr val="CFD2D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175</c:v>
                </c:pt>
                <c:pt idx="1">
                  <c:v>150</c:v>
                </c:pt>
                <c:pt idx="2">
                  <c:v>135</c:v>
                </c:pt>
                <c:pt idx="3">
                  <c:v>140</c:v>
                </c:pt>
                <c:pt idx="4">
                  <c:v>135</c:v>
                </c:pt>
                <c:pt idx="5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DDDFE1"/>
            </a:solidFill>
            <a:ln w="22225">
              <a:solidFill>
                <a:srgbClr val="DDDFE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70</c:v>
                </c:pt>
                <c:pt idx="3">
                  <c:v>50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DC1C5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A8ADB2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93999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7E848A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53595F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ption_image_cover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11480" y="146304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Economic Impact of Ford and the F-Series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11480" y="42976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September 2020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1148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 |  BCG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context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ption_image_context"/>
          <p:cNvSpPr txBox="1"/>
          <p:nvPr/>
        </p:nvSpPr>
        <p:spPr>
          <a:xfrm>
            <a:off x="614476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study shows Ford's economic impact is broad across four dimensions</a:t>
            </a:r>
          </a:p>
        </p:txBody>
      </p:sp>
      <p:sp>
        <p:nvSpPr>
          <p:cNvPr id="7" name="subhead_summary"/>
          <p:cNvSpPr txBox="1"/>
          <p:nvPr/>
        </p:nvSpPr>
        <p:spPr>
          <a:xfrm>
            <a:off x="411480" y="18288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Summary of the study</a:t>
            </a:r>
          </a:p>
        </p:txBody>
      </p:sp>
      <p:cxnSp>
        <p:nvCxnSpPr>
          <p:cNvPr id="8" name="subhead_summary_rule"/>
          <p:cNvCxnSpPr/>
          <p:nvPr/>
        </p:nvCxnSpPr>
        <p:spPr>
          <a:xfrm>
            <a:off x="411480" y="212140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_summary"/>
          <p:cNvSpPr txBox="1"/>
          <p:nvPr/>
        </p:nvSpPr>
        <p:spPr>
          <a:xfrm>
            <a:off x="411480" y="22402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</a:t>
            </a:r>
          </a:p>
        </p:txBody>
      </p:sp>
      <p:sp>
        <p:nvSpPr>
          <p:cNvPr id="10" name="subhead_approach"/>
          <p:cNvSpPr txBox="1"/>
          <p:nvPr/>
        </p:nvSpPr>
        <p:spPr>
          <a:xfrm>
            <a:off x="41148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cxnSp>
        <p:nvCxnSpPr>
          <p:cNvPr id="11" name="subhead_approach_rule"/>
          <p:cNvCxnSpPr/>
          <p:nvPr/>
        </p:nvCxnSpPr>
        <p:spPr>
          <a:xfrm>
            <a:off x="411480" y="381304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_approach"/>
          <p:cNvSpPr txBox="1"/>
          <p:nvPr/>
        </p:nvSpPr>
        <p:spPr>
          <a:xfrm>
            <a:off x="41148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impact of the F-Series and Ford across four dimensions:</a:t>
            </a:r>
          </a:p>
        </p:txBody>
      </p:sp>
      <p:sp>
        <p:nvSpPr>
          <p:cNvPr id="13" name="list_dimensions"/>
          <p:cNvSpPr txBox="1"/>
          <p:nvPr/>
        </p:nvSpPr>
        <p:spPr>
          <a:xfrm>
            <a:off x="411480" y="44348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1.  Employment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2.  Economic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3.  Ford's current and historical US manufacturing presence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4.  Product usage illustrating how the F-Series and Ford support Americans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Our study has uncovered several key economic and employment impacts of Ford and its F-Series production</a:t>
            </a:r>
          </a:p>
        </p:txBody>
      </p:sp>
      <p:sp>
        <p:nvSpPr>
          <p:cNvPr id="5" name="icon_0"/>
          <p:cNvSpPr/>
          <p:nvPr/>
        </p:nvSpPr>
        <p:spPr>
          <a:xfrm>
            <a:off x="4434840" y="640080"/>
            <a:ext cx="640080" cy="64008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label_0"/>
          <p:cNvSpPr txBox="1"/>
          <p:nvPr/>
        </p:nvSpPr>
        <p:spPr>
          <a:xfrm>
            <a:off x="4434840" y="135331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Economic and employment impact</a:t>
            </a:r>
          </a:p>
        </p:txBody>
      </p:sp>
      <p:sp>
        <p:nvSpPr>
          <p:cNvPr id="7" name="icon_1"/>
          <p:cNvSpPr/>
          <p:nvPr/>
        </p:nvSpPr>
        <p:spPr>
          <a:xfrm>
            <a:off x="4434840" y="274320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onlabel_1"/>
          <p:cNvSpPr txBox="1"/>
          <p:nvPr/>
        </p:nvSpPr>
        <p:spPr>
          <a:xfrm>
            <a:off x="4434840" y="345643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Manufacturing impact</a:t>
            </a:r>
          </a:p>
        </p:txBody>
      </p:sp>
      <p:sp>
        <p:nvSpPr>
          <p:cNvPr id="9" name="icon_2"/>
          <p:cNvSpPr/>
          <p:nvPr/>
        </p:nvSpPr>
        <p:spPr>
          <a:xfrm>
            <a:off x="4434840" y="484632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label_2"/>
          <p:cNvSpPr txBox="1"/>
          <p:nvPr/>
        </p:nvSpPr>
        <p:spPr>
          <a:xfrm>
            <a:off x="4434840" y="555955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Usage impact</a:t>
            </a:r>
          </a:p>
        </p:txBody>
      </p:sp>
      <p:cxnSp>
        <p:nvCxnSpPr>
          <p:cNvPr id="11" name="divider_rule"/>
          <p:cNvCxnSpPr/>
          <p:nvPr/>
        </p:nvCxnSpPr>
        <p:spPr>
          <a:xfrm>
            <a:off x="5669280" y="640080"/>
            <a:ext cx="0" cy="512064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llout_0"/>
          <p:cNvSpPr txBox="1"/>
          <p:nvPr/>
        </p:nvSpPr>
        <p:spPr>
          <a:xfrm>
            <a:off x="5852160" y="6400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13 to 14 US jobs are supported for each direct Ford F-Series employee¹</a:t>
            </a:r>
          </a:p>
        </p:txBody>
      </p:sp>
      <p:sp>
        <p:nvSpPr>
          <p:cNvPr id="13" name="callout_1"/>
          <p:cNvSpPr txBox="1"/>
          <p:nvPr/>
        </p:nvSpPr>
        <p:spPr>
          <a:xfrm>
            <a:off x="5852160" y="17373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This equates to ~500,000 total jobs attributable to the F-Series</a:t>
            </a:r>
          </a:p>
        </p:txBody>
      </p:sp>
      <p:sp>
        <p:nvSpPr>
          <p:cNvPr id="14" name="callout_2"/>
          <p:cNvSpPr txBox="1"/>
          <p:nvPr/>
        </p:nvSpPr>
        <p:spPr>
          <a:xfrm>
            <a:off x="5852160" y="283464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contributes approximately ~$49 billion to US GDP, including multiplier effects²</a:t>
            </a:r>
          </a:p>
        </p:txBody>
      </p:sp>
      <p:sp>
        <p:nvSpPr>
          <p:cNvPr id="15" name="callout_3"/>
          <p:cNvSpPr txBox="1"/>
          <p:nvPr/>
        </p:nvSpPr>
        <p:spPr>
          <a:xfrm>
            <a:off x="5852160" y="4114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4206240" y="6112764"/>
            <a:ext cx="694944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¹Includes dealership employment and impact on local communities.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²Multiplier effects include after-sales services and community GDP impact driven by employee respending.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Manufacturing leadership and unmatched usage drive the F-Series' impact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con_mfg"/>
          <p:cNvSpPr/>
          <p:nvPr/>
        </p:nvSpPr>
        <p:spPr>
          <a:xfrm>
            <a:off x="4114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d_mfg"/>
          <p:cNvSpPr txBox="1"/>
          <p:nvPr/>
        </p:nvSpPr>
        <p:spPr>
          <a:xfrm>
            <a:off x="10972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Manufacturing impact</a:t>
            </a:r>
          </a:p>
        </p:txBody>
      </p:sp>
      <p:sp>
        <p:nvSpPr>
          <p:cNvPr id="7" name="body_mfg"/>
          <p:cNvSpPr txBox="1"/>
          <p:nvPr/>
        </p:nvSpPr>
        <p:spPr>
          <a:xfrm>
            <a:off x="411480" y="2377948"/>
            <a:ext cx="5394960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assembled 2x as many full-size pickups in the US as any competitor in 2019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leading US auto manufacturer — responsible for one in five vehicles assembled domestically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a leader in automotive innovation in patent quality and recency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American-made full-size pickup truck (per an external study)</a:t>
            </a:r>
          </a:p>
        </p:txBody>
      </p:sp>
      <p:sp>
        <p:nvSpPr>
          <p:cNvPr id="8" name="icon_usage"/>
          <p:cNvSpPr/>
          <p:nvPr/>
        </p:nvSpPr>
        <p:spPr>
          <a:xfrm>
            <a:off x="63550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d_usage"/>
          <p:cNvSpPr txBox="1"/>
          <p:nvPr/>
        </p:nvSpPr>
        <p:spPr>
          <a:xfrm>
            <a:off x="70408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Usage impact</a:t>
            </a:r>
          </a:p>
        </p:txBody>
      </p:sp>
      <p:sp>
        <p:nvSpPr>
          <p:cNvPr id="10" name="body_usage"/>
          <p:cNvSpPr txBox="1"/>
          <p:nvPr/>
        </p:nvSpPr>
        <p:spPr>
          <a:xfrm>
            <a:off x="6355080" y="2377948"/>
            <a:ext cx="5394960" cy="2944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among the most valuable consumer products in the US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most popular vehicle on the road in the US today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highest-selling vehicle in the US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best-selling pickup in the world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popular vehicle in 39 of 50 US states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most popular pickup in 75% of commercial vocations</a:t>
            </a:r>
          </a:p>
        </p:txBody>
      </p:sp>
      <p:cxnSp>
        <p:nvCxnSpPr>
          <p:cNvPr id="11" name="col_divider"/>
          <p:cNvCxnSpPr/>
          <p:nvPr/>
        </p:nvCxnSpPr>
        <p:spPr>
          <a:xfrm>
            <a:off x="6080760" y="1600708"/>
            <a:ext cx="0" cy="457200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report shows Ford's US economic impact is broad across four dimensions</a:t>
            </a:r>
          </a:p>
        </p:txBody>
      </p:sp>
      <p:sp>
        <p:nvSpPr>
          <p:cNvPr id="4" name="background_tile_0"/>
          <p:cNvSpPr/>
          <p:nvPr/>
        </p:nvSpPr>
        <p:spPr>
          <a:xfrm>
            <a:off x="411480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lenum_0"/>
          <p:cNvSpPr/>
          <p:nvPr/>
        </p:nvSpPr>
        <p:spPr>
          <a:xfrm>
            <a:off x="2522143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ilelabel_0"/>
          <p:cNvSpPr txBox="1"/>
          <p:nvPr/>
        </p:nvSpPr>
        <p:spPr>
          <a:xfrm>
            <a:off x="411480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Employment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7" name="background_tile_1"/>
          <p:cNvSpPr/>
          <p:nvPr/>
        </p:nvSpPr>
        <p:spPr>
          <a:xfrm>
            <a:off x="3345103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lenum_1"/>
          <p:cNvSpPr/>
          <p:nvPr/>
        </p:nvSpPr>
        <p:spPr>
          <a:xfrm>
            <a:off x="5455766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ilelabel_1"/>
          <p:cNvSpPr txBox="1"/>
          <p:nvPr/>
        </p:nvSpPr>
        <p:spPr>
          <a:xfrm>
            <a:off x="3345103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GDP impact</a:t>
            </a:r>
          </a:p>
        </p:txBody>
      </p:sp>
      <p:sp>
        <p:nvSpPr>
          <p:cNvPr id="10" name="background_tile_2"/>
          <p:cNvSpPr/>
          <p:nvPr/>
        </p:nvSpPr>
        <p:spPr>
          <a:xfrm>
            <a:off x="6278726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num_2"/>
          <p:cNvSpPr/>
          <p:nvPr/>
        </p:nvSpPr>
        <p:spPr>
          <a:xfrm>
            <a:off x="8389389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ilelabel_2"/>
          <p:cNvSpPr txBox="1"/>
          <p:nvPr/>
        </p:nvSpPr>
        <p:spPr>
          <a:xfrm>
            <a:off x="6278726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Manufacturing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3" name="background_tile_3"/>
          <p:cNvSpPr/>
          <p:nvPr/>
        </p:nvSpPr>
        <p:spPr>
          <a:xfrm>
            <a:off x="9212349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lenum_3"/>
          <p:cNvSpPr/>
          <p:nvPr/>
        </p:nvSpPr>
        <p:spPr>
          <a:xfrm>
            <a:off x="11323012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ilelabel_3"/>
          <p:cNvSpPr txBox="1"/>
          <p:nvPr/>
        </p:nvSpPr>
        <p:spPr>
          <a:xfrm>
            <a:off x="9212349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16" name="image_credit"/>
          <p:cNvSpPr txBox="1"/>
          <p:nvPr/>
        </p:nvSpPr>
        <p:spPr>
          <a:xfrm>
            <a:off x="411480" y="6272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Images: Ford.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hundreds of thousands of US jobs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~500,000 American jobs, ~13–14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ption_image_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wf_jobs_bar_0"/>
          <p:cNvSpPr/>
          <p:nvPr/>
        </p:nvSpPr>
        <p:spPr>
          <a:xfrm>
            <a:off x="411480" y="4807399"/>
            <a:ext cx="1173480" cy="22230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9" name="wf_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wf_jobs_bar_1"/>
          <p:cNvSpPr/>
          <p:nvPr/>
        </p:nvSpPr>
        <p:spPr>
          <a:xfrm>
            <a:off x="1749552" y="3743916"/>
            <a:ext cx="1173480" cy="106348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177</a:t>
            </a:r>
          </a:p>
        </p:txBody>
      </p:sp>
      <p:sp>
        <p:nvSpPr>
          <p:cNvPr id="11" name="wf_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wf_jobs_bar_2"/>
          <p:cNvSpPr/>
          <p:nvPr/>
        </p:nvSpPr>
        <p:spPr>
          <a:xfrm>
            <a:off x="3087624" y="2872701"/>
            <a:ext cx="1173480" cy="87121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145</a:t>
            </a:r>
          </a:p>
        </p:txBody>
      </p:sp>
      <p:sp>
        <p:nvSpPr>
          <p:cNvPr id="13" name="wf_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wf_jobs_bar_3"/>
          <p:cNvSpPr/>
          <p:nvPr/>
        </p:nvSpPr>
        <p:spPr>
          <a:xfrm>
            <a:off x="4425696" y="2434089"/>
            <a:ext cx="1173480" cy="43861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sp>
        <p:nvSpPr>
          <p:cNvPr id="15" name="wf_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wf_jobs_bar_4"/>
          <p:cNvSpPr/>
          <p:nvPr/>
        </p:nvSpPr>
        <p:spPr>
          <a:xfrm>
            <a:off x="5763768" y="2103628"/>
            <a:ext cx="1173480" cy="33046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" name="wf_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wf_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487</a:t>
            </a:r>
          </a:p>
        </p:txBody>
      </p:sp>
      <p:sp>
        <p:nvSpPr>
          <p:cNvPr id="19" name="wf_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wf_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f_jobs_dot_0"/>
          <p:cNvCxnSpPr/>
          <p:nvPr/>
        </p:nvCxnSpPr>
        <p:spPr>
          <a:xfrm>
            <a:off x="998220" y="480739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f_jobs_dot_1"/>
          <p:cNvCxnSpPr/>
          <p:nvPr/>
        </p:nvCxnSpPr>
        <p:spPr>
          <a:xfrm>
            <a:off x="2336292" y="3743916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f_jobs_dot_2"/>
          <p:cNvCxnSpPr/>
          <p:nvPr/>
        </p:nvCxnSpPr>
        <p:spPr>
          <a:xfrm>
            <a:off x="3674364" y="2872701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f_jobs_dot_3"/>
          <p:cNvCxnSpPr/>
          <p:nvPr/>
        </p:nvCxnSpPr>
        <p:spPr>
          <a:xfrm>
            <a:off x="5012436" y="243408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wf_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the F-Series (thousands)</a:t>
            </a:r>
          </a:p>
        </p:txBody>
      </p:sp>
      <p:cxnSp>
        <p:nvCxnSpPr>
          <p:cNvPr id="26" name="wf_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wf_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9–10x</a:t>
            </a:r>
          </a:p>
        </p:txBody>
      </p:sp>
      <p:cxnSp>
        <p:nvCxnSpPr>
          <p:cNvPr id="28" name="wf_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wf_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Dealers attributable to F-Series sales are based on state-level F-Series sales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~1 million American jobs, ~11–12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f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ption_image_f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wf_fjobs_bar_0"/>
          <p:cNvSpPr/>
          <p:nvPr/>
        </p:nvSpPr>
        <p:spPr>
          <a:xfrm>
            <a:off x="411480" y="4784695"/>
            <a:ext cx="1173480" cy="24501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  <p:sp>
        <p:nvSpPr>
          <p:cNvPr id="9" name="wf_f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wf_fjobs_bar_1"/>
          <p:cNvSpPr/>
          <p:nvPr/>
        </p:nvSpPr>
        <p:spPr>
          <a:xfrm>
            <a:off x="1749552" y="3832804"/>
            <a:ext cx="1173480" cy="9518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338</a:t>
            </a:r>
          </a:p>
        </p:txBody>
      </p:sp>
      <p:sp>
        <p:nvSpPr>
          <p:cNvPr id="11" name="wf_f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wf_fjobs_bar_2"/>
          <p:cNvSpPr/>
          <p:nvPr/>
        </p:nvSpPr>
        <p:spPr>
          <a:xfrm>
            <a:off x="3087624" y="3021725"/>
            <a:ext cx="1173480" cy="81107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288</a:t>
            </a:r>
          </a:p>
        </p:txBody>
      </p:sp>
      <p:sp>
        <p:nvSpPr>
          <p:cNvPr id="13" name="wf_f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wf_fjobs_bar_3"/>
          <p:cNvSpPr/>
          <p:nvPr/>
        </p:nvSpPr>
        <p:spPr>
          <a:xfrm>
            <a:off x="4425696" y="2520433"/>
            <a:ext cx="1173480" cy="5012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178</a:t>
            </a:r>
          </a:p>
        </p:txBody>
      </p:sp>
      <p:sp>
        <p:nvSpPr>
          <p:cNvPr id="15" name="wf_f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wf_fjobs_bar_4"/>
          <p:cNvSpPr/>
          <p:nvPr/>
        </p:nvSpPr>
        <p:spPr>
          <a:xfrm>
            <a:off x="5763768" y="2103628"/>
            <a:ext cx="1173480" cy="4168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148</a:t>
            </a:r>
          </a:p>
        </p:txBody>
      </p:sp>
      <p:sp>
        <p:nvSpPr>
          <p:cNvPr id="17" name="wf_f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wf_f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1039</a:t>
            </a:r>
          </a:p>
        </p:txBody>
      </p:sp>
      <p:sp>
        <p:nvSpPr>
          <p:cNvPr id="19" name="wf_f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wf_f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f_fjobs_dot_0"/>
          <p:cNvCxnSpPr/>
          <p:nvPr/>
        </p:nvCxnSpPr>
        <p:spPr>
          <a:xfrm>
            <a:off x="998220" y="478469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f_fjobs_dot_1"/>
          <p:cNvCxnSpPr/>
          <p:nvPr/>
        </p:nvCxnSpPr>
        <p:spPr>
          <a:xfrm>
            <a:off x="2336292" y="3832804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f_fjobs_dot_2"/>
          <p:cNvCxnSpPr/>
          <p:nvPr/>
        </p:nvCxnSpPr>
        <p:spPr>
          <a:xfrm>
            <a:off x="3674364" y="302172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f_fjobs_dot_3"/>
          <p:cNvCxnSpPr/>
          <p:nvPr/>
        </p:nvCxnSpPr>
        <p:spPr>
          <a:xfrm>
            <a:off x="5012436" y="2520433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wf_f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Ford USA (thousands)</a:t>
            </a:r>
          </a:p>
        </p:txBody>
      </p:sp>
      <p:cxnSp>
        <p:nvCxnSpPr>
          <p:cNvPr id="26" name="wf_f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wf_f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8–9x</a:t>
            </a:r>
          </a:p>
        </p:txBody>
      </p:sp>
      <p:cxnSp>
        <p:nvCxnSpPr>
          <p:cNvPr id="28" name="wf_f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wf_f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analysis; image: Ford.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tens of billions in US GDP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~$49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wf_gdp_bar_0"/>
          <p:cNvSpPr/>
          <p:nvPr/>
        </p:nvSpPr>
        <p:spPr>
          <a:xfrm>
            <a:off x="411480" y="4372833"/>
            <a:ext cx="1752600" cy="65687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~11</a:t>
            </a:r>
          </a:p>
        </p:txBody>
      </p:sp>
      <p:sp>
        <p:nvSpPr>
          <p:cNvPr id="7" name="wf_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wf_gdp_bar_1"/>
          <p:cNvSpPr/>
          <p:nvPr/>
        </p:nvSpPr>
        <p:spPr>
          <a:xfrm>
            <a:off x="2328672" y="3357663"/>
            <a:ext cx="1752600" cy="101517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~17</a:t>
            </a:r>
          </a:p>
        </p:txBody>
      </p:sp>
      <p:sp>
        <p:nvSpPr>
          <p:cNvPr id="9" name="wf_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wf_gdp_bar_2"/>
          <p:cNvSpPr/>
          <p:nvPr/>
        </p:nvSpPr>
        <p:spPr>
          <a:xfrm>
            <a:off x="4245864" y="3178515"/>
            <a:ext cx="1752600" cy="179147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</a:t>
            </a:r>
          </a:p>
        </p:txBody>
      </p:sp>
      <p:sp>
        <p:nvSpPr>
          <p:cNvPr id="11" name="wf_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(Sales)¹</a:t>
            </a:r>
          </a:p>
        </p:txBody>
      </p:sp>
      <p:sp>
        <p:nvSpPr>
          <p:cNvPr id="12" name="wf_gdp_bar_3"/>
          <p:cNvSpPr/>
          <p:nvPr/>
        </p:nvSpPr>
        <p:spPr>
          <a:xfrm>
            <a:off x="6163056" y="2879935"/>
            <a:ext cx="1752600" cy="29857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~5</a:t>
            </a:r>
          </a:p>
        </p:txBody>
      </p:sp>
      <p:sp>
        <p:nvSpPr>
          <p:cNvPr id="13" name="wf_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(After-sales)²</a:t>
            </a:r>
          </a:p>
        </p:txBody>
      </p:sp>
      <p:sp>
        <p:nvSpPr>
          <p:cNvPr id="14" name="wf_gdp_bar_4"/>
          <p:cNvSpPr/>
          <p:nvPr/>
        </p:nvSpPr>
        <p:spPr>
          <a:xfrm>
            <a:off x="8080248" y="2103628"/>
            <a:ext cx="1752600" cy="776306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5" name="wf_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wf_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~49</a:t>
            </a:r>
          </a:p>
        </p:txBody>
      </p:sp>
      <p:sp>
        <p:nvSpPr>
          <p:cNvPr id="17" name="wf_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wf_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f_gdp_dot_0"/>
          <p:cNvCxnSpPr/>
          <p:nvPr/>
        </p:nvCxnSpPr>
        <p:spPr>
          <a:xfrm>
            <a:off x="1287780" y="437283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f_gdp_dot_1"/>
          <p:cNvCxnSpPr/>
          <p:nvPr/>
        </p:nvCxnSpPr>
        <p:spPr>
          <a:xfrm>
            <a:off x="3204972" y="335766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f_gdp_dot_2"/>
          <p:cNvCxnSpPr/>
          <p:nvPr/>
        </p:nvCxnSpPr>
        <p:spPr>
          <a:xfrm>
            <a:off x="5122164" y="317851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f_gdp_dot_3"/>
          <p:cNvCxnSpPr/>
          <p:nvPr/>
        </p:nvCxnSpPr>
        <p:spPr>
          <a:xfrm>
            <a:off x="7039356" y="287993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wf_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the F-Series ($billions)</a:t>
            </a:r>
          </a:p>
        </p:txBody>
      </p:sp>
      <p:cxnSp>
        <p:nvCxnSpPr>
          <p:cNvPr id="24" name="wf_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wf_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($31B)</a:t>
            </a:r>
          </a:p>
        </p:txBody>
      </p:sp>
      <p:cxnSp>
        <p:nvCxnSpPr>
          <p:cNvPr id="26" name="wf_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wf_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($18B)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¹Based on vehicle sales accounting for ~35% of dealer gross profits. ²Excludes services and repairs by non-Ford dealers.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~$100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wf_fgdp_bar_0"/>
          <p:cNvSpPr/>
          <p:nvPr/>
        </p:nvSpPr>
        <p:spPr>
          <a:xfrm>
            <a:off x="411480" y="4473753"/>
            <a:ext cx="1752600" cy="55595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~19</a:t>
            </a:r>
          </a:p>
        </p:txBody>
      </p:sp>
      <p:sp>
        <p:nvSpPr>
          <p:cNvPr id="7" name="wf_f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wf_fgdp_bar_1"/>
          <p:cNvSpPr/>
          <p:nvPr/>
        </p:nvSpPr>
        <p:spPr>
          <a:xfrm>
            <a:off x="2328672" y="3537408"/>
            <a:ext cx="1752600" cy="93634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~32</a:t>
            </a:r>
          </a:p>
        </p:txBody>
      </p:sp>
      <p:sp>
        <p:nvSpPr>
          <p:cNvPr id="9" name="wf_f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wf_fgdp_bar_2"/>
          <p:cNvSpPr/>
          <p:nvPr/>
        </p:nvSpPr>
        <p:spPr>
          <a:xfrm>
            <a:off x="4245864" y="3332582"/>
            <a:ext cx="1752600" cy="20482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~7</a:t>
            </a:r>
          </a:p>
        </p:txBody>
      </p:sp>
      <p:sp>
        <p:nvSpPr>
          <p:cNvPr id="11" name="wf_f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</a:t>
            </a:r>
          </a:p>
        </p:txBody>
      </p:sp>
      <p:sp>
        <p:nvSpPr>
          <p:cNvPr id="12" name="wf_fgdp_bar_3"/>
          <p:cNvSpPr/>
          <p:nvPr/>
        </p:nvSpPr>
        <p:spPr>
          <a:xfrm>
            <a:off x="6163056" y="2952192"/>
            <a:ext cx="1752600" cy="38039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3" name="wf_f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</a:t>
            </a:r>
          </a:p>
        </p:txBody>
      </p:sp>
      <p:sp>
        <p:nvSpPr>
          <p:cNvPr id="14" name="wf_fgdp_bar_4"/>
          <p:cNvSpPr/>
          <p:nvPr/>
        </p:nvSpPr>
        <p:spPr>
          <a:xfrm>
            <a:off x="8080248" y="2103628"/>
            <a:ext cx="1752600" cy="84856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~29</a:t>
            </a:r>
          </a:p>
        </p:txBody>
      </p:sp>
      <p:sp>
        <p:nvSpPr>
          <p:cNvPr id="15" name="wf_f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wf_f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~100</a:t>
            </a:r>
          </a:p>
        </p:txBody>
      </p:sp>
      <p:sp>
        <p:nvSpPr>
          <p:cNvPr id="17" name="wf_f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wf_f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f_fgdp_dot_0"/>
          <p:cNvCxnSpPr/>
          <p:nvPr/>
        </p:nvCxnSpPr>
        <p:spPr>
          <a:xfrm>
            <a:off x="1287780" y="447375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f_fgdp_dot_1"/>
          <p:cNvCxnSpPr/>
          <p:nvPr/>
        </p:nvCxnSpPr>
        <p:spPr>
          <a:xfrm>
            <a:off x="3204972" y="3537408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f_fgdp_dot_2"/>
          <p:cNvCxnSpPr/>
          <p:nvPr/>
        </p:nvCxnSpPr>
        <p:spPr>
          <a:xfrm>
            <a:off x="5122164" y="333258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f_fgdp_dot_3"/>
          <p:cNvCxnSpPr/>
          <p:nvPr/>
        </p:nvCxnSpPr>
        <p:spPr>
          <a:xfrm>
            <a:off x="7039356" y="295219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wf_f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Ford USA ($billions)</a:t>
            </a:r>
          </a:p>
        </p:txBody>
      </p:sp>
      <p:cxnSp>
        <p:nvCxnSpPr>
          <p:cNvPr id="24" name="wf_f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wf_f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($58B)</a:t>
            </a:r>
          </a:p>
        </p:txBody>
      </p:sp>
      <p:cxnSp>
        <p:nvCxnSpPr>
          <p:cNvPr id="26" name="wf_f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wf_f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($42B)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leads US full-size pickup manufacturing by a wide margin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1139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leads US full-size pickup assembly, building twice as many as any competitor in 2019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81584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2x"/>
          <p:cNvSpPr txBox="1"/>
          <p:nvPr/>
        </p:nvSpPr>
        <p:spPr>
          <a:xfrm>
            <a:off x="411480" y="198043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Full-size pickup trucks assembled in the US (thousands)</a:t>
            </a:r>
          </a:p>
        </p:txBody>
      </p:sp>
      <p:graphicFrame>
        <p:nvGraphicFramePr>
          <p:cNvPr id="6" name="chart_2x"/>
          <p:cNvGraphicFramePr>
            <a:graphicFrameLocks noGrp="1"/>
          </p:cNvGraphicFramePr>
          <p:nvPr/>
        </p:nvGraphicFramePr>
        <p:xfrm>
          <a:off x="411480" y="2254758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2x"/>
          <p:cNvSpPr/>
          <p:nvPr/>
        </p:nvSpPr>
        <p:spPr>
          <a:xfrm>
            <a:off x="8412480" y="198043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ption_image_2x"/>
          <p:cNvSpPr txBox="1"/>
          <p:nvPr/>
        </p:nvSpPr>
        <p:spPr>
          <a:xfrm>
            <a:off x="8522208" y="563803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9" name="annot_2x"/>
          <p:cNvSpPr txBox="1"/>
          <p:nvPr/>
        </p:nvSpPr>
        <p:spPr>
          <a:xfrm>
            <a:off x="6400800" y="353491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9E7B"/>
                </a:solidFill>
                <a:latin typeface="Arial"/>
              </a:rPr>
              <a:t>2.1x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 (see IHS disclaimer);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GM pickup truck brands include Sierra and Silverado.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responsible for one in five vehicles assembled in the US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image_oif"/>
          <p:cNvSpPr/>
          <p:nvPr/>
        </p:nvSpPr>
        <p:spPr>
          <a:xfrm>
            <a:off x="411480" y="1344168"/>
            <a:ext cx="310896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ption_image_oif"/>
          <p:cNvSpPr txBox="1"/>
          <p:nvPr/>
        </p:nvSpPr>
        <p:spPr>
          <a:xfrm>
            <a:off x="521208" y="50017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7" name="caption_chart_oif"/>
          <p:cNvSpPr txBox="1"/>
          <p:nvPr/>
        </p:nvSpPr>
        <p:spPr>
          <a:xfrm>
            <a:off x="3794760" y="134416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% of US vehicle assembly</a:t>
            </a:r>
          </a:p>
        </p:txBody>
      </p:sp>
      <p:graphicFrame>
        <p:nvGraphicFramePr>
          <p:cNvPr id="8" name="chart_oif"/>
          <p:cNvGraphicFramePr>
            <a:graphicFrameLocks noGrp="1"/>
          </p:cNvGraphicFramePr>
          <p:nvPr/>
        </p:nvGraphicFramePr>
        <p:xfrm>
          <a:off x="3794760" y="1618488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ption_table_oif"/>
          <p:cNvSpPr txBox="1"/>
          <p:nvPr/>
        </p:nvSpPr>
        <p:spPr>
          <a:xfrm>
            <a:off x="8275320" y="134416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Vehicles assembled (2019, thousands)</a:t>
            </a:r>
          </a:p>
        </p:txBody>
      </p:sp>
      <p:graphicFrame>
        <p:nvGraphicFramePr>
          <p:cNvPr id="10" name="table_oif"/>
          <p:cNvGraphicFramePr>
            <a:graphicFrameLocks noGrp="1"/>
          </p:cNvGraphicFramePr>
          <p:nvPr/>
        </p:nvGraphicFramePr>
        <p:xfrm>
          <a:off x="8275320" y="1618488"/>
          <a:ext cx="34747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Maker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Vehicles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2,170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1,677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1,420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1,195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1,205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2,926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Others includes BMW, Daimler, Geely, Hyundai, Kia, Mercedes-Benz, Navistar, Renault-Nissan-Mitsubishi, Tesla, Volkswagen.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An external study confirms the F-150 is the most American-made full-size pickup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am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Kogod Made in America Index vs vehicles sold (2019, thousands)</a:t>
            </a:r>
          </a:p>
        </p:txBody>
      </p:sp>
      <p:sp>
        <p:nvSpPr>
          <p:cNvPr id="6" name="plot_am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lot_am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lot_am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t_am_0"/>
          <p:cNvSpPr/>
          <p:nvPr/>
        </p:nvSpPr>
        <p:spPr>
          <a:xfrm>
            <a:off x="6797040" y="2045715"/>
            <a:ext cx="201168" cy="201168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tlbl_am_0"/>
          <p:cNvSpPr txBox="1"/>
          <p:nvPr/>
        </p:nvSpPr>
        <p:spPr>
          <a:xfrm>
            <a:off x="700735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F-150</a:t>
            </a:r>
          </a:p>
        </p:txBody>
      </p:sp>
      <p:sp>
        <p:nvSpPr>
          <p:cNvPr id="11" name="pt_am_1"/>
          <p:cNvSpPr/>
          <p:nvPr/>
        </p:nvSpPr>
        <p:spPr>
          <a:xfrm>
            <a:off x="685800" y="2185923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tlbl_am_1"/>
          <p:cNvSpPr txBox="1"/>
          <p:nvPr/>
        </p:nvSpPr>
        <p:spPr>
          <a:xfrm>
            <a:off x="868680" y="198475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Ridgeline</a:t>
            </a:r>
          </a:p>
        </p:txBody>
      </p:sp>
      <p:sp>
        <p:nvSpPr>
          <p:cNvPr id="13" name="pt_am_2"/>
          <p:cNvSpPr/>
          <p:nvPr/>
        </p:nvSpPr>
        <p:spPr>
          <a:xfrm>
            <a:off x="1612392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tlbl_am_2"/>
          <p:cNvSpPr txBox="1"/>
          <p:nvPr/>
        </p:nvSpPr>
        <p:spPr>
          <a:xfrm>
            <a:off x="179527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Canyon</a:t>
            </a:r>
          </a:p>
        </p:txBody>
      </p:sp>
      <p:sp>
        <p:nvSpPr>
          <p:cNvPr id="15" name="pt_am_3"/>
          <p:cNvSpPr/>
          <p:nvPr/>
        </p:nvSpPr>
        <p:spPr>
          <a:xfrm>
            <a:off x="1728216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tlbl_am_3"/>
          <p:cNvSpPr txBox="1"/>
          <p:nvPr/>
        </p:nvSpPr>
        <p:spPr>
          <a:xfrm>
            <a:off x="1911096" y="227431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Colorado</a:t>
            </a:r>
          </a:p>
        </p:txBody>
      </p:sp>
      <p:sp>
        <p:nvSpPr>
          <p:cNvPr id="17" name="pt_am_4"/>
          <p:cNvSpPr/>
          <p:nvPr/>
        </p:nvSpPr>
        <p:spPr>
          <a:xfrm>
            <a:off x="3233928" y="286258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tlbl_am_4"/>
          <p:cNvSpPr txBox="1"/>
          <p:nvPr/>
        </p:nvSpPr>
        <p:spPr>
          <a:xfrm>
            <a:off x="3416808" y="28260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Tacoma</a:t>
            </a:r>
          </a:p>
        </p:txBody>
      </p:sp>
      <p:sp>
        <p:nvSpPr>
          <p:cNvPr id="19" name="pt_am_5"/>
          <p:cNvSpPr/>
          <p:nvPr/>
        </p:nvSpPr>
        <p:spPr>
          <a:xfrm>
            <a:off x="1612392" y="2975356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tlbl_am_5"/>
          <p:cNvSpPr txBox="1"/>
          <p:nvPr/>
        </p:nvSpPr>
        <p:spPr>
          <a:xfrm>
            <a:off x="1795272" y="29387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Tundra</a:t>
            </a:r>
          </a:p>
        </p:txBody>
      </p:sp>
      <p:sp>
        <p:nvSpPr>
          <p:cNvPr id="21" name="pt_am_6"/>
          <p:cNvSpPr/>
          <p:nvPr/>
        </p:nvSpPr>
        <p:spPr>
          <a:xfrm>
            <a:off x="5434584" y="3200908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tlbl_am_6"/>
          <p:cNvSpPr txBox="1"/>
          <p:nvPr/>
        </p:nvSpPr>
        <p:spPr>
          <a:xfrm>
            <a:off x="5617464" y="31643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Silverado</a:t>
            </a:r>
          </a:p>
        </p:txBody>
      </p:sp>
      <p:sp>
        <p:nvSpPr>
          <p:cNvPr id="23" name="pt_am_7"/>
          <p:cNvSpPr/>
          <p:nvPr/>
        </p:nvSpPr>
        <p:spPr>
          <a:xfrm>
            <a:off x="5318760" y="342646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tlbl_am_7"/>
          <p:cNvSpPr txBox="1"/>
          <p:nvPr/>
        </p:nvSpPr>
        <p:spPr>
          <a:xfrm>
            <a:off x="5501640" y="35910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Ram</a:t>
            </a:r>
          </a:p>
        </p:txBody>
      </p:sp>
      <p:sp>
        <p:nvSpPr>
          <p:cNvPr id="25" name="pt_am_8"/>
          <p:cNvSpPr/>
          <p:nvPr/>
        </p:nvSpPr>
        <p:spPr>
          <a:xfrm>
            <a:off x="1207008" y="399034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tlbl_am_8"/>
          <p:cNvSpPr txBox="1"/>
          <p:nvPr/>
        </p:nvSpPr>
        <p:spPr>
          <a:xfrm>
            <a:off x="1389888" y="395376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Ranger</a:t>
            </a:r>
          </a:p>
        </p:txBody>
      </p:sp>
      <p:sp>
        <p:nvSpPr>
          <p:cNvPr id="27" name="pt_am_9"/>
          <p:cNvSpPr/>
          <p:nvPr/>
        </p:nvSpPr>
        <p:spPr>
          <a:xfrm>
            <a:off x="1207008" y="5005324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tlbl_am_9"/>
          <p:cNvSpPr txBox="1"/>
          <p:nvPr/>
        </p:nvSpPr>
        <p:spPr>
          <a:xfrm>
            <a:off x="1389888" y="49687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Frontier</a:t>
            </a:r>
          </a:p>
        </p:txBody>
      </p:sp>
      <p:sp>
        <p:nvSpPr>
          <p:cNvPr id="29" name="background_image_am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ption_image_am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31" name="annot_am"/>
          <p:cNvSpPr txBox="1"/>
          <p:nvPr/>
        </p:nvSpPr>
        <p:spPr>
          <a:xfrm>
            <a:off x="8503920" y="169214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F-150 leads the industry both in number of vehicles sold and as the most American-made truck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Made in America Auto Index (Kogod School of Business at American University); BCG analysis; image: Ford.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a leader in the automotive industry for combined quality and recency of patent filings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pat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Average Competitive Impact (patent value) vs Freshness % (2017); bubble = patent families</a:t>
            </a:r>
          </a:p>
        </p:txBody>
      </p:sp>
      <p:sp>
        <p:nvSpPr>
          <p:cNvPr id="6" name="plot_pat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lot_pat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lot_pat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ub_0"/>
          <p:cNvSpPr/>
          <p:nvPr/>
        </p:nvSpPr>
        <p:spPr>
          <a:xfrm>
            <a:off x="6513793" y="302260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blbl_0"/>
          <p:cNvSpPr txBox="1"/>
          <p:nvPr/>
        </p:nvSpPr>
        <p:spPr>
          <a:xfrm>
            <a:off x="6308053" y="3543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Ford</a:t>
            </a:r>
          </a:p>
        </p:txBody>
      </p:sp>
      <p:sp>
        <p:nvSpPr>
          <p:cNvPr id="11" name="bub_1"/>
          <p:cNvSpPr/>
          <p:nvPr/>
        </p:nvSpPr>
        <p:spPr>
          <a:xfrm>
            <a:off x="6881513" y="2176779"/>
            <a:ext cx="164592" cy="164592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ublbl_1"/>
          <p:cNvSpPr txBox="1"/>
          <p:nvPr/>
        </p:nvSpPr>
        <p:spPr>
          <a:xfrm>
            <a:off x="6506609" y="235965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Tesla</a:t>
            </a:r>
          </a:p>
        </p:txBody>
      </p:sp>
      <p:sp>
        <p:nvSpPr>
          <p:cNvPr id="13" name="bub_2"/>
          <p:cNvSpPr/>
          <p:nvPr/>
        </p:nvSpPr>
        <p:spPr>
          <a:xfrm>
            <a:off x="6230982" y="3475228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blbl_2"/>
          <p:cNvSpPr txBox="1"/>
          <p:nvPr/>
        </p:nvSpPr>
        <p:spPr>
          <a:xfrm>
            <a:off x="5910942" y="37678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FCA</a:t>
            </a:r>
          </a:p>
        </p:txBody>
      </p:sp>
      <p:sp>
        <p:nvSpPr>
          <p:cNvPr id="15" name="bub_3"/>
          <p:cNvSpPr/>
          <p:nvPr/>
        </p:nvSpPr>
        <p:spPr>
          <a:xfrm>
            <a:off x="6093822" y="367639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ublbl_3"/>
          <p:cNvSpPr txBox="1"/>
          <p:nvPr/>
        </p:nvSpPr>
        <p:spPr>
          <a:xfrm>
            <a:off x="5910942" y="42433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GM</a:t>
            </a:r>
          </a:p>
        </p:txBody>
      </p:sp>
      <p:sp>
        <p:nvSpPr>
          <p:cNvPr id="17" name="bub_4"/>
          <p:cNvSpPr/>
          <p:nvPr/>
        </p:nvSpPr>
        <p:spPr>
          <a:xfrm>
            <a:off x="6208122" y="4241800"/>
            <a:ext cx="320040" cy="3200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blbl_4"/>
          <p:cNvSpPr txBox="1"/>
          <p:nvPr/>
        </p:nvSpPr>
        <p:spPr>
          <a:xfrm>
            <a:off x="5910942" y="45801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Honda</a:t>
            </a:r>
          </a:p>
        </p:txBody>
      </p:sp>
      <p:sp>
        <p:nvSpPr>
          <p:cNvPr id="19" name="bub_5"/>
          <p:cNvSpPr/>
          <p:nvPr/>
        </p:nvSpPr>
        <p:spPr>
          <a:xfrm>
            <a:off x="6292378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blbl_5"/>
          <p:cNvSpPr txBox="1"/>
          <p:nvPr/>
        </p:nvSpPr>
        <p:spPr>
          <a:xfrm>
            <a:off x="6109498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VW</a:t>
            </a:r>
          </a:p>
        </p:txBody>
      </p:sp>
      <p:sp>
        <p:nvSpPr>
          <p:cNvPr id="21" name="bub_6"/>
          <p:cNvSpPr/>
          <p:nvPr/>
        </p:nvSpPr>
        <p:spPr>
          <a:xfrm>
            <a:off x="5696712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blbl_6"/>
          <p:cNvSpPr txBox="1"/>
          <p:nvPr/>
        </p:nvSpPr>
        <p:spPr>
          <a:xfrm>
            <a:off x="5513832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Toyota</a:t>
            </a:r>
          </a:p>
        </p:txBody>
      </p:sp>
      <p:sp>
        <p:nvSpPr>
          <p:cNvPr id="23" name="bub_7"/>
          <p:cNvSpPr/>
          <p:nvPr/>
        </p:nvSpPr>
        <p:spPr>
          <a:xfrm>
            <a:off x="869986" y="4377436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blbl_7"/>
          <p:cNvSpPr txBox="1"/>
          <p:nvPr/>
        </p:nvSpPr>
        <p:spPr>
          <a:xfrm>
            <a:off x="549946" y="46700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Nissan</a:t>
            </a:r>
          </a:p>
        </p:txBody>
      </p:sp>
      <p:sp>
        <p:nvSpPr>
          <p:cNvPr id="25" name="background_image_pat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ption_image_pat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27" name="annot_pat"/>
          <p:cNvSpPr txBox="1"/>
          <p:nvPr/>
        </p:nvSpPr>
        <p:spPr>
          <a:xfrm>
            <a:off x="8503920" y="16921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is a leader in both patent Competitive Impact and Freshness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Analytics; image: Ford.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5486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Ford's patents are driving innovation across many industries</a:t>
            </a:r>
          </a:p>
        </p:txBody>
      </p:sp>
      <p:sp>
        <p:nvSpPr>
          <p:cNvPr id="5" name="body_ip"/>
          <p:cNvSpPr txBox="1"/>
          <p:nvPr/>
        </p:nvSpPr>
        <p:spPr>
          <a:xfrm>
            <a:off x="365760" y="274320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Ford patents are cited in innovative new products across industries, from agriculture to biopharma. From 2013 through 2017, Ford's patents were cited</a:t>
            </a:r>
          </a:p>
        </p:txBody>
      </p:sp>
      <p:sp>
        <p:nvSpPr>
          <p:cNvPr id="6" name="stat_ip"/>
          <p:cNvSpPr txBox="1"/>
          <p:nvPr/>
        </p:nvSpPr>
        <p:spPr>
          <a:xfrm>
            <a:off x="365760" y="4297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~23,000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times across different industries</a:t>
            </a:r>
          </a:p>
        </p:txBody>
      </p:sp>
      <p:sp>
        <p:nvSpPr>
          <p:cNvPr id="7" name="eyebrow_examples"/>
          <p:cNvSpPr txBox="1"/>
          <p:nvPr/>
        </p:nvSpPr>
        <p:spPr>
          <a:xfrm>
            <a:off x="4069080" y="411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ILLUSTRATIVE EXAMPLES</a:t>
            </a:r>
          </a:p>
        </p:txBody>
      </p:sp>
      <p:sp>
        <p:nvSpPr>
          <p:cNvPr id="8" name="icon_ind_0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ndhdr_0"/>
          <p:cNvSpPr txBox="1"/>
          <p:nvPr/>
        </p:nvSpPr>
        <p:spPr>
          <a:xfrm>
            <a:off x="4434840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Aircraft monitoring</a:t>
            </a:r>
          </a:p>
        </p:txBody>
      </p:sp>
      <p:sp>
        <p:nvSpPr>
          <p:cNvPr id="10" name="inddesc_0"/>
          <p:cNvSpPr txBox="1"/>
          <p:nvPr/>
        </p:nvSpPr>
        <p:spPr>
          <a:xfrm>
            <a:off x="4434840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Aircraft-operating-data monitor provides integrated view of asset health</a:t>
            </a:r>
          </a:p>
        </p:txBody>
      </p:sp>
      <p:sp>
        <p:nvSpPr>
          <p:cNvPr id="11" name="icon_ind_1"/>
          <p:cNvSpPr/>
          <p:nvPr/>
        </p:nvSpPr>
        <p:spPr>
          <a:xfrm>
            <a:off x="6327648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ndhdr_1"/>
          <p:cNvSpPr txBox="1"/>
          <p:nvPr/>
        </p:nvSpPr>
        <p:spPr>
          <a:xfrm>
            <a:off x="6327648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Surgical robotics</a:t>
            </a:r>
          </a:p>
        </p:txBody>
      </p:sp>
      <p:sp>
        <p:nvSpPr>
          <p:cNvPr id="13" name="inddesc_1"/>
          <p:cNvSpPr txBox="1"/>
          <p:nvPr/>
        </p:nvSpPr>
        <p:spPr>
          <a:xfrm>
            <a:off x="6327648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Controlling articulating arm in a confidence-based robot-assisted surgery system</a:t>
            </a:r>
          </a:p>
        </p:txBody>
      </p:sp>
      <p:sp>
        <p:nvSpPr>
          <p:cNvPr id="14" name="icon_ind_2"/>
          <p:cNvSpPr/>
          <p:nvPr/>
        </p:nvSpPr>
        <p:spPr>
          <a:xfrm>
            <a:off x="8220456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dhdr_2"/>
          <p:cNvSpPr txBox="1"/>
          <p:nvPr/>
        </p:nvSpPr>
        <p:spPr>
          <a:xfrm>
            <a:off x="8220456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Exercise machine</a:t>
            </a:r>
          </a:p>
        </p:txBody>
      </p:sp>
      <p:sp>
        <p:nvSpPr>
          <p:cNvPr id="16" name="inddesc_2"/>
          <p:cNvSpPr txBox="1"/>
          <p:nvPr/>
        </p:nvSpPr>
        <p:spPr>
          <a:xfrm>
            <a:off x="8220456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Exercise program based on real-world routes with video and topographical simulation</a:t>
            </a:r>
          </a:p>
        </p:txBody>
      </p:sp>
      <p:sp>
        <p:nvSpPr>
          <p:cNvPr id="17" name="icon_ind_3"/>
          <p:cNvSpPr/>
          <p:nvPr/>
        </p:nvSpPr>
        <p:spPr>
          <a:xfrm>
            <a:off x="10113264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dhdr_3"/>
          <p:cNvSpPr txBox="1"/>
          <p:nvPr/>
        </p:nvSpPr>
        <p:spPr>
          <a:xfrm>
            <a:off x="10113264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Vision technology</a:t>
            </a:r>
          </a:p>
        </p:txBody>
      </p:sp>
      <p:sp>
        <p:nvSpPr>
          <p:cNvPr id="19" name="inddesc_3"/>
          <p:cNvSpPr txBox="1"/>
          <p:nvPr/>
        </p:nvSpPr>
        <p:spPr>
          <a:xfrm>
            <a:off x="10113264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ML program analyzes body language to improve human-robot interaction</a:t>
            </a:r>
          </a:p>
        </p:txBody>
      </p:sp>
      <p:sp>
        <p:nvSpPr>
          <p:cNvPr id="20" name="icon_ind_4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dhdr_4"/>
          <p:cNvSpPr txBox="1"/>
          <p:nvPr/>
        </p:nvSpPr>
        <p:spPr>
          <a:xfrm>
            <a:off x="4434840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Medtech devices</a:t>
            </a:r>
          </a:p>
        </p:txBody>
      </p:sp>
      <p:sp>
        <p:nvSpPr>
          <p:cNvPr id="22" name="inddesc_4"/>
          <p:cNvSpPr txBox="1"/>
          <p:nvPr/>
        </p:nvSpPr>
        <p:spPr>
          <a:xfrm>
            <a:off x="4434840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Medical treatment device and method for stimulating neurons of a patient</a:t>
            </a:r>
          </a:p>
        </p:txBody>
      </p:sp>
      <p:sp>
        <p:nvSpPr>
          <p:cNvPr id="23" name="icon_ind_5"/>
          <p:cNvSpPr/>
          <p:nvPr/>
        </p:nvSpPr>
        <p:spPr>
          <a:xfrm>
            <a:off x="6327648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dhdr_5"/>
          <p:cNvSpPr txBox="1"/>
          <p:nvPr/>
        </p:nvSpPr>
        <p:spPr>
          <a:xfrm>
            <a:off x="6327648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Health care / pharmacy</a:t>
            </a:r>
          </a:p>
        </p:txBody>
      </p:sp>
      <p:sp>
        <p:nvSpPr>
          <p:cNvPr id="25" name="inddesc_5"/>
          <p:cNvSpPr txBox="1"/>
          <p:nvPr/>
        </p:nvSpPr>
        <p:spPr>
          <a:xfrm>
            <a:off x="6327648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Controlled release of peptide formulations to administration devices</a:t>
            </a:r>
          </a:p>
        </p:txBody>
      </p:sp>
      <p:sp>
        <p:nvSpPr>
          <p:cNvPr id="26" name="icon_ind_6"/>
          <p:cNvSpPr/>
          <p:nvPr/>
        </p:nvSpPr>
        <p:spPr>
          <a:xfrm>
            <a:off x="8220456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dhdr_6"/>
          <p:cNvSpPr txBox="1"/>
          <p:nvPr/>
        </p:nvSpPr>
        <p:spPr>
          <a:xfrm>
            <a:off x="8220456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Audio technology</a:t>
            </a:r>
          </a:p>
        </p:txBody>
      </p:sp>
      <p:sp>
        <p:nvSpPr>
          <p:cNvPr id="28" name="inddesc_6"/>
          <p:cNvSpPr txBox="1"/>
          <p:nvPr/>
        </p:nvSpPr>
        <p:spPr>
          <a:xfrm>
            <a:off x="8220456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Voice-activated virtual assistant delivering information via a wireless earpiece</a:t>
            </a:r>
          </a:p>
        </p:txBody>
      </p:sp>
      <p:sp>
        <p:nvSpPr>
          <p:cNvPr id="29" name="icon_ind_7"/>
          <p:cNvSpPr/>
          <p:nvPr/>
        </p:nvSpPr>
        <p:spPr>
          <a:xfrm>
            <a:off x="10113264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dhdr_7"/>
          <p:cNvSpPr txBox="1"/>
          <p:nvPr/>
        </p:nvSpPr>
        <p:spPr>
          <a:xfrm>
            <a:off x="10113264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Home automation</a:t>
            </a:r>
          </a:p>
        </p:txBody>
      </p:sp>
      <p:sp>
        <p:nvSpPr>
          <p:cNvPr id="31" name="inddesc_7"/>
          <p:cNvSpPr txBox="1"/>
          <p:nvPr/>
        </p:nvSpPr>
        <p:spPr>
          <a:xfrm>
            <a:off x="10113264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Detection and mitigation of harmful gases via home automation integration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F-Series drives the daily work of millions of Americans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qnum_0"/>
          <p:cNvSpPr txBox="1"/>
          <p:nvPr/>
        </p:nvSpPr>
        <p:spPr>
          <a:xfrm>
            <a:off x="41148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~17M¹</a:t>
            </a:r>
          </a:p>
        </p:txBody>
      </p:sp>
      <p:sp>
        <p:nvSpPr>
          <p:cNvPr id="7" name="eqcap_0"/>
          <p:cNvSpPr txBox="1"/>
          <p:nvPr/>
        </p:nvSpPr>
        <p:spPr>
          <a:xfrm>
            <a:off x="41148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F-Series on the road</a:t>
            </a:r>
          </a:p>
        </p:txBody>
      </p:sp>
      <p:sp>
        <p:nvSpPr>
          <p:cNvPr id="8" name="eqop_0"/>
          <p:cNvSpPr txBox="1"/>
          <p:nvPr/>
        </p:nvSpPr>
        <p:spPr>
          <a:xfrm>
            <a:off x="260604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9" name="eqnum_1"/>
          <p:cNvSpPr txBox="1"/>
          <p:nvPr/>
        </p:nvSpPr>
        <p:spPr>
          <a:xfrm>
            <a:off x="310896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26–35%</a:t>
            </a:r>
          </a:p>
        </p:txBody>
      </p:sp>
      <p:sp>
        <p:nvSpPr>
          <p:cNvPr id="10" name="eqcap_1"/>
          <p:cNvSpPr txBox="1"/>
          <p:nvPr/>
        </p:nvSpPr>
        <p:spPr>
          <a:xfrm>
            <a:off x="310896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estimated in commercial use</a:t>
            </a:r>
          </a:p>
        </p:txBody>
      </p:sp>
      <p:sp>
        <p:nvSpPr>
          <p:cNvPr id="11" name="eqop_1"/>
          <p:cNvSpPr txBox="1"/>
          <p:nvPr/>
        </p:nvSpPr>
        <p:spPr>
          <a:xfrm>
            <a:off x="530352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eqnum_2"/>
          <p:cNvSpPr txBox="1"/>
          <p:nvPr/>
        </p:nvSpPr>
        <p:spPr>
          <a:xfrm>
            <a:off x="580644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2.1–2.4</a:t>
            </a:r>
          </a:p>
        </p:txBody>
      </p:sp>
      <p:sp>
        <p:nvSpPr>
          <p:cNvPr id="13" name="eqcap_2"/>
          <p:cNvSpPr txBox="1"/>
          <p:nvPr/>
        </p:nvSpPr>
        <p:spPr>
          <a:xfrm>
            <a:off x="580644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average truck occupancy</a:t>
            </a:r>
          </a:p>
        </p:txBody>
      </p:sp>
      <p:cxnSp>
        <p:nvCxnSpPr>
          <p:cNvPr id="14" name="eq_rule"/>
          <p:cNvCxnSpPr/>
          <p:nvPr/>
        </p:nvCxnSpPr>
        <p:spPr>
          <a:xfrm>
            <a:off x="411480" y="3520948"/>
            <a:ext cx="731520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q_result"/>
          <p:cNvSpPr txBox="1"/>
          <p:nvPr/>
        </p:nvSpPr>
        <p:spPr>
          <a:xfrm>
            <a:off x="411480" y="37038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= 13M Americans in their daily work</a:t>
            </a:r>
          </a:p>
        </p:txBody>
      </p:sp>
      <p:sp>
        <p:nvSpPr>
          <p:cNvPr id="16" name="eq_laborforce"/>
          <p:cNvSpPr txBox="1"/>
          <p:nvPr/>
        </p:nvSpPr>
        <p:spPr>
          <a:xfrm>
            <a:off x="411480" y="45267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Representing approximately 8% of the US labor force</a:t>
            </a:r>
          </a:p>
        </p:txBody>
      </p:sp>
      <p:sp>
        <p:nvSpPr>
          <p:cNvPr id="17" name="sidebar_head"/>
          <p:cNvSpPr txBox="1"/>
          <p:nvPr/>
        </p:nvSpPr>
        <p:spPr>
          <a:xfrm>
            <a:off x="8549640" y="640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Workers supported by the F-Series</a:t>
            </a:r>
          </a:p>
        </p:txBody>
      </p:sp>
      <p:sp>
        <p:nvSpPr>
          <p:cNvPr id="18" name="sidebar_list"/>
          <p:cNvSpPr txBox="1"/>
          <p:nvPr/>
        </p:nvSpPr>
        <p:spPr>
          <a:xfrm>
            <a:off x="8549640" y="164592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Construction workers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Farmers and ranchers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Independent contractors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Delivery service people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Emergency vehicle drivers</a:t>
            </a:r>
          </a:p>
        </p:txBody>
      </p:sp>
      <p:sp>
        <p:nvSpPr>
          <p:cNvPr id="19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Source: Expert interviews;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¹16.6 million F-Series in operation based on IHS Markit Vehicles in Operation (VIO) as of 4/1/20.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1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is among the largest US consumer products — bigger than Android and combined major sports leagues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cp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Revenue ($billions)</a:t>
            </a:r>
          </a:p>
        </p:txBody>
      </p:sp>
      <p:sp>
        <p:nvSpPr>
          <p:cNvPr id="6" name="cmp_cp_bar_0"/>
          <p:cNvSpPr/>
          <p:nvPr/>
        </p:nvSpPr>
        <p:spPr>
          <a:xfrm>
            <a:off x="411480" y="2057908"/>
            <a:ext cx="1035100" cy="29718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55</a:t>
            </a:r>
          </a:p>
        </p:txBody>
      </p:sp>
      <p:sp>
        <p:nvSpPr>
          <p:cNvPr id="7" name="cmp_cp_cat_0"/>
          <p:cNvSpPr txBox="1"/>
          <p:nvPr/>
        </p:nvSpPr>
        <p:spPr>
          <a:xfrm>
            <a:off x="41148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iPhone
(US)</a:t>
            </a:r>
          </a:p>
        </p:txBody>
      </p:sp>
      <p:sp>
        <p:nvSpPr>
          <p:cNvPr id="8" name="cmp_cp_mult_0"/>
          <p:cNvSpPr txBox="1"/>
          <p:nvPr/>
        </p:nvSpPr>
        <p:spPr>
          <a:xfrm>
            <a:off x="41148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0.8x</a:t>
            </a:r>
          </a:p>
        </p:txBody>
      </p:sp>
      <p:sp>
        <p:nvSpPr>
          <p:cNvPr id="9" name="cmp_cp_bar_1"/>
          <p:cNvSpPr/>
          <p:nvPr/>
        </p:nvSpPr>
        <p:spPr>
          <a:xfrm>
            <a:off x="1556308" y="2760334"/>
            <a:ext cx="1035100" cy="226937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10" name="cmp_cp_cat_1"/>
          <p:cNvSpPr txBox="1"/>
          <p:nvPr/>
        </p:nvSpPr>
        <p:spPr>
          <a:xfrm>
            <a:off x="155630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11" name="cmp_cp_mult_1"/>
          <p:cNvSpPr txBox="1"/>
          <p:nvPr/>
        </p:nvSpPr>
        <p:spPr>
          <a:xfrm>
            <a:off x="155630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12" name="cmp_cp_bar_2"/>
          <p:cNvSpPr/>
          <p:nvPr/>
        </p:nvSpPr>
        <p:spPr>
          <a:xfrm>
            <a:off x="2701136" y="3084530"/>
            <a:ext cx="1035100" cy="194517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36</a:t>
            </a:r>
          </a:p>
        </p:txBody>
      </p:sp>
      <p:sp>
        <p:nvSpPr>
          <p:cNvPr id="13" name="cmp_cp_cat_2"/>
          <p:cNvSpPr txBox="1"/>
          <p:nvPr/>
        </p:nvSpPr>
        <p:spPr>
          <a:xfrm>
            <a:off x="270113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Android
OS</a:t>
            </a:r>
          </a:p>
        </p:txBody>
      </p:sp>
      <p:sp>
        <p:nvSpPr>
          <p:cNvPr id="14" name="cmp_cp_mult_2"/>
          <p:cNvSpPr txBox="1"/>
          <p:nvPr/>
        </p:nvSpPr>
        <p:spPr>
          <a:xfrm>
            <a:off x="270113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1.2x</a:t>
            </a:r>
          </a:p>
        </p:txBody>
      </p:sp>
      <p:sp>
        <p:nvSpPr>
          <p:cNvPr id="15" name="cmp_cp_bar_3"/>
          <p:cNvSpPr/>
          <p:nvPr/>
        </p:nvSpPr>
        <p:spPr>
          <a:xfrm>
            <a:off x="3845964" y="3300661"/>
            <a:ext cx="1035100" cy="1729047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32</a:t>
            </a:r>
          </a:p>
        </p:txBody>
      </p:sp>
      <p:sp>
        <p:nvSpPr>
          <p:cNvPr id="16" name="cmp_cp_cat_3"/>
          <p:cNvSpPr txBox="1"/>
          <p:nvPr/>
        </p:nvSpPr>
        <p:spPr>
          <a:xfrm>
            <a:off x="384596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Disney
exper.</a:t>
            </a:r>
          </a:p>
        </p:txBody>
      </p:sp>
      <p:sp>
        <p:nvSpPr>
          <p:cNvPr id="17" name="cmp_cp_mult_3"/>
          <p:cNvSpPr txBox="1"/>
          <p:nvPr/>
        </p:nvSpPr>
        <p:spPr>
          <a:xfrm>
            <a:off x="384596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1.3x</a:t>
            </a:r>
          </a:p>
        </p:txBody>
      </p:sp>
      <p:sp>
        <p:nvSpPr>
          <p:cNvPr id="18" name="cmp_cp_bar_4"/>
          <p:cNvSpPr/>
          <p:nvPr/>
        </p:nvSpPr>
        <p:spPr>
          <a:xfrm>
            <a:off x="4990792" y="4003087"/>
            <a:ext cx="1035100" cy="102662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19</a:t>
            </a:r>
          </a:p>
        </p:txBody>
      </p:sp>
      <p:sp>
        <p:nvSpPr>
          <p:cNvPr id="19" name="cmp_cp_cat_4"/>
          <p:cNvSpPr txBox="1"/>
          <p:nvPr/>
        </p:nvSpPr>
        <p:spPr>
          <a:xfrm>
            <a:off x="499079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US
fridges</a:t>
            </a:r>
          </a:p>
        </p:txBody>
      </p:sp>
      <p:sp>
        <p:nvSpPr>
          <p:cNvPr id="20" name="cmp_cp_mult_4"/>
          <p:cNvSpPr txBox="1"/>
          <p:nvPr/>
        </p:nvSpPr>
        <p:spPr>
          <a:xfrm>
            <a:off x="499079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2.2x</a:t>
            </a:r>
          </a:p>
        </p:txBody>
      </p:sp>
      <p:sp>
        <p:nvSpPr>
          <p:cNvPr id="21" name="cmp_cp_bar_5"/>
          <p:cNvSpPr/>
          <p:nvPr/>
        </p:nvSpPr>
        <p:spPr>
          <a:xfrm>
            <a:off x="6135620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2" name="cmp_cp_cat_5"/>
          <p:cNvSpPr txBox="1"/>
          <p:nvPr/>
        </p:nvSpPr>
        <p:spPr>
          <a:xfrm>
            <a:off x="613562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Budweiser</a:t>
            </a:r>
          </a:p>
        </p:txBody>
      </p:sp>
      <p:sp>
        <p:nvSpPr>
          <p:cNvPr id="23" name="cmp_cp_mult_5"/>
          <p:cNvSpPr txBox="1"/>
          <p:nvPr/>
        </p:nvSpPr>
        <p:spPr>
          <a:xfrm>
            <a:off x="613562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4" name="cmp_cp_bar_6"/>
          <p:cNvSpPr/>
          <p:nvPr/>
        </p:nvSpPr>
        <p:spPr>
          <a:xfrm>
            <a:off x="7280448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5" name="cmp_cp_cat_6"/>
          <p:cNvSpPr txBox="1"/>
          <p:nvPr/>
        </p:nvSpPr>
        <p:spPr>
          <a:xfrm>
            <a:off x="728044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NFL</a:t>
            </a:r>
          </a:p>
        </p:txBody>
      </p:sp>
      <p:sp>
        <p:nvSpPr>
          <p:cNvPr id="26" name="cmp_cp_mult_6"/>
          <p:cNvSpPr txBox="1"/>
          <p:nvPr/>
        </p:nvSpPr>
        <p:spPr>
          <a:xfrm>
            <a:off x="728044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7" name="cmp_cp_bar_7"/>
          <p:cNvSpPr/>
          <p:nvPr/>
        </p:nvSpPr>
        <p:spPr>
          <a:xfrm>
            <a:off x="8425276" y="4435348"/>
            <a:ext cx="1035100" cy="59436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28" name="cmp_cp_cat_7"/>
          <p:cNvSpPr txBox="1"/>
          <p:nvPr/>
        </p:nvSpPr>
        <p:spPr>
          <a:xfrm>
            <a:off x="842527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MLB</a:t>
            </a:r>
          </a:p>
        </p:txBody>
      </p:sp>
      <p:sp>
        <p:nvSpPr>
          <p:cNvPr id="29" name="cmp_cp_mult_7"/>
          <p:cNvSpPr txBox="1"/>
          <p:nvPr/>
        </p:nvSpPr>
        <p:spPr>
          <a:xfrm>
            <a:off x="842527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3.8x</a:t>
            </a:r>
          </a:p>
        </p:txBody>
      </p:sp>
      <p:sp>
        <p:nvSpPr>
          <p:cNvPr id="30" name="cmp_cp_bar_8"/>
          <p:cNvSpPr/>
          <p:nvPr/>
        </p:nvSpPr>
        <p:spPr>
          <a:xfrm>
            <a:off x="9570104" y="4543414"/>
            <a:ext cx="1035100" cy="48629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31" name="cmp_cp_cat_8"/>
          <p:cNvSpPr txBox="1"/>
          <p:nvPr/>
        </p:nvSpPr>
        <p:spPr>
          <a:xfrm>
            <a:off x="957010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NBA</a:t>
            </a:r>
          </a:p>
        </p:txBody>
      </p:sp>
      <p:sp>
        <p:nvSpPr>
          <p:cNvPr id="32" name="cmp_cp_mult_8"/>
          <p:cNvSpPr txBox="1"/>
          <p:nvPr/>
        </p:nvSpPr>
        <p:spPr>
          <a:xfrm>
            <a:off x="957010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4.7x</a:t>
            </a:r>
          </a:p>
        </p:txBody>
      </p:sp>
      <p:sp>
        <p:nvSpPr>
          <p:cNvPr id="33" name="cmp_cp_bar_9"/>
          <p:cNvSpPr/>
          <p:nvPr/>
        </p:nvSpPr>
        <p:spPr>
          <a:xfrm>
            <a:off x="10714932" y="4759545"/>
            <a:ext cx="1035100" cy="270163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34" name="cmp_cp_cat_9"/>
          <p:cNvSpPr txBox="1"/>
          <p:nvPr/>
        </p:nvSpPr>
        <p:spPr>
          <a:xfrm>
            <a:off x="1071493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NHL</a:t>
            </a:r>
          </a:p>
        </p:txBody>
      </p:sp>
      <p:sp>
        <p:nvSpPr>
          <p:cNvPr id="35" name="cmp_cp_mult_9"/>
          <p:cNvSpPr txBox="1"/>
          <p:nvPr/>
        </p:nvSpPr>
        <p:spPr>
          <a:xfrm>
            <a:off x="1071493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8.5x</a:t>
            </a:r>
          </a:p>
        </p:txBody>
      </p:sp>
      <p:cxnSp>
        <p:nvCxnSpPr>
          <p:cNvPr id="36" name="cmp_c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mp_cp_multlabel"/>
          <p:cNvSpPr txBox="1"/>
          <p:nvPr/>
        </p:nvSpPr>
        <p:spPr>
          <a:xfrm>
            <a:off x="411480" y="187502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F-Series relative size → (multiplier row below)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Google legal disclosures; Forbes; IDC; Euromonitor; Chicago Tribune; BCG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num_2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alone exceeded the 2019 revenue of many recognizable companies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co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2019 revenue ($billions)</a:t>
            </a:r>
          </a:p>
        </p:txBody>
      </p:sp>
      <p:sp>
        <p:nvSpPr>
          <p:cNvPr id="6" name="cmp_co_bar_0"/>
          <p:cNvSpPr/>
          <p:nvPr/>
        </p:nvSpPr>
        <p:spPr>
          <a:xfrm>
            <a:off x="411480" y="2057908"/>
            <a:ext cx="844296" cy="29718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7" name="cmp_co_cat_0"/>
          <p:cNvSpPr txBox="1"/>
          <p:nvPr/>
        </p:nvSpPr>
        <p:spPr>
          <a:xfrm>
            <a:off x="41148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8" name="cmp_co_mult_0"/>
          <p:cNvSpPr txBox="1"/>
          <p:nvPr/>
        </p:nvSpPr>
        <p:spPr>
          <a:xfrm>
            <a:off x="41148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9" name="cmp_co_bar_1"/>
          <p:cNvSpPr/>
          <p:nvPr/>
        </p:nvSpPr>
        <p:spPr>
          <a:xfrm>
            <a:off x="1365504" y="2199423"/>
            <a:ext cx="844296" cy="2830285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10" name="cmp_co_cat_1"/>
          <p:cNvSpPr txBox="1"/>
          <p:nvPr/>
        </p:nvSpPr>
        <p:spPr>
          <a:xfrm>
            <a:off x="136550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McDonald's</a:t>
            </a:r>
          </a:p>
        </p:txBody>
      </p:sp>
      <p:sp>
        <p:nvSpPr>
          <p:cNvPr id="11" name="cmp_co_mult_1"/>
          <p:cNvSpPr txBox="1"/>
          <p:nvPr/>
        </p:nvSpPr>
        <p:spPr>
          <a:xfrm>
            <a:off x="136550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1.0x</a:t>
            </a:r>
          </a:p>
        </p:txBody>
      </p:sp>
      <p:sp>
        <p:nvSpPr>
          <p:cNvPr id="12" name="cmp_co_bar_2"/>
          <p:cNvSpPr/>
          <p:nvPr/>
        </p:nvSpPr>
        <p:spPr>
          <a:xfrm>
            <a:off x="2319528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3" name="cmp_co_cat_2"/>
          <p:cNvSpPr txBox="1"/>
          <p:nvPr/>
        </p:nvSpPr>
        <p:spPr>
          <a:xfrm>
            <a:off x="231952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Nike</a:t>
            </a:r>
          </a:p>
        </p:txBody>
      </p:sp>
      <p:sp>
        <p:nvSpPr>
          <p:cNvPr id="14" name="cmp_co_mult_2"/>
          <p:cNvSpPr txBox="1"/>
          <p:nvPr/>
        </p:nvSpPr>
        <p:spPr>
          <a:xfrm>
            <a:off x="231952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5" name="cmp_co_bar_3"/>
          <p:cNvSpPr/>
          <p:nvPr/>
        </p:nvSpPr>
        <p:spPr>
          <a:xfrm>
            <a:off x="3273552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6" name="cmp_co_cat_3"/>
          <p:cNvSpPr txBox="1"/>
          <p:nvPr/>
        </p:nvSpPr>
        <p:spPr>
          <a:xfrm>
            <a:off x="327355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John
Deere</a:t>
            </a:r>
          </a:p>
        </p:txBody>
      </p:sp>
      <p:sp>
        <p:nvSpPr>
          <p:cNvPr id="17" name="cmp_co_mult_3"/>
          <p:cNvSpPr txBox="1"/>
          <p:nvPr/>
        </p:nvSpPr>
        <p:spPr>
          <a:xfrm>
            <a:off x="327355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8" name="cmp_co_bar_4"/>
          <p:cNvSpPr/>
          <p:nvPr/>
        </p:nvSpPr>
        <p:spPr>
          <a:xfrm>
            <a:off x="4227576" y="2411694"/>
            <a:ext cx="844296" cy="26180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37</a:t>
            </a:r>
          </a:p>
        </p:txBody>
      </p:sp>
      <p:sp>
        <p:nvSpPr>
          <p:cNvPr id="19" name="cmp_co_cat_4"/>
          <p:cNvSpPr txBox="1"/>
          <p:nvPr/>
        </p:nvSpPr>
        <p:spPr>
          <a:xfrm>
            <a:off x="422757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Coca-
Cola</a:t>
            </a:r>
          </a:p>
        </p:txBody>
      </p:sp>
      <p:sp>
        <p:nvSpPr>
          <p:cNvPr id="20" name="cmp_co_mult_4"/>
          <p:cNvSpPr txBox="1"/>
          <p:nvPr/>
        </p:nvSpPr>
        <p:spPr>
          <a:xfrm>
            <a:off x="422757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21" name="cmp_co_bar_5"/>
          <p:cNvSpPr/>
          <p:nvPr/>
        </p:nvSpPr>
        <p:spPr>
          <a:xfrm>
            <a:off x="5181600" y="2836237"/>
            <a:ext cx="844296" cy="21934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31</a:t>
            </a:r>
          </a:p>
        </p:txBody>
      </p:sp>
      <p:sp>
        <p:nvSpPr>
          <p:cNvPr id="22" name="cmp_co_cat_5"/>
          <p:cNvSpPr txBox="1"/>
          <p:nvPr/>
        </p:nvSpPr>
        <p:spPr>
          <a:xfrm>
            <a:off x="518160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Starbucks</a:t>
            </a:r>
          </a:p>
        </p:txBody>
      </p:sp>
      <p:sp>
        <p:nvSpPr>
          <p:cNvPr id="23" name="cmp_co_mult_5"/>
          <p:cNvSpPr txBox="1"/>
          <p:nvPr/>
        </p:nvSpPr>
        <p:spPr>
          <a:xfrm>
            <a:off x="518160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1.4x</a:t>
            </a:r>
          </a:p>
        </p:txBody>
      </p:sp>
      <p:sp>
        <p:nvSpPr>
          <p:cNvPr id="24" name="cmp_co_bar_6"/>
          <p:cNvSpPr/>
          <p:nvPr/>
        </p:nvSpPr>
        <p:spPr>
          <a:xfrm>
            <a:off x="6135624" y="3048508"/>
            <a:ext cx="844296" cy="19812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28</a:t>
            </a:r>
          </a:p>
        </p:txBody>
      </p:sp>
      <p:sp>
        <p:nvSpPr>
          <p:cNvPr id="25" name="cmp_co_cat_6"/>
          <p:cNvSpPr txBox="1"/>
          <p:nvPr/>
        </p:nvSpPr>
        <p:spPr>
          <a:xfrm>
            <a:off x="613562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Capital
One</a:t>
            </a:r>
          </a:p>
        </p:txBody>
      </p:sp>
      <p:sp>
        <p:nvSpPr>
          <p:cNvPr id="26" name="cmp_co_mult_6"/>
          <p:cNvSpPr txBox="1"/>
          <p:nvPr/>
        </p:nvSpPr>
        <p:spPr>
          <a:xfrm>
            <a:off x="613562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1.5x</a:t>
            </a:r>
          </a:p>
        </p:txBody>
      </p:sp>
      <p:sp>
        <p:nvSpPr>
          <p:cNvPr id="27" name="cmp_co_bar_7"/>
          <p:cNvSpPr/>
          <p:nvPr/>
        </p:nvSpPr>
        <p:spPr>
          <a:xfrm>
            <a:off x="7089648" y="3402294"/>
            <a:ext cx="844296" cy="16274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23</a:t>
            </a:r>
          </a:p>
        </p:txBody>
      </p:sp>
      <p:sp>
        <p:nvSpPr>
          <p:cNvPr id="28" name="cmp_co_cat_7"/>
          <p:cNvSpPr txBox="1"/>
          <p:nvPr/>
        </p:nvSpPr>
        <p:spPr>
          <a:xfrm>
            <a:off x="708964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Visa</a:t>
            </a:r>
          </a:p>
        </p:txBody>
      </p:sp>
      <p:sp>
        <p:nvSpPr>
          <p:cNvPr id="29" name="cmp_co_mult_7"/>
          <p:cNvSpPr txBox="1"/>
          <p:nvPr/>
        </p:nvSpPr>
        <p:spPr>
          <a:xfrm>
            <a:off x="708964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1.8x</a:t>
            </a:r>
          </a:p>
        </p:txBody>
      </p:sp>
      <p:sp>
        <p:nvSpPr>
          <p:cNvPr id="30" name="cmp_co_bar_8"/>
          <p:cNvSpPr/>
          <p:nvPr/>
        </p:nvSpPr>
        <p:spPr>
          <a:xfrm>
            <a:off x="8043672" y="3543808"/>
            <a:ext cx="844296" cy="14859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21</a:t>
            </a:r>
          </a:p>
        </p:txBody>
      </p:sp>
      <p:sp>
        <p:nvSpPr>
          <p:cNvPr id="31" name="cmp_co_cat_8"/>
          <p:cNvSpPr txBox="1"/>
          <p:nvPr/>
        </p:nvSpPr>
        <p:spPr>
          <a:xfrm>
            <a:off x="804367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Tesla</a:t>
            </a:r>
          </a:p>
        </p:txBody>
      </p:sp>
      <p:sp>
        <p:nvSpPr>
          <p:cNvPr id="32" name="cmp_co_mult_8"/>
          <p:cNvSpPr txBox="1"/>
          <p:nvPr/>
        </p:nvSpPr>
        <p:spPr>
          <a:xfrm>
            <a:off x="804367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2.0x</a:t>
            </a:r>
          </a:p>
        </p:txBody>
      </p:sp>
      <p:sp>
        <p:nvSpPr>
          <p:cNvPr id="33" name="cmp_co_bar_9"/>
          <p:cNvSpPr/>
          <p:nvPr/>
        </p:nvSpPr>
        <p:spPr>
          <a:xfrm>
            <a:off x="8997696" y="3614566"/>
            <a:ext cx="844296" cy="141514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sp>
        <p:nvSpPr>
          <p:cNvPr id="34" name="cmp_co_cat_9"/>
          <p:cNvSpPr txBox="1"/>
          <p:nvPr/>
        </p:nvSpPr>
        <p:spPr>
          <a:xfrm>
            <a:off x="899769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Netflix</a:t>
            </a:r>
          </a:p>
        </p:txBody>
      </p:sp>
      <p:sp>
        <p:nvSpPr>
          <p:cNvPr id="35" name="cmp_co_mult_9"/>
          <p:cNvSpPr txBox="1"/>
          <p:nvPr/>
        </p:nvSpPr>
        <p:spPr>
          <a:xfrm>
            <a:off x="899769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2.1x</a:t>
            </a:r>
          </a:p>
        </p:txBody>
      </p:sp>
      <p:sp>
        <p:nvSpPr>
          <p:cNvPr id="36" name="cmp_co_bar_10"/>
          <p:cNvSpPr/>
          <p:nvPr/>
        </p:nvSpPr>
        <p:spPr>
          <a:xfrm>
            <a:off x="9951720" y="4039108"/>
            <a:ext cx="844296" cy="9906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37" name="cmp_co_cat_10"/>
          <p:cNvSpPr txBox="1"/>
          <p:nvPr/>
        </p:nvSpPr>
        <p:spPr>
          <a:xfrm>
            <a:off x="995172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Uber</a:t>
            </a:r>
          </a:p>
        </p:txBody>
      </p:sp>
      <p:sp>
        <p:nvSpPr>
          <p:cNvPr id="38" name="cmp_co_mult_10"/>
          <p:cNvSpPr txBox="1"/>
          <p:nvPr/>
        </p:nvSpPr>
        <p:spPr>
          <a:xfrm>
            <a:off x="995172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3.0x</a:t>
            </a:r>
          </a:p>
        </p:txBody>
      </p:sp>
      <p:sp>
        <p:nvSpPr>
          <p:cNvPr id="39" name="cmp_co_bar_11"/>
          <p:cNvSpPr/>
          <p:nvPr/>
        </p:nvSpPr>
        <p:spPr>
          <a:xfrm>
            <a:off x="10905744" y="4817437"/>
            <a:ext cx="844296" cy="2122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0" name="cmp_co_cat_11"/>
          <p:cNvSpPr txBox="1"/>
          <p:nvPr/>
        </p:nvSpPr>
        <p:spPr>
          <a:xfrm>
            <a:off x="1090574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Twitter</a:t>
            </a:r>
          </a:p>
        </p:txBody>
      </p:sp>
      <p:sp>
        <p:nvSpPr>
          <p:cNvPr id="41" name="cmp_co_mult_11"/>
          <p:cNvSpPr txBox="1"/>
          <p:nvPr/>
        </p:nvSpPr>
        <p:spPr>
          <a:xfrm>
            <a:off x="1090574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12.2x</a:t>
            </a:r>
          </a:p>
        </p:txBody>
      </p:sp>
      <p:cxnSp>
        <p:nvCxnSpPr>
          <p:cNvPr id="42" name="cmp_co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F-Series North American total sales of ~$49 billion; figures from last fiscal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